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173"/>
  </p:notesMasterIdLst>
  <p:sldIdLst>
    <p:sldId id="363" r:id="rId3"/>
    <p:sldId id="345" r:id="rId4"/>
    <p:sldId id="372" r:id="rId5"/>
    <p:sldId id="403" r:id="rId6"/>
    <p:sldId id="404" r:id="rId7"/>
    <p:sldId id="477" r:id="rId8"/>
    <p:sldId id="414" r:id="rId9"/>
    <p:sldId id="405" r:id="rId10"/>
    <p:sldId id="407" r:id="rId11"/>
    <p:sldId id="408" r:id="rId12"/>
    <p:sldId id="409" r:id="rId13"/>
    <p:sldId id="419" r:id="rId14"/>
    <p:sldId id="420" r:id="rId15"/>
    <p:sldId id="422" r:id="rId16"/>
    <p:sldId id="421" r:id="rId17"/>
    <p:sldId id="423" r:id="rId18"/>
    <p:sldId id="424" r:id="rId19"/>
    <p:sldId id="576" r:id="rId20"/>
    <p:sldId id="577" r:id="rId21"/>
    <p:sldId id="411" r:id="rId22"/>
    <p:sldId id="476" r:id="rId23"/>
    <p:sldId id="429" r:id="rId24"/>
    <p:sldId id="493" r:id="rId25"/>
    <p:sldId id="578" r:id="rId26"/>
    <p:sldId id="494" r:id="rId27"/>
    <p:sldId id="495" r:id="rId28"/>
    <p:sldId id="579" r:id="rId29"/>
    <p:sldId id="595" r:id="rId30"/>
    <p:sldId id="430" r:id="rId31"/>
    <p:sldId id="433" r:id="rId32"/>
    <p:sldId id="497" r:id="rId33"/>
    <p:sldId id="434" r:id="rId34"/>
    <p:sldId id="417" r:id="rId35"/>
    <p:sldId id="580" r:id="rId36"/>
    <p:sldId id="496" r:id="rId37"/>
    <p:sldId id="437" r:id="rId38"/>
    <p:sldId id="581" r:id="rId39"/>
    <p:sldId id="501" r:id="rId40"/>
    <p:sldId id="504" r:id="rId41"/>
    <p:sldId id="498" r:id="rId42"/>
    <p:sldId id="475" r:id="rId43"/>
    <p:sldId id="582" r:id="rId44"/>
    <p:sldId id="436" r:id="rId45"/>
    <p:sldId id="502" r:id="rId46"/>
    <p:sldId id="506" r:id="rId47"/>
    <p:sldId id="505" r:id="rId48"/>
    <p:sldId id="507" r:id="rId49"/>
    <p:sldId id="503" r:id="rId50"/>
    <p:sldId id="431" r:id="rId51"/>
    <p:sldId id="584" r:id="rId52"/>
    <p:sldId id="440" r:id="rId53"/>
    <p:sldId id="441" r:id="rId54"/>
    <p:sldId id="509" r:id="rId55"/>
    <p:sldId id="510" r:id="rId56"/>
    <p:sldId id="511" r:id="rId57"/>
    <p:sldId id="512" r:id="rId58"/>
    <p:sldId id="513" r:id="rId59"/>
    <p:sldId id="461" r:id="rId60"/>
    <p:sldId id="514" r:id="rId61"/>
    <p:sldId id="515" r:id="rId62"/>
    <p:sldId id="516" r:id="rId63"/>
    <p:sldId id="517" r:id="rId64"/>
    <p:sldId id="518" r:id="rId65"/>
    <p:sldId id="519" r:id="rId66"/>
    <p:sldId id="520" r:id="rId67"/>
    <p:sldId id="593" r:id="rId68"/>
    <p:sldId id="521" r:id="rId69"/>
    <p:sldId id="522" r:id="rId70"/>
    <p:sldId id="523" r:id="rId71"/>
    <p:sldId id="524" r:id="rId72"/>
    <p:sldId id="525" r:id="rId73"/>
    <p:sldId id="526" r:id="rId74"/>
    <p:sldId id="527" r:id="rId75"/>
    <p:sldId id="528" r:id="rId76"/>
    <p:sldId id="529" r:id="rId77"/>
    <p:sldId id="530" r:id="rId78"/>
    <p:sldId id="531" r:id="rId79"/>
    <p:sldId id="428" r:id="rId80"/>
    <p:sldId id="444" r:id="rId81"/>
    <p:sldId id="445" r:id="rId82"/>
    <p:sldId id="446" r:id="rId83"/>
    <p:sldId id="447" r:id="rId84"/>
    <p:sldId id="448" r:id="rId85"/>
    <p:sldId id="449" r:id="rId86"/>
    <p:sldId id="450" r:id="rId87"/>
    <p:sldId id="451" r:id="rId88"/>
    <p:sldId id="452" r:id="rId89"/>
    <p:sldId id="453" r:id="rId90"/>
    <p:sldId id="454" r:id="rId91"/>
    <p:sldId id="456" r:id="rId92"/>
    <p:sldId id="457" r:id="rId93"/>
    <p:sldId id="458" r:id="rId94"/>
    <p:sldId id="455" r:id="rId95"/>
    <p:sldId id="483" r:id="rId96"/>
    <p:sldId id="484" r:id="rId97"/>
    <p:sldId id="442" r:id="rId98"/>
    <p:sldId id="485" r:id="rId99"/>
    <p:sldId id="432" r:id="rId100"/>
    <p:sldId id="586" r:id="rId101"/>
    <p:sldId id="486" r:id="rId102"/>
    <p:sldId id="487" r:id="rId103"/>
    <p:sldId id="438" r:id="rId104"/>
    <p:sldId id="439" r:id="rId105"/>
    <p:sldId id="488" r:id="rId106"/>
    <p:sldId id="489" r:id="rId107"/>
    <p:sldId id="490" r:id="rId108"/>
    <p:sldId id="491" r:id="rId109"/>
    <p:sldId id="443" r:id="rId110"/>
    <p:sldId id="459" r:id="rId111"/>
    <p:sldId id="460" r:id="rId112"/>
    <p:sldId id="462" r:id="rId113"/>
    <p:sldId id="568" r:id="rId114"/>
    <p:sldId id="463" r:id="rId115"/>
    <p:sldId id="464" r:id="rId116"/>
    <p:sldId id="465" r:id="rId117"/>
    <p:sldId id="466" r:id="rId118"/>
    <p:sldId id="470" r:id="rId119"/>
    <p:sldId id="467" r:id="rId120"/>
    <p:sldId id="471" r:id="rId121"/>
    <p:sldId id="469" r:id="rId122"/>
    <p:sldId id="472" r:id="rId123"/>
    <p:sldId id="473" r:id="rId124"/>
    <p:sldId id="468" r:id="rId125"/>
    <p:sldId id="535" r:id="rId126"/>
    <p:sldId id="536" r:id="rId127"/>
    <p:sldId id="537" r:id="rId128"/>
    <p:sldId id="538" r:id="rId129"/>
    <p:sldId id="539" r:id="rId130"/>
    <p:sldId id="540" r:id="rId131"/>
    <p:sldId id="541" r:id="rId132"/>
    <p:sldId id="542" r:id="rId133"/>
    <p:sldId id="544" r:id="rId134"/>
    <p:sldId id="545" r:id="rId135"/>
    <p:sldId id="546" r:id="rId136"/>
    <p:sldId id="547" r:id="rId137"/>
    <p:sldId id="548" r:id="rId138"/>
    <p:sldId id="549" r:id="rId139"/>
    <p:sldId id="550" r:id="rId140"/>
    <p:sldId id="551" r:id="rId141"/>
    <p:sldId id="552" r:id="rId142"/>
    <p:sldId id="553" r:id="rId143"/>
    <p:sldId id="554" r:id="rId144"/>
    <p:sldId id="555" r:id="rId145"/>
    <p:sldId id="556" r:id="rId146"/>
    <p:sldId id="557" r:id="rId147"/>
    <p:sldId id="558" r:id="rId148"/>
    <p:sldId id="559" r:id="rId149"/>
    <p:sldId id="560" r:id="rId150"/>
    <p:sldId id="561" r:id="rId151"/>
    <p:sldId id="562" r:id="rId152"/>
    <p:sldId id="563" r:id="rId153"/>
    <p:sldId id="564" r:id="rId154"/>
    <p:sldId id="565" r:id="rId155"/>
    <p:sldId id="566" r:id="rId156"/>
    <p:sldId id="567" r:id="rId157"/>
    <p:sldId id="569" r:id="rId158"/>
    <p:sldId id="570" r:id="rId159"/>
    <p:sldId id="585" r:id="rId160"/>
    <p:sldId id="571" r:id="rId161"/>
    <p:sldId id="572" r:id="rId162"/>
    <p:sldId id="573" r:id="rId163"/>
    <p:sldId id="574" r:id="rId164"/>
    <p:sldId id="587" r:id="rId165"/>
    <p:sldId id="588" r:id="rId166"/>
    <p:sldId id="474" r:id="rId167"/>
    <p:sldId id="594" r:id="rId168"/>
    <p:sldId id="590" r:id="rId169"/>
    <p:sldId id="591" r:id="rId170"/>
    <p:sldId id="592" r:id="rId171"/>
    <p:sldId id="575" r:id="rId172"/>
  </p:sldIdLst>
  <p:sldSz cx="9144000" cy="6858000" type="screen4x3"/>
  <p:notesSz cx="7304088" cy="9590088"/>
  <p:defaultTextStyle>
    <a:defPPr>
      <a:defRPr lang="en-GB"/>
    </a:defPPr>
    <a:lvl1pPr algn="l" defTabSz="457200" rtl="0" fontAlgn="base">
      <a:lnSpc>
        <a:spcPct val="95000"/>
      </a:lnSpc>
      <a:spcBef>
        <a:spcPct val="0"/>
      </a:spcBef>
      <a:spcAft>
        <a:spcPct val="0"/>
      </a:spcAft>
      <a:buClr>
        <a:srgbClr val="000000"/>
      </a:buClr>
      <a:buSzPct val="100000"/>
      <a:buFont typeface="Times New Roman" charset="0"/>
      <a:defRPr sz="2400" kern="1200">
        <a:solidFill>
          <a:schemeClr val="bg1"/>
        </a:solidFill>
        <a:latin typeface="Times New Roman" charset="0"/>
        <a:ea typeface="ＭＳ Ｐゴシック" charset="0"/>
        <a:cs typeface="ＭＳ Ｐゴシック" charset="0"/>
      </a:defRPr>
    </a:lvl1pPr>
    <a:lvl2pPr marL="457200" algn="l" defTabSz="457200" rtl="0" fontAlgn="base">
      <a:lnSpc>
        <a:spcPct val="95000"/>
      </a:lnSpc>
      <a:spcBef>
        <a:spcPct val="0"/>
      </a:spcBef>
      <a:spcAft>
        <a:spcPct val="0"/>
      </a:spcAft>
      <a:buClr>
        <a:srgbClr val="000000"/>
      </a:buClr>
      <a:buSzPct val="100000"/>
      <a:buFont typeface="Times New Roman" charset="0"/>
      <a:defRPr sz="2400" kern="1200">
        <a:solidFill>
          <a:schemeClr val="bg1"/>
        </a:solidFill>
        <a:latin typeface="Times New Roman" charset="0"/>
        <a:ea typeface="ＭＳ Ｐゴシック" charset="0"/>
        <a:cs typeface="ＭＳ Ｐゴシック" charset="0"/>
      </a:defRPr>
    </a:lvl2pPr>
    <a:lvl3pPr marL="914400" algn="l" defTabSz="457200" rtl="0" fontAlgn="base">
      <a:lnSpc>
        <a:spcPct val="95000"/>
      </a:lnSpc>
      <a:spcBef>
        <a:spcPct val="0"/>
      </a:spcBef>
      <a:spcAft>
        <a:spcPct val="0"/>
      </a:spcAft>
      <a:buClr>
        <a:srgbClr val="000000"/>
      </a:buClr>
      <a:buSzPct val="100000"/>
      <a:buFont typeface="Times New Roman" charset="0"/>
      <a:defRPr sz="2400" kern="1200">
        <a:solidFill>
          <a:schemeClr val="bg1"/>
        </a:solidFill>
        <a:latin typeface="Times New Roman" charset="0"/>
        <a:ea typeface="ＭＳ Ｐゴシック" charset="0"/>
        <a:cs typeface="ＭＳ Ｐゴシック" charset="0"/>
      </a:defRPr>
    </a:lvl3pPr>
    <a:lvl4pPr marL="1371600" algn="l" defTabSz="457200" rtl="0" fontAlgn="base">
      <a:lnSpc>
        <a:spcPct val="95000"/>
      </a:lnSpc>
      <a:spcBef>
        <a:spcPct val="0"/>
      </a:spcBef>
      <a:spcAft>
        <a:spcPct val="0"/>
      </a:spcAft>
      <a:buClr>
        <a:srgbClr val="000000"/>
      </a:buClr>
      <a:buSzPct val="100000"/>
      <a:buFont typeface="Times New Roman" charset="0"/>
      <a:defRPr sz="2400" kern="1200">
        <a:solidFill>
          <a:schemeClr val="bg1"/>
        </a:solidFill>
        <a:latin typeface="Times New Roman" charset="0"/>
        <a:ea typeface="ＭＳ Ｐゴシック" charset="0"/>
        <a:cs typeface="ＭＳ Ｐゴシック" charset="0"/>
      </a:defRPr>
    </a:lvl4pPr>
    <a:lvl5pPr marL="1828800" algn="l" defTabSz="457200" rtl="0" fontAlgn="base">
      <a:lnSpc>
        <a:spcPct val="95000"/>
      </a:lnSpc>
      <a:spcBef>
        <a:spcPct val="0"/>
      </a:spcBef>
      <a:spcAft>
        <a:spcPct val="0"/>
      </a:spcAft>
      <a:buClr>
        <a:srgbClr val="000000"/>
      </a:buClr>
      <a:buSzPct val="100000"/>
      <a:buFont typeface="Times New Roman" charset="0"/>
      <a:defRPr sz="2400" kern="1200">
        <a:solidFill>
          <a:schemeClr val="bg1"/>
        </a:solidFill>
        <a:latin typeface="Times New Roman" charset="0"/>
        <a:ea typeface="ＭＳ Ｐゴシック" charset="0"/>
        <a:cs typeface="ＭＳ Ｐゴシック" charset="0"/>
      </a:defRPr>
    </a:lvl5pPr>
    <a:lvl6pPr marL="2286000" algn="l" defTabSz="457200" rtl="0" eaLnBrk="1" latinLnBrk="0" hangingPunct="1">
      <a:defRPr sz="2400" kern="1200">
        <a:solidFill>
          <a:schemeClr val="bg1"/>
        </a:solidFill>
        <a:latin typeface="Times New Roman" charset="0"/>
        <a:ea typeface="ＭＳ Ｐゴシック" charset="0"/>
        <a:cs typeface="ＭＳ Ｐゴシック" charset="0"/>
      </a:defRPr>
    </a:lvl6pPr>
    <a:lvl7pPr marL="2743200" algn="l" defTabSz="457200" rtl="0" eaLnBrk="1" latinLnBrk="0" hangingPunct="1">
      <a:defRPr sz="2400" kern="1200">
        <a:solidFill>
          <a:schemeClr val="bg1"/>
        </a:solidFill>
        <a:latin typeface="Times New Roman" charset="0"/>
        <a:ea typeface="ＭＳ Ｐゴシック" charset="0"/>
        <a:cs typeface="ＭＳ Ｐゴシック" charset="0"/>
      </a:defRPr>
    </a:lvl7pPr>
    <a:lvl8pPr marL="3200400" algn="l" defTabSz="457200" rtl="0" eaLnBrk="1" latinLnBrk="0" hangingPunct="1">
      <a:defRPr sz="2400" kern="1200">
        <a:solidFill>
          <a:schemeClr val="bg1"/>
        </a:solidFill>
        <a:latin typeface="Times New Roman" charset="0"/>
        <a:ea typeface="ＭＳ Ｐゴシック" charset="0"/>
        <a:cs typeface="ＭＳ Ｐゴシック" charset="0"/>
      </a:defRPr>
    </a:lvl8pPr>
    <a:lvl9pPr marL="3657600" algn="l" defTabSz="457200" rtl="0" eaLnBrk="1" latinLnBrk="0" hangingPunct="1">
      <a:defRPr sz="2400" kern="1200">
        <a:solidFill>
          <a:schemeClr val="bg1"/>
        </a:solidFill>
        <a:latin typeface="Times New Roman"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65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772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54" autoAdjust="0"/>
    <p:restoredTop sz="94638"/>
  </p:normalViewPr>
  <p:slideViewPr>
    <p:cSldViewPr>
      <p:cViewPr varScale="1">
        <p:scale>
          <a:sx n="78" d="100"/>
          <a:sy n="78" d="100"/>
        </p:scale>
        <p:origin x="1258" y="62"/>
      </p:cViewPr>
      <p:guideLst>
        <p:guide orient="horz" pos="2160"/>
        <p:guide pos="2658"/>
      </p:guideLst>
    </p:cSldViewPr>
  </p:slideViewPr>
  <p:outlineViewPr>
    <p:cViewPr>
      <p:scale>
        <a:sx n="33" d="100"/>
        <a:sy n="33" d="100"/>
      </p:scale>
      <p:origin x="0" y="-216104"/>
    </p:cViewPr>
  </p:outlineViewPr>
  <p:notesTextViewPr>
    <p:cViewPr>
      <p:scale>
        <a:sx n="100" d="100"/>
        <a:sy n="100" d="100"/>
      </p:scale>
      <p:origin x="0" y="0"/>
    </p:cViewPr>
  </p:notesTextViewPr>
  <p:sorterViewPr>
    <p:cViewPr varScale="1">
      <p:scale>
        <a:sx n="84" d="100"/>
        <a:sy n="84" d="100"/>
      </p:scale>
      <p:origin x="0" y="-8952"/>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tableStyles" Target="tableStyles.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viewProps" Target="viewProp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theme" Target="theme/theme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AutoShape 1"/>
          <p:cNvSpPr>
            <a:spLocks noChangeArrowheads="1"/>
          </p:cNvSpPr>
          <p:nvPr/>
        </p:nvSpPr>
        <p:spPr bwMode="auto">
          <a:xfrm>
            <a:off x="0" y="0"/>
            <a:ext cx="7304088" cy="9590088"/>
          </a:xfrm>
          <a:prstGeom prst="roundRect">
            <a:avLst>
              <a:gd name="adj" fmla="val 19"/>
            </a:avLst>
          </a:pr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it-IT">
              <a:cs typeface="Lucida Sans Unicode" charset="0"/>
            </a:endParaRPr>
          </a:p>
        </p:txBody>
      </p:sp>
      <p:sp>
        <p:nvSpPr>
          <p:cNvPr id="14339" name="Rectangle 2"/>
          <p:cNvSpPr>
            <a:spLocks noChangeArrowheads="1"/>
          </p:cNvSpPr>
          <p:nvPr/>
        </p:nvSpPr>
        <p:spPr bwMode="auto">
          <a:xfrm>
            <a:off x="3163888" y="9112250"/>
            <a:ext cx="858837" cy="417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lIns="87480" tIns="44280" rIns="87480" bIns="44280">
            <a:spAutoFit/>
          </a:bodyPr>
          <a:lstStyle/>
          <a:p>
            <a:pPr algn="ctr">
              <a:lnSpc>
                <a:spcPct val="90000"/>
              </a:lnSpc>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latin typeface="Arial" charset="0"/>
              </a:rPr>
              <a:t>Pag. </a:t>
            </a:r>
            <a:fld id="{2F610E93-8546-ED46-97D2-465B0BD17700}" type="slidenum">
              <a:rPr lang="en-GB" sz="1200">
                <a:solidFill>
                  <a:srgbClr val="000000"/>
                </a:solidFill>
                <a:latin typeface="Arial" charset="0"/>
              </a:rPr>
              <a:pPr algn="ctr">
                <a:lnSpc>
                  <a:spcPct val="90000"/>
                </a:lnSpc>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a:t>
            </a:fld>
            <a:endParaRPr lang="en-GB" sz="1200">
              <a:solidFill>
                <a:srgbClr val="000000"/>
              </a:solidFill>
              <a:latin typeface="Arial" charset="0"/>
            </a:endParaRPr>
          </a:p>
        </p:txBody>
      </p:sp>
      <p:sp>
        <p:nvSpPr>
          <p:cNvPr id="14340" name="Rectangle 3"/>
          <p:cNvSpPr>
            <a:spLocks noGrp="1" noRot="1" noChangeAspect="1" noChangeArrowheads="1"/>
          </p:cNvSpPr>
          <p:nvPr>
            <p:ph type="sldImg"/>
          </p:nvPr>
        </p:nvSpPr>
        <p:spPr bwMode="auto">
          <a:xfrm>
            <a:off x="1420813" y="844550"/>
            <a:ext cx="4459287" cy="3343275"/>
          </a:xfrm>
          <a:prstGeom prst="rect">
            <a:avLst/>
          </a:prstGeom>
          <a:noFill/>
          <a:ln w="12600">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076" name="Rectangle 4"/>
          <p:cNvSpPr>
            <a:spLocks noGrp="1" noChangeArrowheads="1"/>
          </p:cNvSpPr>
          <p:nvPr>
            <p:ph type="body"/>
          </p:nvPr>
        </p:nvSpPr>
        <p:spPr bwMode="auto">
          <a:xfrm>
            <a:off x="973138" y="4557713"/>
            <a:ext cx="5354637" cy="4035425"/>
          </a:xfrm>
          <a:prstGeom prst="rect">
            <a:avLst/>
          </a:prstGeom>
          <a:noFill/>
          <a:ln w="9525">
            <a:noFill/>
            <a:round/>
            <a:headEnd/>
            <a:tailEnd/>
          </a:ln>
          <a:effectLst/>
        </p:spPr>
        <p:txBody>
          <a:bodyPr vert="horz" wrap="square" lIns="90360" tIns="44280" rIns="90360" bIns="44280" numCol="1" anchor="t" anchorCtr="0" compatLnSpc="1">
            <a:prstTxWarp prst="textNoShape">
              <a:avLst/>
            </a:prstTxWarp>
          </a:bodyPr>
          <a:lstStyle/>
          <a:p>
            <a:pPr lvl="0"/>
            <a:endParaRPr lang="it-IT" noProof="0"/>
          </a:p>
        </p:txBody>
      </p:sp>
    </p:spTree>
    <p:extLst>
      <p:ext uri="{BB962C8B-B14F-4D97-AF65-F5344CB8AC3E}">
        <p14:creationId xmlns:p14="http://schemas.microsoft.com/office/powerpoint/2010/main" val="2320983917"/>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6" charset="0"/>
        <a:ea typeface="ＭＳ Ｐゴシック" pitchFamily="-110" charset="-128"/>
        <a:cs typeface="ＭＳ Ｐゴシック" pitchFamily="-110" charset="-128"/>
      </a:defRPr>
    </a:lvl1pPr>
    <a:lvl2pPr marL="742950" indent="-28575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6" charset="0"/>
        <a:ea typeface="ＭＳ Ｐゴシック" pitchFamily="-110" charset="-128"/>
        <a:cs typeface="+mn-cs"/>
      </a:defRPr>
    </a:lvl2pPr>
    <a:lvl3pPr marL="11430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6" charset="0"/>
        <a:ea typeface="ＭＳ Ｐゴシック" pitchFamily="-110" charset="-128"/>
        <a:cs typeface="+mn-cs"/>
      </a:defRPr>
    </a:lvl3pPr>
    <a:lvl4pPr marL="16002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6" charset="0"/>
        <a:ea typeface="ＭＳ Ｐゴシック" pitchFamily="-110" charset="-128"/>
        <a:cs typeface="+mn-cs"/>
      </a:defRPr>
    </a:lvl4pPr>
    <a:lvl5pPr marL="20574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6" charset="0"/>
        <a:ea typeface="ＭＳ Ｐゴシック" pitchFamily="-11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Text Box 1025"/>
          <p:cNvSpPr txBox="1">
            <a:spLocks noChangeArrowheads="1"/>
          </p:cNvSpPr>
          <p:nvPr/>
        </p:nvSpPr>
        <p:spPr bwMode="auto">
          <a:xfrm>
            <a:off x="1421825" y="845159"/>
            <a:ext cx="4460439" cy="3347333"/>
          </a:xfrm>
          <a:prstGeom prst="rect">
            <a:avLst/>
          </a:prstGeom>
          <a:solidFill>
            <a:srgbClr val="FFFFFF"/>
          </a:solidFill>
          <a:ln w="9360">
            <a:solidFill>
              <a:srgbClr val="000000"/>
            </a:solidFill>
            <a:miter lim="800000"/>
            <a:headEnd/>
            <a:tailEnd/>
          </a:ln>
        </p:spPr>
        <p:txBody>
          <a:bodyPr wrap="none" lIns="91312" tIns="45656" rIns="91312" bIns="45656" anchor="ctr"/>
          <a:lstStyle>
            <a:lvl1pPr eaLnBrk="0" hangingPunct="0">
              <a:defRPr sz="2400">
                <a:solidFill>
                  <a:schemeClr val="bg1"/>
                </a:solidFill>
                <a:latin typeface="Lucida Sans Unicode" charset="0"/>
                <a:ea typeface="ＭＳ Ｐゴシック" charset="0"/>
                <a:cs typeface="ＭＳ Ｐゴシック" charset="0"/>
              </a:defRPr>
            </a:lvl1pPr>
            <a:lvl2pPr marL="742950" indent="-285750" eaLnBrk="0" hangingPunct="0">
              <a:defRPr sz="2400">
                <a:solidFill>
                  <a:schemeClr val="bg1"/>
                </a:solidFill>
                <a:latin typeface="Lucida Sans Unicode" charset="0"/>
                <a:ea typeface="ＭＳ Ｐゴシック" charset="0"/>
              </a:defRPr>
            </a:lvl2pPr>
            <a:lvl3pPr marL="1143000" indent="-228600" eaLnBrk="0" hangingPunct="0">
              <a:defRPr sz="2400">
                <a:solidFill>
                  <a:schemeClr val="bg1"/>
                </a:solidFill>
                <a:latin typeface="Lucida Sans Unicode" charset="0"/>
                <a:ea typeface="ＭＳ Ｐゴシック" charset="0"/>
              </a:defRPr>
            </a:lvl3pPr>
            <a:lvl4pPr marL="1600200" indent="-228600" eaLnBrk="0" hangingPunct="0">
              <a:defRPr sz="2400">
                <a:solidFill>
                  <a:schemeClr val="bg1"/>
                </a:solidFill>
                <a:latin typeface="Lucida Sans Unicode" charset="0"/>
                <a:ea typeface="ＭＳ Ｐゴシック" charset="0"/>
              </a:defRPr>
            </a:lvl4pPr>
            <a:lvl5pPr marL="2057400" indent="-228600" eaLnBrk="0" hangingPunct="0">
              <a:defRPr sz="2400">
                <a:solidFill>
                  <a:schemeClr val="bg1"/>
                </a:solidFill>
                <a:latin typeface="Lucida Sans Unicode" charset="0"/>
                <a:ea typeface="ＭＳ Ｐゴシック" charset="0"/>
              </a:defRPr>
            </a:lvl5pPr>
            <a:lvl6pPr marL="2514600" indent="-228600" eaLnBrk="0" fontAlgn="base" hangingPunct="0">
              <a:lnSpc>
                <a:spcPct val="103000"/>
              </a:lnSpc>
              <a:spcBef>
                <a:spcPct val="0"/>
              </a:spcBef>
              <a:spcAft>
                <a:spcPct val="0"/>
              </a:spcAft>
              <a:buClr>
                <a:srgbClr val="000000"/>
              </a:buClr>
              <a:buSzPct val="100000"/>
              <a:buFont typeface="Times New Roman" charset="0"/>
              <a:defRPr sz="2400">
                <a:solidFill>
                  <a:schemeClr val="bg1"/>
                </a:solidFill>
                <a:latin typeface="Lucida Sans Unicode" charset="0"/>
                <a:ea typeface="ＭＳ Ｐゴシック" charset="0"/>
              </a:defRPr>
            </a:lvl6pPr>
            <a:lvl7pPr marL="2971800" indent="-228600" eaLnBrk="0" fontAlgn="base" hangingPunct="0">
              <a:lnSpc>
                <a:spcPct val="103000"/>
              </a:lnSpc>
              <a:spcBef>
                <a:spcPct val="0"/>
              </a:spcBef>
              <a:spcAft>
                <a:spcPct val="0"/>
              </a:spcAft>
              <a:buClr>
                <a:srgbClr val="000000"/>
              </a:buClr>
              <a:buSzPct val="100000"/>
              <a:buFont typeface="Times New Roman" charset="0"/>
              <a:defRPr sz="2400">
                <a:solidFill>
                  <a:schemeClr val="bg1"/>
                </a:solidFill>
                <a:latin typeface="Lucida Sans Unicode" charset="0"/>
                <a:ea typeface="ＭＳ Ｐゴシック" charset="0"/>
              </a:defRPr>
            </a:lvl7pPr>
            <a:lvl8pPr marL="3429000" indent="-228600" eaLnBrk="0" fontAlgn="base" hangingPunct="0">
              <a:lnSpc>
                <a:spcPct val="103000"/>
              </a:lnSpc>
              <a:spcBef>
                <a:spcPct val="0"/>
              </a:spcBef>
              <a:spcAft>
                <a:spcPct val="0"/>
              </a:spcAft>
              <a:buClr>
                <a:srgbClr val="000000"/>
              </a:buClr>
              <a:buSzPct val="100000"/>
              <a:buFont typeface="Times New Roman" charset="0"/>
              <a:defRPr sz="2400">
                <a:solidFill>
                  <a:schemeClr val="bg1"/>
                </a:solidFill>
                <a:latin typeface="Lucida Sans Unicode" charset="0"/>
                <a:ea typeface="ＭＳ Ｐゴシック" charset="0"/>
              </a:defRPr>
            </a:lvl8pPr>
            <a:lvl9pPr marL="3886200" indent="-228600" eaLnBrk="0" fontAlgn="base" hangingPunct="0">
              <a:lnSpc>
                <a:spcPct val="103000"/>
              </a:lnSpc>
              <a:spcBef>
                <a:spcPct val="0"/>
              </a:spcBef>
              <a:spcAft>
                <a:spcPct val="0"/>
              </a:spcAft>
              <a:buClr>
                <a:srgbClr val="000000"/>
              </a:buClr>
              <a:buSzPct val="100000"/>
              <a:buFont typeface="Times New Roman" charset="0"/>
              <a:defRPr sz="2400">
                <a:solidFill>
                  <a:schemeClr val="bg1"/>
                </a:solidFill>
                <a:latin typeface="Lucida Sans Unicode" charset="0"/>
                <a:ea typeface="ＭＳ Ｐゴシック" charset="0"/>
              </a:defRPr>
            </a:lvl9pPr>
          </a:lstStyle>
          <a:p>
            <a:pPr eaLnBrk="1" hangingPunct="1"/>
            <a:endParaRPr lang="it-IT"/>
          </a:p>
        </p:txBody>
      </p:sp>
      <p:sp>
        <p:nvSpPr>
          <p:cNvPr id="29699" name="Rectangle 1026"/>
          <p:cNvSpPr>
            <a:spLocks noGrp="1" noChangeArrowheads="1"/>
          </p:cNvSpPr>
          <p:nvPr>
            <p:ph type="body"/>
          </p:nvPr>
        </p:nvSpPr>
        <p:spPr>
          <a:xfrm>
            <a:off x="973245" y="4557195"/>
            <a:ext cx="5354429" cy="4037097"/>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it-IT">
              <a:latin typeface="Times New Roman" charset="0"/>
              <a:ea typeface="ＭＳ Ｐゴシック" charset="0"/>
              <a:cs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3410" name="Rectangle 11"/>
          <p:cNvSpPr>
            <a:spLocks noGrp="1" noChangeArrowheads="1"/>
          </p:cNvSpPr>
          <p:nvPr>
            <p:ph type="sldNum" sz="quarter" idx="4294967295"/>
          </p:nvPr>
        </p:nvSpPr>
        <p:spPr bwMode="auto">
          <a:xfrm>
            <a:off x="4137081" y="9109633"/>
            <a:ext cx="3165422" cy="478870"/>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lIns="91292" tIns="45646" rIns="91292" bIns="45646"/>
          <a:lstStyle>
            <a:lvl1pPr defTabSz="954337">
              <a:tabLst>
                <a:tab pos="719716" algn="l"/>
                <a:tab pos="1442603" algn="l"/>
                <a:tab pos="2165489" algn="l"/>
                <a:tab pos="2888376" algn="l"/>
              </a:tabLst>
              <a:defRPr sz="2400">
                <a:solidFill>
                  <a:schemeClr val="bg1"/>
                </a:solidFill>
                <a:latin typeface="Times New Roman" charset="0"/>
                <a:ea typeface="ＭＳ Ｐゴシック" charset="0"/>
                <a:cs typeface="ＭＳ Ｐゴシック" charset="0"/>
              </a:defRPr>
            </a:lvl1pPr>
            <a:lvl2pPr marL="741910" indent="-285350" defTabSz="954337">
              <a:tabLst>
                <a:tab pos="719716" algn="l"/>
                <a:tab pos="1442603" algn="l"/>
                <a:tab pos="2165489" algn="l"/>
                <a:tab pos="2888376" algn="l"/>
              </a:tabLst>
              <a:defRPr sz="2400">
                <a:solidFill>
                  <a:schemeClr val="bg1"/>
                </a:solidFill>
                <a:latin typeface="Times New Roman" charset="0"/>
                <a:ea typeface="ＭＳ Ｐゴシック" charset="0"/>
              </a:defRPr>
            </a:lvl2pPr>
            <a:lvl3pPr marL="1141400" indent="-228280" defTabSz="954337">
              <a:tabLst>
                <a:tab pos="719716" algn="l"/>
                <a:tab pos="1442603" algn="l"/>
                <a:tab pos="2165489" algn="l"/>
                <a:tab pos="2888376" algn="l"/>
              </a:tabLst>
              <a:defRPr sz="2400">
                <a:solidFill>
                  <a:schemeClr val="bg1"/>
                </a:solidFill>
                <a:latin typeface="Times New Roman" charset="0"/>
                <a:ea typeface="ＭＳ Ｐゴシック" charset="0"/>
              </a:defRPr>
            </a:lvl3pPr>
            <a:lvl4pPr marL="1597960" indent="-228280" defTabSz="954337">
              <a:tabLst>
                <a:tab pos="719716" algn="l"/>
                <a:tab pos="1442603" algn="l"/>
                <a:tab pos="2165489" algn="l"/>
                <a:tab pos="2888376" algn="l"/>
              </a:tabLst>
              <a:defRPr sz="2400">
                <a:solidFill>
                  <a:schemeClr val="bg1"/>
                </a:solidFill>
                <a:latin typeface="Times New Roman" charset="0"/>
                <a:ea typeface="ＭＳ Ｐゴシック" charset="0"/>
              </a:defRPr>
            </a:lvl4pPr>
            <a:lvl5pPr marL="2054520" indent="-228280" defTabSz="954337">
              <a:tabLst>
                <a:tab pos="719716" algn="l"/>
                <a:tab pos="1442603" algn="l"/>
                <a:tab pos="2165489" algn="l"/>
                <a:tab pos="2888376" algn="l"/>
              </a:tabLst>
              <a:defRPr sz="2400">
                <a:solidFill>
                  <a:schemeClr val="bg1"/>
                </a:solidFill>
                <a:latin typeface="Times New Roman" charset="0"/>
                <a:ea typeface="ＭＳ Ｐゴシック" charset="0"/>
              </a:defRPr>
            </a:lvl5pPr>
            <a:lvl6pPr marL="2511080" indent="-228280" defTabSz="954337" eaLnBrk="0" fontAlgn="base" hangingPunct="0">
              <a:lnSpc>
                <a:spcPct val="60000"/>
              </a:lnSpc>
              <a:spcBef>
                <a:spcPct val="0"/>
              </a:spcBef>
              <a:spcAft>
                <a:spcPct val="0"/>
              </a:spcAft>
              <a:buClr>
                <a:srgbClr val="000000"/>
              </a:buClr>
              <a:buSzPct val="100000"/>
              <a:buFont typeface="Times New Roman" charset="0"/>
              <a:tabLst>
                <a:tab pos="719716" algn="l"/>
                <a:tab pos="1442603" algn="l"/>
                <a:tab pos="2165489" algn="l"/>
                <a:tab pos="2888376" algn="l"/>
              </a:tabLst>
              <a:defRPr sz="2400">
                <a:solidFill>
                  <a:schemeClr val="bg1"/>
                </a:solidFill>
                <a:latin typeface="Times New Roman" charset="0"/>
                <a:ea typeface="ＭＳ Ｐゴシック" charset="0"/>
              </a:defRPr>
            </a:lvl6pPr>
            <a:lvl7pPr marL="2967639" indent="-228280" defTabSz="954337" eaLnBrk="0" fontAlgn="base" hangingPunct="0">
              <a:lnSpc>
                <a:spcPct val="60000"/>
              </a:lnSpc>
              <a:spcBef>
                <a:spcPct val="0"/>
              </a:spcBef>
              <a:spcAft>
                <a:spcPct val="0"/>
              </a:spcAft>
              <a:buClr>
                <a:srgbClr val="000000"/>
              </a:buClr>
              <a:buSzPct val="100000"/>
              <a:buFont typeface="Times New Roman" charset="0"/>
              <a:tabLst>
                <a:tab pos="719716" algn="l"/>
                <a:tab pos="1442603" algn="l"/>
                <a:tab pos="2165489" algn="l"/>
                <a:tab pos="2888376" algn="l"/>
              </a:tabLst>
              <a:defRPr sz="2400">
                <a:solidFill>
                  <a:schemeClr val="bg1"/>
                </a:solidFill>
                <a:latin typeface="Times New Roman" charset="0"/>
                <a:ea typeface="ＭＳ Ｐゴシック" charset="0"/>
              </a:defRPr>
            </a:lvl7pPr>
            <a:lvl8pPr marL="3424199" indent="-228280" defTabSz="954337" eaLnBrk="0" fontAlgn="base" hangingPunct="0">
              <a:lnSpc>
                <a:spcPct val="60000"/>
              </a:lnSpc>
              <a:spcBef>
                <a:spcPct val="0"/>
              </a:spcBef>
              <a:spcAft>
                <a:spcPct val="0"/>
              </a:spcAft>
              <a:buClr>
                <a:srgbClr val="000000"/>
              </a:buClr>
              <a:buSzPct val="100000"/>
              <a:buFont typeface="Times New Roman" charset="0"/>
              <a:tabLst>
                <a:tab pos="719716" algn="l"/>
                <a:tab pos="1442603" algn="l"/>
                <a:tab pos="2165489" algn="l"/>
                <a:tab pos="2888376" algn="l"/>
              </a:tabLst>
              <a:defRPr sz="2400">
                <a:solidFill>
                  <a:schemeClr val="bg1"/>
                </a:solidFill>
                <a:latin typeface="Times New Roman" charset="0"/>
                <a:ea typeface="ＭＳ Ｐゴシック" charset="0"/>
              </a:defRPr>
            </a:lvl8pPr>
            <a:lvl9pPr marL="3880759" indent="-228280" defTabSz="954337" eaLnBrk="0" fontAlgn="base" hangingPunct="0">
              <a:lnSpc>
                <a:spcPct val="60000"/>
              </a:lnSpc>
              <a:spcBef>
                <a:spcPct val="0"/>
              </a:spcBef>
              <a:spcAft>
                <a:spcPct val="0"/>
              </a:spcAft>
              <a:buClr>
                <a:srgbClr val="000000"/>
              </a:buClr>
              <a:buSzPct val="100000"/>
              <a:buFont typeface="Times New Roman" charset="0"/>
              <a:tabLst>
                <a:tab pos="719716" algn="l"/>
                <a:tab pos="1442603" algn="l"/>
                <a:tab pos="2165489" algn="l"/>
                <a:tab pos="2888376" algn="l"/>
              </a:tabLst>
              <a:defRPr sz="2400">
                <a:solidFill>
                  <a:schemeClr val="bg1"/>
                </a:solidFill>
                <a:latin typeface="Times New Roman" charset="0"/>
                <a:ea typeface="ＭＳ Ｐゴシック" charset="0"/>
              </a:defRPr>
            </a:lvl9pPr>
          </a:lstStyle>
          <a:p>
            <a:fld id="{C7020F7A-D1D9-6744-B3BA-694639E1A141}" type="slidenum">
              <a:rPr lang="en-GB" sz="1200">
                <a:solidFill>
                  <a:srgbClr val="000000"/>
                </a:solidFill>
              </a:rPr>
              <a:pPr/>
              <a:t>2</a:t>
            </a:fld>
            <a:endParaRPr lang="en-GB" sz="1200">
              <a:solidFill>
                <a:srgbClr val="000000"/>
              </a:solidFill>
            </a:endParaRPr>
          </a:p>
        </p:txBody>
      </p:sp>
      <p:sp>
        <p:nvSpPr>
          <p:cNvPr id="273411" name="Text Box 1"/>
          <p:cNvSpPr txBox="1">
            <a:spLocks noChangeArrowheads="1"/>
          </p:cNvSpPr>
          <p:nvPr/>
        </p:nvSpPr>
        <p:spPr bwMode="auto">
          <a:xfrm>
            <a:off x="981171" y="719891"/>
            <a:ext cx="5341748" cy="3597869"/>
          </a:xfrm>
          <a:prstGeom prst="rect">
            <a:avLst/>
          </a:prstGeom>
          <a:solidFill>
            <a:srgbClr val="FFFFFF"/>
          </a:solidFill>
          <a:ln w="9360">
            <a:solidFill>
              <a:srgbClr val="000000"/>
            </a:solidFill>
            <a:miter lim="800000"/>
            <a:headEnd/>
            <a:tailEnd/>
          </a:ln>
        </p:spPr>
        <p:txBody>
          <a:bodyPr wrap="none" lIns="91292" tIns="45646" rIns="91292" bIns="45646" anchor="ctr"/>
          <a:lstStyle>
            <a:lvl1pPr>
              <a:defRPr sz="2400">
                <a:solidFill>
                  <a:schemeClr val="bg1"/>
                </a:solidFill>
                <a:latin typeface="Times New Roman" charset="0"/>
                <a:ea typeface="ＭＳ Ｐゴシック" charset="0"/>
                <a:cs typeface="ＭＳ Ｐゴシック" charset="0"/>
              </a:defRPr>
            </a:lvl1pPr>
            <a:lvl2pPr marL="742950" indent="-285750">
              <a:defRPr sz="2400">
                <a:solidFill>
                  <a:schemeClr val="bg1"/>
                </a:solidFill>
                <a:latin typeface="Times New Roman" charset="0"/>
                <a:ea typeface="ＭＳ Ｐゴシック" charset="0"/>
              </a:defRPr>
            </a:lvl2pPr>
            <a:lvl3pPr marL="1143000" indent="-228600">
              <a:defRPr sz="2400">
                <a:solidFill>
                  <a:schemeClr val="bg1"/>
                </a:solidFill>
                <a:latin typeface="Times New Roman" charset="0"/>
                <a:ea typeface="ＭＳ Ｐゴシック" charset="0"/>
              </a:defRPr>
            </a:lvl3pPr>
            <a:lvl4pPr marL="1600200" indent="-228600">
              <a:defRPr sz="2400">
                <a:solidFill>
                  <a:schemeClr val="bg1"/>
                </a:solidFill>
                <a:latin typeface="Times New Roman" charset="0"/>
                <a:ea typeface="ＭＳ Ｐゴシック" charset="0"/>
              </a:defRPr>
            </a:lvl4pPr>
            <a:lvl5pPr marL="2057400" indent="-228600">
              <a:defRPr sz="2400">
                <a:solidFill>
                  <a:schemeClr val="bg1"/>
                </a:solidFill>
                <a:latin typeface="Times New Roman" charset="0"/>
                <a:ea typeface="ＭＳ Ｐゴシック" charset="0"/>
              </a:defRPr>
            </a:lvl5pPr>
            <a:lvl6pPr marL="2514600" indent="-228600" eaLnBrk="0" fontAlgn="base" hangingPunct="0">
              <a:lnSpc>
                <a:spcPct val="60000"/>
              </a:lnSpc>
              <a:spcBef>
                <a:spcPct val="0"/>
              </a:spcBef>
              <a:spcAft>
                <a:spcPct val="0"/>
              </a:spcAft>
              <a:buClr>
                <a:srgbClr val="000000"/>
              </a:buClr>
              <a:buSzPct val="100000"/>
              <a:buFont typeface="Times New Roman" charset="0"/>
              <a:defRPr sz="2400">
                <a:solidFill>
                  <a:schemeClr val="bg1"/>
                </a:solidFill>
                <a:latin typeface="Times New Roman" charset="0"/>
                <a:ea typeface="ＭＳ Ｐゴシック" charset="0"/>
              </a:defRPr>
            </a:lvl6pPr>
            <a:lvl7pPr marL="2971800" indent="-228600" eaLnBrk="0" fontAlgn="base" hangingPunct="0">
              <a:lnSpc>
                <a:spcPct val="60000"/>
              </a:lnSpc>
              <a:spcBef>
                <a:spcPct val="0"/>
              </a:spcBef>
              <a:spcAft>
                <a:spcPct val="0"/>
              </a:spcAft>
              <a:buClr>
                <a:srgbClr val="000000"/>
              </a:buClr>
              <a:buSzPct val="100000"/>
              <a:buFont typeface="Times New Roman" charset="0"/>
              <a:defRPr sz="2400">
                <a:solidFill>
                  <a:schemeClr val="bg1"/>
                </a:solidFill>
                <a:latin typeface="Times New Roman" charset="0"/>
                <a:ea typeface="ＭＳ Ｐゴシック" charset="0"/>
              </a:defRPr>
            </a:lvl7pPr>
            <a:lvl8pPr marL="3429000" indent="-228600" eaLnBrk="0" fontAlgn="base" hangingPunct="0">
              <a:lnSpc>
                <a:spcPct val="60000"/>
              </a:lnSpc>
              <a:spcBef>
                <a:spcPct val="0"/>
              </a:spcBef>
              <a:spcAft>
                <a:spcPct val="0"/>
              </a:spcAft>
              <a:buClr>
                <a:srgbClr val="000000"/>
              </a:buClr>
              <a:buSzPct val="100000"/>
              <a:buFont typeface="Times New Roman" charset="0"/>
              <a:defRPr sz="2400">
                <a:solidFill>
                  <a:schemeClr val="bg1"/>
                </a:solidFill>
                <a:latin typeface="Times New Roman" charset="0"/>
                <a:ea typeface="ＭＳ Ｐゴシック" charset="0"/>
              </a:defRPr>
            </a:lvl8pPr>
            <a:lvl9pPr marL="3886200" indent="-228600" eaLnBrk="0" fontAlgn="base" hangingPunct="0">
              <a:lnSpc>
                <a:spcPct val="60000"/>
              </a:lnSpc>
              <a:spcBef>
                <a:spcPct val="0"/>
              </a:spcBef>
              <a:spcAft>
                <a:spcPct val="0"/>
              </a:spcAft>
              <a:buClr>
                <a:srgbClr val="000000"/>
              </a:buClr>
              <a:buSzPct val="100000"/>
              <a:buFont typeface="Times New Roman" charset="0"/>
              <a:defRPr sz="2400">
                <a:solidFill>
                  <a:schemeClr val="bg1"/>
                </a:solidFill>
                <a:latin typeface="Times New Roman" charset="0"/>
                <a:ea typeface="ＭＳ Ｐゴシック" charset="0"/>
              </a:defRPr>
            </a:lvl9pPr>
          </a:lstStyle>
          <a:p>
            <a:pPr eaLnBrk="1" hangingPunct="1"/>
            <a:endParaRPr lang="en-US" sz="2500"/>
          </a:p>
        </p:txBody>
      </p:sp>
      <p:sp>
        <p:nvSpPr>
          <p:cNvPr id="273412" name="Text Box 2"/>
          <p:cNvSpPr>
            <a:spLocks noGrp="1" noChangeArrowheads="1"/>
          </p:cNvSpPr>
          <p:nvPr>
            <p:ph type="body"/>
          </p:nvPr>
        </p:nvSpPr>
        <p:spPr>
          <a:xfrm>
            <a:off x="730727" y="4557194"/>
            <a:ext cx="5836296" cy="44018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a:latin typeface="Times New Roman" charset="0"/>
              <a:ea typeface="ＭＳ Ｐゴシック" charset="0"/>
              <a:cs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82487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653580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5591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7613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076623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6145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354106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018576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181673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TODO: </a:t>
            </a:r>
            <a:r>
              <a:rPr lang="en-GB" dirty="0" err="1"/>
              <a:t>splittare</a:t>
            </a:r>
            <a:r>
              <a:rPr lang="en-GB" dirty="0"/>
              <a:t> </a:t>
            </a:r>
            <a:r>
              <a:rPr lang="en-GB" dirty="0" err="1"/>
              <a:t>su</a:t>
            </a:r>
            <a:r>
              <a:rPr lang="en-GB" dirty="0"/>
              <a:t> </a:t>
            </a:r>
            <a:r>
              <a:rPr lang="en-GB" dirty="0" err="1"/>
              <a:t>più</a:t>
            </a:r>
            <a:r>
              <a:rPr lang="en-GB" dirty="0"/>
              <a:t> slide!</a:t>
            </a:r>
          </a:p>
        </p:txBody>
      </p:sp>
    </p:spTree>
    <p:extLst>
      <p:ext uri="{BB962C8B-B14F-4D97-AF65-F5344CB8AC3E}">
        <p14:creationId xmlns:p14="http://schemas.microsoft.com/office/powerpoint/2010/main" val="3414095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TODO: </a:t>
            </a:r>
            <a:r>
              <a:rPr lang="en-GB" dirty="0" err="1"/>
              <a:t>splittare</a:t>
            </a:r>
            <a:r>
              <a:rPr lang="en-GB" dirty="0"/>
              <a:t> </a:t>
            </a:r>
            <a:r>
              <a:rPr lang="en-GB" dirty="0" err="1"/>
              <a:t>su</a:t>
            </a:r>
            <a:r>
              <a:rPr lang="en-GB" dirty="0"/>
              <a:t> </a:t>
            </a:r>
            <a:r>
              <a:rPr lang="en-GB" dirty="0" err="1"/>
              <a:t>più</a:t>
            </a:r>
            <a:r>
              <a:rPr lang="en-GB" dirty="0"/>
              <a:t> slide!</a:t>
            </a:r>
          </a:p>
        </p:txBody>
      </p:sp>
    </p:spTree>
    <p:extLst>
      <p:ext uri="{BB962C8B-B14F-4D97-AF65-F5344CB8AC3E}">
        <p14:creationId xmlns:p14="http://schemas.microsoft.com/office/powerpoint/2010/main" val="798274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USARE JPQL!!!</a:t>
            </a:r>
          </a:p>
        </p:txBody>
      </p:sp>
    </p:spTree>
    <p:extLst>
      <p:ext uri="{BB962C8B-B14F-4D97-AF65-F5344CB8AC3E}">
        <p14:creationId xmlns:p14="http://schemas.microsoft.com/office/powerpoint/2010/main" val="1377664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80641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839424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690" y="2130426"/>
            <a:ext cx="7772620" cy="1470025"/>
          </a:xfrm>
        </p:spPr>
        <p:txBody>
          <a:bodyPr/>
          <a:lstStyle/>
          <a:p>
            <a:r>
              <a:rPr lang="it-IT"/>
              <a:t>Fare clic per modificare lo stile del titolo</a:t>
            </a:r>
          </a:p>
        </p:txBody>
      </p:sp>
      <p:sp>
        <p:nvSpPr>
          <p:cNvPr id="3" name="Sottotitolo 2"/>
          <p:cNvSpPr>
            <a:spLocks noGrp="1"/>
          </p:cNvSpPr>
          <p:nvPr>
            <p:ph type="subTitle" idx="1"/>
          </p:nvPr>
        </p:nvSpPr>
        <p:spPr>
          <a:xfrm>
            <a:off x="1371380" y="3886200"/>
            <a:ext cx="640124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a:t>Fare clic per modificare lo stile del sottotitolo dello schema</a:t>
            </a:r>
          </a:p>
        </p:txBody>
      </p:sp>
      <p:sp>
        <p:nvSpPr>
          <p:cNvPr id="4" name="Rectangle 4"/>
          <p:cNvSpPr>
            <a:spLocks noGrp="1" noChangeArrowheads="1"/>
          </p:cNvSpPr>
          <p:nvPr>
            <p:ph type="ftr"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037016A3-E90E-B745-B38B-4F0F99B0205F}" type="slidenum">
              <a:rPr lang="en-GB"/>
              <a:pPr>
                <a:defRPr/>
              </a:pPr>
              <a:t>‹#›</a:t>
            </a:fld>
            <a:endParaRPr lang="en-GB"/>
          </a:p>
        </p:txBody>
      </p:sp>
    </p:spTree>
    <p:extLst>
      <p:ext uri="{BB962C8B-B14F-4D97-AF65-F5344CB8AC3E}">
        <p14:creationId xmlns:p14="http://schemas.microsoft.com/office/powerpoint/2010/main" val="3032887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hasCustomPrompt="1"/>
          </p:nvPr>
        </p:nvSpPr>
        <p:spPr/>
        <p:txBody>
          <a:bodyPr/>
          <a:lstStyle/>
          <a:p>
            <a:pPr lvl="0"/>
            <a:r>
              <a:rPr lang="en-US" noProof="0"/>
              <a:t>Fare clic per modificare stili del testo dello schema</a:t>
            </a:r>
          </a:p>
          <a:p>
            <a:pPr lvl="1"/>
            <a:r>
              <a:rPr lang="en-US" noProof="0"/>
              <a:t>Secondo livello</a:t>
            </a:r>
          </a:p>
          <a:p>
            <a:pPr lvl="2"/>
            <a:r>
              <a:rPr lang="en-US" noProof="0"/>
              <a:t>Terzo livello</a:t>
            </a:r>
          </a:p>
          <a:p>
            <a:pPr lvl="3"/>
            <a:r>
              <a:rPr lang="en-US" noProof="0"/>
              <a:t>Quarto livello</a:t>
            </a:r>
          </a:p>
          <a:p>
            <a:pPr lvl="4"/>
            <a:r>
              <a:rPr lang="en-US" noProof="0"/>
              <a:t>Quinto livello</a:t>
            </a:r>
          </a:p>
        </p:txBody>
      </p:sp>
      <p:sp>
        <p:nvSpPr>
          <p:cNvPr id="4" name="Rectangle 4"/>
          <p:cNvSpPr>
            <a:spLocks noGrp="1" noChangeArrowheads="1"/>
          </p:cNvSpPr>
          <p:nvPr>
            <p:ph type="ftr"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ECA38AA1-E0DE-0742-B1F3-C008CD5B0C08}" type="slidenum">
              <a:rPr lang="en-GB"/>
              <a:pPr>
                <a:defRPr/>
              </a:pPr>
              <a:t>‹#›</a:t>
            </a:fld>
            <a:endParaRPr lang="en-GB"/>
          </a:p>
        </p:txBody>
      </p:sp>
    </p:spTree>
    <p:extLst>
      <p:ext uri="{BB962C8B-B14F-4D97-AF65-F5344CB8AC3E}">
        <p14:creationId xmlns:p14="http://schemas.microsoft.com/office/powerpoint/2010/main" val="3370557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20" y="4406901"/>
            <a:ext cx="7772619" cy="1362075"/>
          </a:xfrm>
        </p:spPr>
        <p:txBody>
          <a:bodyPr anchor="t"/>
          <a:lstStyle>
            <a:lvl1pPr algn="l">
              <a:defRPr sz="4000" b="1" cap="small" baseline="0"/>
            </a:lvl1pPr>
          </a:lstStyle>
          <a:p>
            <a:r>
              <a:rPr lang="it-IT" dirty="0"/>
              <a:t>Fare clic per modificare lo stile del titolo</a:t>
            </a:r>
          </a:p>
        </p:txBody>
      </p:sp>
      <p:sp>
        <p:nvSpPr>
          <p:cNvPr id="3" name="Segnaposto testo 2"/>
          <p:cNvSpPr>
            <a:spLocks noGrp="1"/>
          </p:cNvSpPr>
          <p:nvPr>
            <p:ph type="body" idx="1"/>
          </p:nvPr>
        </p:nvSpPr>
        <p:spPr>
          <a:xfrm>
            <a:off x="722320" y="2906713"/>
            <a:ext cx="777261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4" name="Rectangle 4"/>
          <p:cNvSpPr>
            <a:spLocks noGrp="1" noChangeArrowheads="1"/>
          </p:cNvSpPr>
          <p:nvPr>
            <p:ph type="ftr"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2A485705-9A96-F949-9A9B-D15E8E9A18CC}" type="slidenum">
              <a:rPr lang="en-GB"/>
              <a:pPr>
                <a:defRPr/>
              </a:pPr>
              <a:t>‹#›</a:t>
            </a:fld>
            <a:endParaRPr lang="en-GB"/>
          </a:p>
        </p:txBody>
      </p:sp>
    </p:spTree>
    <p:extLst>
      <p:ext uri="{BB962C8B-B14F-4D97-AF65-F5344CB8AC3E}">
        <p14:creationId xmlns:p14="http://schemas.microsoft.com/office/powerpoint/2010/main" val="245667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685690" y="1295400"/>
            <a:ext cx="4004255"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830600" y="1295400"/>
            <a:ext cx="4005719"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4"/>
          <p:cNvSpPr>
            <a:spLocks noGrp="1" noChangeArrowheads="1"/>
          </p:cNvSpPr>
          <p:nvPr>
            <p:ph type="ftr" idx="10"/>
          </p:nvPr>
        </p:nvSpPr>
        <p:spPr>
          <a:ln/>
        </p:spPr>
        <p:txBody>
          <a:bodyPr/>
          <a:lstStyle>
            <a:lvl1pPr>
              <a:defRPr/>
            </a:lvl1pPr>
          </a:lstStyle>
          <a:p>
            <a:pPr>
              <a:defRPr/>
            </a:pPr>
            <a:endParaRPr lang="en-US"/>
          </a:p>
        </p:txBody>
      </p:sp>
      <p:sp>
        <p:nvSpPr>
          <p:cNvPr id="6" name="Rectangle 5"/>
          <p:cNvSpPr>
            <a:spLocks noGrp="1" noChangeArrowheads="1"/>
          </p:cNvSpPr>
          <p:nvPr>
            <p:ph type="sldNum" idx="11"/>
          </p:nvPr>
        </p:nvSpPr>
        <p:spPr>
          <a:ln/>
        </p:spPr>
        <p:txBody>
          <a:bodyPr/>
          <a:lstStyle>
            <a:lvl1pPr>
              <a:defRPr/>
            </a:lvl1pPr>
          </a:lstStyle>
          <a:p>
            <a:pPr>
              <a:defRPr/>
            </a:pPr>
            <a:fld id="{445DD634-99A7-9046-A314-669753654FE8}" type="slidenum">
              <a:rPr lang="en-GB"/>
              <a:pPr>
                <a:defRPr/>
              </a:pPr>
              <a:t>‹#›</a:t>
            </a:fld>
            <a:endParaRPr lang="en-GB"/>
          </a:p>
        </p:txBody>
      </p:sp>
    </p:spTree>
    <p:extLst>
      <p:ext uri="{BB962C8B-B14F-4D97-AF65-F5344CB8AC3E}">
        <p14:creationId xmlns:p14="http://schemas.microsoft.com/office/powerpoint/2010/main" val="1415494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127" y="274638"/>
            <a:ext cx="8229747"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127" y="1535113"/>
            <a:ext cx="404088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127" y="2174875"/>
            <a:ext cx="404088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4525" y="1535113"/>
            <a:ext cx="404234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4525" y="2174875"/>
            <a:ext cx="404234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Rectangle 4"/>
          <p:cNvSpPr>
            <a:spLocks noGrp="1" noChangeArrowheads="1"/>
          </p:cNvSpPr>
          <p:nvPr>
            <p:ph type="ftr" idx="10"/>
          </p:nvPr>
        </p:nvSpPr>
        <p:spPr>
          <a:ln/>
        </p:spPr>
        <p:txBody>
          <a:bodyPr/>
          <a:lstStyle>
            <a:lvl1pPr>
              <a:defRPr/>
            </a:lvl1pPr>
          </a:lstStyle>
          <a:p>
            <a:pPr>
              <a:defRPr/>
            </a:pPr>
            <a:endParaRPr lang="en-US"/>
          </a:p>
        </p:txBody>
      </p:sp>
      <p:sp>
        <p:nvSpPr>
          <p:cNvPr id="8" name="Rectangle 5"/>
          <p:cNvSpPr>
            <a:spLocks noGrp="1" noChangeArrowheads="1"/>
          </p:cNvSpPr>
          <p:nvPr>
            <p:ph type="sldNum" idx="11"/>
          </p:nvPr>
        </p:nvSpPr>
        <p:spPr>
          <a:ln/>
        </p:spPr>
        <p:txBody>
          <a:bodyPr/>
          <a:lstStyle>
            <a:lvl1pPr>
              <a:defRPr/>
            </a:lvl1pPr>
          </a:lstStyle>
          <a:p>
            <a:pPr>
              <a:defRPr/>
            </a:pPr>
            <a:fld id="{E7CEB019-9DE1-0F42-AFC3-894F92335FDD}" type="slidenum">
              <a:rPr lang="en-GB"/>
              <a:pPr>
                <a:defRPr/>
              </a:pPr>
              <a:t>‹#›</a:t>
            </a:fld>
            <a:endParaRPr lang="en-GB"/>
          </a:p>
        </p:txBody>
      </p:sp>
    </p:spTree>
    <p:extLst>
      <p:ext uri="{BB962C8B-B14F-4D97-AF65-F5344CB8AC3E}">
        <p14:creationId xmlns:p14="http://schemas.microsoft.com/office/powerpoint/2010/main" val="497993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Rectangle 4"/>
          <p:cNvSpPr>
            <a:spLocks noGrp="1" noChangeArrowheads="1"/>
          </p:cNvSpPr>
          <p:nvPr>
            <p:ph type="ftr" idx="10"/>
          </p:nvPr>
        </p:nvSpPr>
        <p:spPr>
          <a:ln/>
        </p:spPr>
        <p:txBody>
          <a:bodyPr/>
          <a:lstStyle>
            <a:lvl1pPr>
              <a:defRPr/>
            </a:lvl1pPr>
          </a:lstStyle>
          <a:p>
            <a:pPr>
              <a:defRPr/>
            </a:pPr>
            <a:endParaRPr lang="en-US"/>
          </a:p>
        </p:txBody>
      </p:sp>
      <p:sp>
        <p:nvSpPr>
          <p:cNvPr id="4" name="Rectangle 5"/>
          <p:cNvSpPr>
            <a:spLocks noGrp="1" noChangeArrowheads="1"/>
          </p:cNvSpPr>
          <p:nvPr>
            <p:ph type="sldNum" idx="11"/>
          </p:nvPr>
        </p:nvSpPr>
        <p:spPr>
          <a:ln/>
        </p:spPr>
        <p:txBody>
          <a:bodyPr/>
          <a:lstStyle>
            <a:lvl1pPr>
              <a:defRPr/>
            </a:lvl1pPr>
          </a:lstStyle>
          <a:p>
            <a:pPr>
              <a:defRPr/>
            </a:pPr>
            <a:fld id="{3C790879-B32F-0148-A5E3-DEF76E4A0966}" type="slidenum">
              <a:rPr lang="en-GB"/>
              <a:pPr>
                <a:defRPr/>
              </a:pPr>
              <a:t>‹#›</a:t>
            </a:fld>
            <a:endParaRPr lang="en-GB"/>
          </a:p>
        </p:txBody>
      </p:sp>
    </p:spTree>
    <p:extLst>
      <p:ext uri="{BB962C8B-B14F-4D97-AF65-F5344CB8AC3E}">
        <p14:creationId xmlns:p14="http://schemas.microsoft.com/office/powerpoint/2010/main" val="812662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p:cNvSpPr>
            <a:spLocks noGrp="1" noChangeArrowheads="1"/>
          </p:cNvSpPr>
          <p:nvPr>
            <p:ph type="ftr" idx="10"/>
          </p:nvPr>
        </p:nvSpPr>
        <p:spPr>
          <a:ln/>
        </p:spPr>
        <p:txBody>
          <a:bodyPr/>
          <a:lstStyle>
            <a:lvl1pPr>
              <a:defRPr/>
            </a:lvl1pPr>
          </a:lstStyle>
          <a:p>
            <a:pPr>
              <a:defRPr/>
            </a:pPr>
            <a:endParaRPr lang="en-US"/>
          </a:p>
        </p:txBody>
      </p:sp>
      <p:sp>
        <p:nvSpPr>
          <p:cNvPr id="3" name="Rectangle 5"/>
          <p:cNvSpPr>
            <a:spLocks noGrp="1" noChangeArrowheads="1"/>
          </p:cNvSpPr>
          <p:nvPr>
            <p:ph type="sldNum" idx="11"/>
          </p:nvPr>
        </p:nvSpPr>
        <p:spPr>
          <a:ln/>
        </p:spPr>
        <p:txBody>
          <a:bodyPr/>
          <a:lstStyle>
            <a:lvl1pPr>
              <a:defRPr/>
            </a:lvl1pPr>
          </a:lstStyle>
          <a:p>
            <a:pPr>
              <a:defRPr/>
            </a:pPr>
            <a:fld id="{2403BA3C-FC39-804E-8921-01CC77013ED8}" type="slidenum">
              <a:rPr lang="en-GB"/>
              <a:pPr>
                <a:defRPr/>
              </a:pPr>
              <a:t>‹#›</a:t>
            </a:fld>
            <a:endParaRPr lang="en-GB"/>
          </a:p>
        </p:txBody>
      </p:sp>
    </p:spTree>
    <p:extLst>
      <p:ext uri="{BB962C8B-B14F-4D97-AF65-F5344CB8AC3E}">
        <p14:creationId xmlns:p14="http://schemas.microsoft.com/office/powerpoint/2010/main" val="3452684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127" y="273050"/>
            <a:ext cx="3007953" cy="1162050"/>
          </a:xfrm>
        </p:spPr>
        <p:txBody>
          <a:bodyPr/>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4965" y="273051"/>
            <a:ext cx="511190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127" y="1435101"/>
            <a:ext cx="300795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4"/>
          <p:cNvSpPr>
            <a:spLocks noGrp="1" noChangeArrowheads="1"/>
          </p:cNvSpPr>
          <p:nvPr>
            <p:ph type="ftr" idx="10"/>
          </p:nvPr>
        </p:nvSpPr>
        <p:spPr>
          <a:ln/>
        </p:spPr>
        <p:txBody>
          <a:bodyPr/>
          <a:lstStyle>
            <a:lvl1pPr>
              <a:defRPr/>
            </a:lvl1pPr>
          </a:lstStyle>
          <a:p>
            <a:pPr>
              <a:defRPr/>
            </a:pPr>
            <a:endParaRPr lang="en-US"/>
          </a:p>
        </p:txBody>
      </p:sp>
      <p:sp>
        <p:nvSpPr>
          <p:cNvPr id="6" name="Rectangle 5"/>
          <p:cNvSpPr>
            <a:spLocks noGrp="1" noChangeArrowheads="1"/>
          </p:cNvSpPr>
          <p:nvPr>
            <p:ph type="sldNum" idx="11"/>
          </p:nvPr>
        </p:nvSpPr>
        <p:spPr>
          <a:ln/>
        </p:spPr>
        <p:txBody>
          <a:bodyPr/>
          <a:lstStyle>
            <a:lvl1pPr>
              <a:defRPr/>
            </a:lvl1pPr>
          </a:lstStyle>
          <a:p>
            <a:pPr>
              <a:defRPr/>
            </a:pPr>
            <a:fld id="{B712C87C-F02F-B040-A5DB-F6D6E873FD7C}" type="slidenum">
              <a:rPr lang="en-GB"/>
              <a:pPr>
                <a:defRPr/>
              </a:pPr>
              <a:t>‹#›</a:t>
            </a:fld>
            <a:endParaRPr lang="en-GB"/>
          </a:p>
        </p:txBody>
      </p:sp>
    </p:spTree>
    <p:extLst>
      <p:ext uri="{BB962C8B-B14F-4D97-AF65-F5344CB8AC3E}">
        <p14:creationId xmlns:p14="http://schemas.microsoft.com/office/powerpoint/2010/main" val="889657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1879" y="4800600"/>
            <a:ext cx="5486985" cy="566738"/>
          </a:xfrm>
        </p:spPr>
        <p:txBody>
          <a:bodyPr/>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1879" y="612775"/>
            <a:ext cx="5486985" cy="4114800"/>
          </a:xfrm>
        </p:spPr>
        <p:txBody>
          <a:bodyPr>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791879" y="5367338"/>
            <a:ext cx="548698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4"/>
          <p:cNvSpPr>
            <a:spLocks noGrp="1" noChangeArrowheads="1"/>
          </p:cNvSpPr>
          <p:nvPr>
            <p:ph type="ftr" idx="10"/>
          </p:nvPr>
        </p:nvSpPr>
        <p:spPr>
          <a:ln/>
        </p:spPr>
        <p:txBody>
          <a:bodyPr/>
          <a:lstStyle>
            <a:lvl1pPr>
              <a:defRPr/>
            </a:lvl1pPr>
          </a:lstStyle>
          <a:p>
            <a:pPr>
              <a:defRPr/>
            </a:pPr>
            <a:endParaRPr lang="en-US"/>
          </a:p>
        </p:txBody>
      </p:sp>
      <p:sp>
        <p:nvSpPr>
          <p:cNvPr id="6" name="Rectangle 5"/>
          <p:cNvSpPr>
            <a:spLocks noGrp="1" noChangeArrowheads="1"/>
          </p:cNvSpPr>
          <p:nvPr>
            <p:ph type="sldNum" idx="11"/>
          </p:nvPr>
        </p:nvSpPr>
        <p:spPr>
          <a:ln/>
        </p:spPr>
        <p:txBody>
          <a:bodyPr/>
          <a:lstStyle>
            <a:lvl1pPr>
              <a:defRPr/>
            </a:lvl1pPr>
          </a:lstStyle>
          <a:p>
            <a:pPr>
              <a:defRPr/>
            </a:pPr>
            <a:fld id="{3405D304-793C-F048-95BF-DF12FCE1D8CE}" type="slidenum">
              <a:rPr lang="en-GB"/>
              <a:pPr>
                <a:defRPr/>
              </a:pPr>
              <a:t>‹#›</a:t>
            </a:fld>
            <a:endParaRPr lang="en-GB"/>
          </a:p>
        </p:txBody>
      </p:sp>
    </p:spTree>
    <p:extLst>
      <p:ext uri="{BB962C8B-B14F-4D97-AF65-F5344CB8AC3E}">
        <p14:creationId xmlns:p14="http://schemas.microsoft.com/office/powerpoint/2010/main" val="1629371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p:cNvSpPr>
            <a:spLocks noGrp="1" noChangeArrowheads="1"/>
          </p:cNvSpPr>
          <p:nvPr>
            <p:ph type="ftr"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3AA412BD-B91C-DB4D-8D4B-017DE60A673B}" type="slidenum">
              <a:rPr lang="en-GB"/>
              <a:pPr>
                <a:defRPr/>
              </a:pPr>
              <a:t>‹#›</a:t>
            </a:fld>
            <a:endParaRPr lang="en-GB"/>
          </a:p>
        </p:txBody>
      </p:sp>
    </p:spTree>
    <p:extLst>
      <p:ext uri="{BB962C8B-B14F-4D97-AF65-F5344CB8AC3E}">
        <p14:creationId xmlns:p14="http://schemas.microsoft.com/office/powerpoint/2010/main" val="401734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85479" y="-444500"/>
            <a:ext cx="2150840" cy="6464300"/>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228564" y="-444500"/>
            <a:ext cx="6316261" cy="6464300"/>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p:cNvSpPr>
            <a:spLocks noGrp="1" noChangeArrowheads="1"/>
          </p:cNvSpPr>
          <p:nvPr>
            <p:ph type="ftr"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4A7EA0DD-6C27-7241-AA43-A56EA02E7FB1}" type="slidenum">
              <a:rPr lang="en-GB"/>
              <a:pPr>
                <a:defRPr/>
              </a:pPr>
              <a:t>‹#›</a:t>
            </a:fld>
            <a:endParaRPr lang="en-GB"/>
          </a:p>
        </p:txBody>
      </p:sp>
    </p:spTree>
    <p:extLst>
      <p:ext uri="{BB962C8B-B14F-4D97-AF65-F5344CB8AC3E}">
        <p14:creationId xmlns:p14="http://schemas.microsoft.com/office/powerpoint/2010/main" val="2343936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690" y="2130426"/>
            <a:ext cx="7772620" cy="1470025"/>
          </a:xfrm>
        </p:spPr>
        <p:txBody>
          <a:bodyPr/>
          <a:lstStyle/>
          <a:p>
            <a:r>
              <a:rPr lang="it-IT"/>
              <a:t>Fare clic per modificare lo stile del titolo</a:t>
            </a:r>
          </a:p>
        </p:txBody>
      </p:sp>
      <p:sp>
        <p:nvSpPr>
          <p:cNvPr id="3" name="Sottotitolo 2"/>
          <p:cNvSpPr>
            <a:spLocks noGrp="1"/>
          </p:cNvSpPr>
          <p:nvPr>
            <p:ph type="subTitle" idx="1"/>
          </p:nvPr>
        </p:nvSpPr>
        <p:spPr>
          <a:xfrm>
            <a:off x="1371380" y="3886200"/>
            <a:ext cx="640124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a:t>Fare clic per modificare lo stile del sottotitolo dello schema</a:t>
            </a:r>
          </a:p>
        </p:txBody>
      </p:sp>
    </p:spTree>
    <p:extLst>
      <p:ext uri="{BB962C8B-B14F-4D97-AF65-F5344CB8AC3E}">
        <p14:creationId xmlns:p14="http://schemas.microsoft.com/office/powerpoint/2010/main" val="1466719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7607445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20" y="4406901"/>
            <a:ext cx="7772619"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20" y="2906713"/>
            <a:ext cx="777261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Tree>
    <p:extLst>
      <p:ext uri="{BB962C8B-B14F-4D97-AF65-F5344CB8AC3E}">
        <p14:creationId xmlns:p14="http://schemas.microsoft.com/office/powerpoint/2010/main" val="2027224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127" y="1604964"/>
            <a:ext cx="40438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1595" y="1604964"/>
            <a:ext cx="40438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718933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127" y="274638"/>
            <a:ext cx="8229747"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127" y="1535113"/>
            <a:ext cx="404088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127" y="2174875"/>
            <a:ext cx="404088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4525" y="1535113"/>
            <a:ext cx="404234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4525" y="2174875"/>
            <a:ext cx="404234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402512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Tree>
    <p:extLst>
      <p:ext uri="{BB962C8B-B14F-4D97-AF65-F5344CB8AC3E}">
        <p14:creationId xmlns:p14="http://schemas.microsoft.com/office/powerpoint/2010/main" val="705223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070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127" y="273050"/>
            <a:ext cx="3007953" cy="1162050"/>
          </a:xfrm>
        </p:spPr>
        <p:txBody>
          <a:bodyPr/>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4965" y="273051"/>
            <a:ext cx="511190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127" y="1435101"/>
            <a:ext cx="300795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27554116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1879" y="4800600"/>
            <a:ext cx="5486985" cy="566738"/>
          </a:xfrm>
        </p:spPr>
        <p:txBody>
          <a:bodyPr/>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1879" y="612775"/>
            <a:ext cx="548698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791879" y="5367338"/>
            <a:ext cx="548698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20411949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8471375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8338" y="685800"/>
            <a:ext cx="2057070" cy="5443538"/>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127" y="685800"/>
            <a:ext cx="6030556" cy="54435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9652978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a:xfrm>
            <a:off x="685690" y="685801"/>
            <a:ext cx="7769690" cy="2665413"/>
          </a:xfrm>
        </p:spPr>
        <p:txBody>
          <a:bodyPr/>
          <a:lstStyle/>
          <a:p>
            <a:r>
              <a:rPr lang="it-IT"/>
              <a:t>Fare clic per modificare lo stile del titolo</a:t>
            </a:r>
          </a:p>
        </p:txBody>
      </p:sp>
    </p:spTree>
    <p:extLst>
      <p:ext uri="{BB962C8B-B14F-4D97-AF65-F5344CB8AC3E}">
        <p14:creationId xmlns:p14="http://schemas.microsoft.com/office/powerpoint/2010/main" val="3241147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228600" y="-444500"/>
            <a:ext cx="8607425" cy="1433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b" anchorCtr="0" compatLnSpc="1">
            <a:prstTxWarp prst="textNoShape">
              <a:avLst/>
            </a:prstTxWarp>
          </a:bodyPr>
          <a:lstStyle/>
          <a:p>
            <a:pPr lvl="0"/>
            <a:r>
              <a:rPr lang="en-GB"/>
              <a:t>Click to edit Master title style</a:t>
            </a:r>
          </a:p>
        </p:txBody>
      </p:sp>
      <p:sp>
        <p:nvSpPr>
          <p:cNvPr id="1028" name="Rectangle 3"/>
          <p:cNvSpPr>
            <a:spLocks noGrp="1" noChangeArrowheads="1"/>
          </p:cNvSpPr>
          <p:nvPr>
            <p:ph type="body" idx="1"/>
          </p:nvPr>
        </p:nvSpPr>
        <p:spPr bwMode="auto">
          <a:xfrm>
            <a:off x="685800" y="1295400"/>
            <a:ext cx="8150225" cy="472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Rectangle 4"/>
          <p:cNvSpPr>
            <a:spLocks noGrp="1" noChangeArrowheads="1"/>
          </p:cNvSpPr>
          <p:nvPr>
            <p:ph type="ftr"/>
          </p:nvPr>
        </p:nvSpPr>
        <p:spPr bwMode="auto">
          <a:xfrm>
            <a:off x="3124200" y="6530975"/>
            <a:ext cx="2892425" cy="2778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ctr">
              <a:lnSpc>
                <a:spcPct val="100000"/>
              </a:lnSpc>
              <a:buFont typeface="Lucida Sans Unicode" charset="0"/>
              <a:buNone/>
              <a:defRPr sz="1200">
                <a:solidFill>
                  <a:srgbClr val="000000"/>
                </a:solidFill>
                <a:latin typeface="Lucida Sans Unicode" charset="0"/>
                <a:ea typeface="Lucida Sans Unicode" charset="0"/>
                <a:cs typeface="Lucida Sans Unicode" charset="0"/>
              </a:defRPr>
            </a:lvl1pPr>
          </a:lstStyle>
          <a:p>
            <a:pPr>
              <a:defRPr/>
            </a:pPr>
            <a:endParaRPr lang="en-US"/>
          </a:p>
        </p:txBody>
      </p:sp>
      <p:sp>
        <p:nvSpPr>
          <p:cNvPr id="1029" name="Rectangle 5"/>
          <p:cNvSpPr>
            <a:spLocks noGrp="1" noChangeArrowheads="1"/>
          </p:cNvSpPr>
          <p:nvPr>
            <p:ph type="sldNum"/>
          </p:nvPr>
        </p:nvSpPr>
        <p:spPr bwMode="auto">
          <a:xfrm>
            <a:off x="7161213" y="6530975"/>
            <a:ext cx="1903412" cy="2778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a:lnSpc>
                <a:spcPct val="100000"/>
              </a:lnSpc>
              <a:buFont typeface="Lucida Sans Unicode" charset="0"/>
              <a:buNone/>
              <a:defRPr sz="1200">
                <a:solidFill>
                  <a:srgbClr val="000000"/>
                </a:solidFill>
                <a:latin typeface="Lucida Sans Unicode" charset="0"/>
                <a:cs typeface="Lucida Sans Unicode" charset="0"/>
              </a:defRPr>
            </a:lvl1pPr>
          </a:lstStyle>
          <a:p>
            <a:pPr>
              <a:defRPr/>
            </a:pPr>
            <a:fld id="{EEF98ACF-A627-3447-BC09-E5A6F3EFA1E1}" type="slidenum">
              <a:rPr lang="en-GB"/>
              <a:pPr>
                <a:defRPr/>
              </a:pPr>
              <a:t>‹#›</a:t>
            </a:fld>
            <a:endParaRPr lang="en-GB"/>
          </a:p>
        </p:txBody>
      </p:sp>
      <p:sp>
        <p:nvSpPr>
          <p:cNvPr id="1031" name="Line 6"/>
          <p:cNvSpPr>
            <a:spLocks noChangeShapeType="1"/>
          </p:cNvSpPr>
          <p:nvPr/>
        </p:nvSpPr>
        <p:spPr bwMode="auto">
          <a:xfrm flipH="1">
            <a:off x="303213" y="990600"/>
            <a:ext cx="8840787" cy="1588"/>
          </a:xfrm>
          <a:prstGeom prst="line">
            <a:avLst/>
          </a:prstGeom>
          <a:noFill/>
          <a:ln w="38160">
            <a:solidFill>
              <a:srgbClr val="FF6600"/>
            </a:solidFill>
            <a:miter lim="800000"/>
            <a:headEnd/>
            <a:tailEnd/>
          </a:ln>
          <a:extLst>
            <a:ext uri="{909E8E84-426E-40dd-AFC4-6F175D3DCCD1}">
              <a14:hiddenFill xmlns:a14="http://schemas.microsoft.com/office/drawing/2010/main" xmlns="">
                <a:noFill/>
              </a14:hiddenFill>
            </a:ext>
          </a:extLst>
        </p:spPr>
        <p:txBody>
          <a:bodyPr/>
          <a:lstStyle/>
          <a:p>
            <a:endParaRPr lang="en-US"/>
          </a:p>
        </p:txBody>
      </p:sp>
      <p:sp>
        <p:nvSpPr>
          <p:cNvPr id="1032" name="Line 7"/>
          <p:cNvSpPr>
            <a:spLocks noChangeShapeType="1"/>
          </p:cNvSpPr>
          <p:nvPr/>
        </p:nvSpPr>
        <p:spPr bwMode="auto">
          <a:xfrm flipH="1">
            <a:off x="684213" y="6477000"/>
            <a:ext cx="8459787" cy="1588"/>
          </a:xfrm>
          <a:prstGeom prst="line">
            <a:avLst/>
          </a:prstGeom>
          <a:noFill/>
          <a:ln w="38160">
            <a:solidFill>
              <a:srgbClr val="FF6600"/>
            </a:solidFill>
            <a:miter lim="800000"/>
            <a:headEnd/>
            <a:tailEnd/>
          </a:ln>
          <a:extLst>
            <a:ext uri="{909E8E84-426E-40dd-AFC4-6F175D3DCCD1}">
              <a14:hiddenFill xmlns:a14="http://schemas.microsoft.com/office/drawing/2010/main" xmlns="">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mj-lt"/>
          <a:ea typeface="ＭＳ Ｐゴシック" charset="0"/>
          <a:cs typeface="+mj-cs"/>
        </a:defRPr>
      </a:lvl1pPr>
      <a:lvl2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Lucida Sans Unicode" pitchFamily="32" charset="0"/>
          <a:ea typeface="ＭＳ Ｐゴシック" charset="0"/>
          <a:cs typeface="Lucida Sans Unicode" pitchFamily="32" charset="0"/>
        </a:defRPr>
      </a:lvl2pPr>
      <a:lvl3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Lucida Sans Unicode" pitchFamily="32" charset="0"/>
          <a:ea typeface="ＭＳ Ｐゴシック" charset="0"/>
          <a:cs typeface="Lucida Sans Unicode" pitchFamily="32" charset="0"/>
        </a:defRPr>
      </a:lvl3pPr>
      <a:lvl4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Lucida Sans Unicode" pitchFamily="32" charset="0"/>
          <a:ea typeface="ＭＳ Ｐゴシック" charset="0"/>
          <a:cs typeface="Lucida Sans Unicode" pitchFamily="32" charset="0"/>
        </a:defRPr>
      </a:lvl4pPr>
      <a:lvl5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Lucida Sans Unicode" pitchFamily="32" charset="0"/>
          <a:ea typeface="ＭＳ Ｐゴシック" charset="0"/>
          <a:cs typeface="Lucida Sans Unicode" pitchFamily="32" charset="0"/>
        </a:defRPr>
      </a:lvl5pPr>
      <a:lvl6pPr marL="457200" algn="l" defTabSz="457200" rtl="0" fontAlgn="base">
        <a:lnSpc>
          <a:spcPct val="101000"/>
        </a:lnSpc>
        <a:spcBef>
          <a:spcPct val="0"/>
        </a:spcBef>
        <a:spcAft>
          <a:spcPct val="0"/>
        </a:spcAft>
        <a:buClr>
          <a:srgbClr val="000000"/>
        </a:buClr>
        <a:buSzPct val="100000"/>
        <a:buFont typeface="Lucida Sans Unicode" pitchFamily="32" charset="0"/>
        <a:defRPr sz="4400">
          <a:solidFill>
            <a:srgbClr val="000000"/>
          </a:solidFill>
          <a:latin typeface="Lucida Sans Unicode" pitchFamily="32" charset="0"/>
          <a:cs typeface="Lucida Sans Unicode" pitchFamily="32" charset="0"/>
        </a:defRPr>
      </a:lvl6pPr>
      <a:lvl7pPr marL="914400" algn="l" defTabSz="457200" rtl="0" fontAlgn="base">
        <a:lnSpc>
          <a:spcPct val="101000"/>
        </a:lnSpc>
        <a:spcBef>
          <a:spcPct val="0"/>
        </a:spcBef>
        <a:spcAft>
          <a:spcPct val="0"/>
        </a:spcAft>
        <a:buClr>
          <a:srgbClr val="000000"/>
        </a:buClr>
        <a:buSzPct val="100000"/>
        <a:buFont typeface="Lucida Sans Unicode" pitchFamily="32" charset="0"/>
        <a:defRPr sz="4400">
          <a:solidFill>
            <a:srgbClr val="000000"/>
          </a:solidFill>
          <a:latin typeface="Lucida Sans Unicode" pitchFamily="32" charset="0"/>
          <a:cs typeface="Lucida Sans Unicode" pitchFamily="32" charset="0"/>
        </a:defRPr>
      </a:lvl7pPr>
      <a:lvl8pPr marL="1371600" algn="l" defTabSz="457200" rtl="0" fontAlgn="base">
        <a:lnSpc>
          <a:spcPct val="101000"/>
        </a:lnSpc>
        <a:spcBef>
          <a:spcPct val="0"/>
        </a:spcBef>
        <a:spcAft>
          <a:spcPct val="0"/>
        </a:spcAft>
        <a:buClr>
          <a:srgbClr val="000000"/>
        </a:buClr>
        <a:buSzPct val="100000"/>
        <a:buFont typeface="Lucida Sans Unicode" pitchFamily="32" charset="0"/>
        <a:defRPr sz="4400">
          <a:solidFill>
            <a:srgbClr val="000000"/>
          </a:solidFill>
          <a:latin typeface="Lucida Sans Unicode" pitchFamily="32" charset="0"/>
          <a:cs typeface="Lucida Sans Unicode" pitchFamily="32" charset="0"/>
        </a:defRPr>
      </a:lvl8pPr>
      <a:lvl9pPr marL="1828800" algn="l" defTabSz="457200" rtl="0" fontAlgn="base">
        <a:lnSpc>
          <a:spcPct val="101000"/>
        </a:lnSpc>
        <a:spcBef>
          <a:spcPct val="0"/>
        </a:spcBef>
        <a:spcAft>
          <a:spcPct val="0"/>
        </a:spcAft>
        <a:buClr>
          <a:srgbClr val="000000"/>
        </a:buClr>
        <a:buSzPct val="100000"/>
        <a:buFont typeface="Lucida Sans Unicode" pitchFamily="32" charset="0"/>
        <a:defRPr sz="4400">
          <a:solidFill>
            <a:srgbClr val="000000"/>
          </a:solidFill>
          <a:latin typeface="Lucida Sans Unicode" pitchFamily="32" charset="0"/>
          <a:cs typeface="Lucida Sans Unicode" pitchFamily="32" charset="0"/>
        </a:defRPr>
      </a:lvl9pPr>
    </p:titleStyle>
    <p:bodyStyle>
      <a:lvl1pPr marL="341313" indent="-341313" algn="l" defTabSz="457200" rtl="0" eaLnBrk="0" fontAlgn="base" hangingPunct="0">
        <a:lnSpc>
          <a:spcPct val="101000"/>
        </a:lnSpc>
        <a:spcBef>
          <a:spcPts val="800"/>
        </a:spcBef>
        <a:spcAft>
          <a:spcPct val="0"/>
        </a:spcAft>
        <a:buClr>
          <a:srgbClr val="000000"/>
        </a:buClr>
        <a:buSzPct val="100000"/>
        <a:buFont typeface="Wingdings" charset="0"/>
        <a:buChar char=""/>
        <a:defRPr sz="3200">
          <a:solidFill>
            <a:srgbClr val="000000"/>
          </a:solidFill>
          <a:latin typeface="+mn-lt"/>
          <a:ea typeface="ＭＳ Ｐゴシック" charset="0"/>
          <a:cs typeface="+mn-cs"/>
        </a:defRPr>
      </a:lvl1pPr>
      <a:lvl2pPr marL="741363" indent="-284163" algn="l" defTabSz="457200" rtl="0" eaLnBrk="0" fontAlgn="base" hangingPunct="0">
        <a:lnSpc>
          <a:spcPct val="101000"/>
        </a:lnSpc>
        <a:spcBef>
          <a:spcPts val="700"/>
        </a:spcBef>
        <a:spcAft>
          <a:spcPct val="0"/>
        </a:spcAft>
        <a:buClr>
          <a:srgbClr val="000000"/>
        </a:buClr>
        <a:buSzPct val="80000"/>
        <a:buFont typeface="Symbol" charset="0"/>
        <a:buChar char=""/>
        <a:defRPr sz="2800">
          <a:solidFill>
            <a:srgbClr val="000000"/>
          </a:solidFill>
          <a:latin typeface="+mn-lt"/>
          <a:ea typeface="Lucida Sans Unicode" pitchFamily="-110" charset="-52"/>
          <a:cs typeface="+mn-cs"/>
        </a:defRPr>
      </a:lvl2pPr>
      <a:lvl3pPr marL="1143000" indent="-228600" algn="l" defTabSz="457200" rtl="0" eaLnBrk="0" fontAlgn="base" hangingPunct="0">
        <a:lnSpc>
          <a:spcPct val="101000"/>
        </a:lnSpc>
        <a:spcBef>
          <a:spcPts val="600"/>
        </a:spcBef>
        <a:spcAft>
          <a:spcPct val="0"/>
        </a:spcAft>
        <a:buClr>
          <a:srgbClr val="000000"/>
        </a:buClr>
        <a:buSzPct val="100000"/>
        <a:buFont typeface="Symbol" charset="0"/>
        <a:buChar char=""/>
        <a:defRPr sz="2400">
          <a:solidFill>
            <a:srgbClr val="000000"/>
          </a:solidFill>
          <a:latin typeface="+mn-lt"/>
          <a:ea typeface="Lucida Sans Unicode" pitchFamily="-110" charset="-52"/>
          <a:cs typeface="+mn-cs"/>
        </a:defRPr>
      </a:lvl3pPr>
      <a:lvl4pPr marL="16002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4pPr>
      <a:lvl5pPr marL="20574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5pPr>
      <a:lvl6pPr marL="25146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6pPr>
      <a:lvl7pPr marL="29718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7pPr>
      <a:lvl8pPr marL="34290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8pPr>
      <a:lvl9pPr marL="38862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bwMode="auto">
          <a:xfrm>
            <a:off x="685800" y="685800"/>
            <a:ext cx="7769225" cy="2665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b" anchorCtr="0" compatLnSpc="1">
            <a:prstTxWarp prst="textNoShape">
              <a:avLst/>
            </a:prstTxWarp>
          </a:bodyPr>
          <a:lstStyle/>
          <a:p>
            <a:pPr lvl="0"/>
            <a:r>
              <a:rPr lang="en-GB"/>
              <a:t>Click to edit Master title style</a:t>
            </a:r>
          </a:p>
        </p:txBody>
      </p:sp>
      <p:pic>
        <p:nvPicPr>
          <p:cNvPr id="13315" name="Picture 2"/>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765175" y="5715000"/>
            <a:ext cx="869950" cy="869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pic>
      <p:pic>
        <p:nvPicPr>
          <p:cNvPr id="13316" name="Picture 3"/>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1676400" y="5868988"/>
            <a:ext cx="2743200" cy="561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pic>
      <p:sp>
        <p:nvSpPr>
          <p:cNvPr id="13317" name="Line 4"/>
          <p:cNvSpPr>
            <a:spLocks noChangeShapeType="1"/>
          </p:cNvSpPr>
          <p:nvPr/>
        </p:nvSpPr>
        <p:spPr bwMode="auto">
          <a:xfrm>
            <a:off x="685800" y="3429000"/>
            <a:ext cx="7770813" cy="1588"/>
          </a:xfrm>
          <a:prstGeom prst="line">
            <a:avLst/>
          </a:prstGeom>
          <a:noFill/>
          <a:ln w="38160">
            <a:solidFill>
              <a:srgbClr val="FF6600"/>
            </a:solidFill>
            <a:miter lim="800000"/>
            <a:headEnd/>
            <a:tailEnd/>
          </a:ln>
          <a:extLst>
            <a:ext uri="{909E8E84-426E-40dd-AFC4-6F175D3DCCD1}">
              <a14:hiddenFill xmlns:a14="http://schemas.microsoft.com/office/drawing/2010/main" xmlns="">
                <a:noFill/>
              </a14:hiddenFill>
            </a:ext>
          </a:extLst>
        </p:spPr>
        <p:txBody>
          <a:bodyPr/>
          <a:lstStyle/>
          <a:p>
            <a:endParaRPr lang="en-US"/>
          </a:p>
        </p:txBody>
      </p:sp>
      <p:sp>
        <p:nvSpPr>
          <p:cNvPr id="13318" name="Rectangle 5"/>
          <p:cNvSpPr>
            <a:spLocks noGrp="1" noChangeArrowheads="1"/>
          </p:cNvSpPr>
          <p:nvPr>
            <p:ph type="body" idx="1"/>
          </p:nvPr>
        </p:nvSpPr>
        <p:spPr bwMode="auto">
          <a:xfrm>
            <a:off x="457200" y="1604963"/>
            <a:ext cx="8228013" cy="4524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mj-lt"/>
          <a:ea typeface="ＭＳ Ｐゴシック" charset="0"/>
          <a:cs typeface="+mj-cs"/>
        </a:defRPr>
      </a:lvl1pPr>
      <a:lvl2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Lucida Sans Unicode" pitchFamily="32" charset="0"/>
          <a:ea typeface="ＭＳ Ｐゴシック" charset="0"/>
          <a:cs typeface="Lucida Sans Unicode" pitchFamily="32" charset="0"/>
        </a:defRPr>
      </a:lvl2pPr>
      <a:lvl3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Lucida Sans Unicode" pitchFamily="32" charset="0"/>
          <a:ea typeface="ＭＳ Ｐゴシック" charset="0"/>
          <a:cs typeface="Lucida Sans Unicode" pitchFamily="32" charset="0"/>
        </a:defRPr>
      </a:lvl3pPr>
      <a:lvl4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Lucida Sans Unicode" pitchFamily="32" charset="0"/>
          <a:ea typeface="ＭＳ Ｐゴシック" charset="0"/>
          <a:cs typeface="Lucida Sans Unicode" pitchFamily="32" charset="0"/>
        </a:defRPr>
      </a:lvl4pPr>
      <a:lvl5pPr algn="l" defTabSz="457200" rtl="0" eaLnBrk="0" fontAlgn="base" hangingPunct="0">
        <a:lnSpc>
          <a:spcPct val="101000"/>
        </a:lnSpc>
        <a:spcBef>
          <a:spcPct val="0"/>
        </a:spcBef>
        <a:spcAft>
          <a:spcPct val="0"/>
        </a:spcAft>
        <a:buClr>
          <a:srgbClr val="000000"/>
        </a:buClr>
        <a:buSzPct val="100000"/>
        <a:buFont typeface="Lucida Sans Unicode" charset="0"/>
        <a:defRPr sz="4400">
          <a:solidFill>
            <a:srgbClr val="000000"/>
          </a:solidFill>
          <a:latin typeface="Lucida Sans Unicode" pitchFamily="32" charset="0"/>
          <a:ea typeface="ＭＳ Ｐゴシック" charset="0"/>
          <a:cs typeface="Lucida Sans Unicode" pitchFamily="32" charset="0"/>
        </a:defRPr>
      </a:lvl5pPr>
      <a:lvl6pPr marL="457200" algn="l" defTabSz="457200" rtl="0" fontAlgn="base">
        <a:lnSpc>
          <a:spcPct val="101000"/>
        </a:lnSpc>
        <a:spcBef>
          <a:spcPct val="0"/>
        </a:spcBef>
        <a:spcAft>
          <a:spcPct val="0"/>
        </a:spcAft>
        <a:buClr>
          <a:srgbClr val="000000"/>
        </a:buClr>
        <a:buSzPct val="100000"/>
        <a:buFont typeface="Lucida Sans Unicode" pitchFamily="32" charset="0"/>
        <a:defRPr sz="4400">
          <a:solidFill>
            <a:srgbClr val="000000"/>
          </a:solidFill>
          <a:latin typeface="Lucida Sans Unicode" pitchFamily="32" charset="0"/>
          <a:cs typeface="Lucida Sans Unicode" pitchFamily="32" charset="0"/>
        </a:defRPr>
      </a:lvl6pPr>
      <a:lvl7pPr marL="914400" algn="l" defTabSz="457200" rtl="0" fontAlgn="base">
        <a:lnSpc>
          <a:spcPct val="101000"/>
        </a:lnSpc>
        <a:spcBef>
          <a:spcPct val="0"/>
        </a:spcBef>
        <a:spcAft>
          <a:spcPct val="0"/>
        </a:spcAft>
        <a:buClr>
          <a:srgbClr val="000000"/>
        </a:buClr>
        <a:buSzPct val="100000"/>
        <a:buFont typeface="Lucida Sans Unicode" pitchFamily="32" charset="0"/>
        <a:defRPr sz="4400">
          <a:solidFill>
            <a:srgbClr val="000000"/>
          </a:solidFill>
          <a:latin typeface="Lucida Sans Unicode" pitchFamily="32" charset="0"/>
          <a:cs typeface="Lucida Sans Unicode" pitchFamily="32" charset="0"/>
        </a:defRPr>
      </a:lvl7pPr>
      <a:lvl8pPr marL="1371600" algn="l" defTabSz="457200" rtl="0" fontAlgn="base">
        <a:lnSpc>
          <a:spcPct val="101000"/>
        </a:lnSpc>
        <a:spcBef>
          <a:spcPct val="0"/>
        </a:spcBef>
        <a:spcAft>
          <a:spcPct val="0"/>
        </a:spcAft>
        <a:buClr>
          <a:srgbClr val="000000"/>
        </a:buClr>
        <a:buSzPct val="100000"/>
        <a:buFont typeface="Lucida Sans Unicode" pitchFamily="32" charset="0"/>
        <a:defRPr sz="4400">
          <a:solidFill>
            <a:srgbClr val="000000"/>
          </a:solidFill>
          <a:latin typeface="Lucida Sans Unicode" pitchFamily="32" charset="0"/>
          <a:cs typeface="Lucida Sans Unicode" pitchFamily="32" charset="0"/>
        </a:defRPr>
      </a:lvl8pPr>
      <a:lvl9pPr marL="1828800" algn="l" defTabSz="457200" rtl="0" fontAlgn="base">
        <a:lnSpc>
          <a:spcPct val="101000"/>
        </a:lnSpc>
        <a:spcBef>
          <a:spcPct val="0"/>
        </a:spcBef>
        <a:spcAft>
          <a:spcPct val="0"/>
        </a:spcAft>
        <a:buClr>
          <a:srgbClr val="000000"/>
        </a:buClr>
        <a:buSzPct val="100000"/>
        <a:buFont typeface="Lucida Sans Unicode" pitchFamily="32" charset="0"/>
        <a:defRPr sz="4400">
          <a:solidFill>
            <a:srgbClr val="000000"/>
          </a:solidFill>
          <a:latin typeface="Lucida Sans Unicode" pitchFamily="32" charset="0"/>
          <a:cs typeface="Lucida Sans Unicode" pitchFamily="32" charset="0"/>
        </a:defRPr>
      </a:lvl9pPr>
    </p:titleStyle>
    <p:bodyStyle>
      <a:lvl1pPr marL="341313" indent="-341313" algn="l" defTabSz="457200" rtl="0" eaLnBrk="0" fontAlgn="base" hangingPunct="0">
        <a:lnSpc>
          <a:spcPct val="101000"/>
        </a:lnSpc>
        <a:spcBef>
          <a:spcPts val="800"/>
        </a:spcBef>
        <a:spcAft>
          <a:spcPct val="0"/>
        </a:spcAft>
        <a:buClr>
          <a:srgbClr val="000000"/>
        </a:buClr>
        <a:buSzPct val="100000"/>
        <a:buFont typeface="Wingdings" charset="0"/>
        <a:buChar char=""/>
        <a:defRPr sz="3200">
          <a:solidFill>
            <a:srgbClr val="000000"/>
          </a:solidFill>
          <a:latin typeface="+mn-lt"/>
          <a:ea typeface="ＭＳ Ｐゴシック" charset="0"/>
          <a:cs typeface="+mn-cs"/>
        </a:defRPr>
      </a:lvl1pPr>
      <a:lvl2pPr marL="741363" indent="-284163" algn="l" defTabSz="457200" rtl="0" eaLnBrk="0" fontAlgn="base" hangingPunct="0">
        <a:lnSpc>
          <a:spcPct val="101000"/>
        </a:lnSpc>
        <a:spcBef>
          <a:spcPts val="700"/>
        </a:spcBef>
        <a:spcAft>
          <a:spcPct val="0"/>
        </a:spcAft>
        <a:buClr>
          <a:srgbClr val="000000"/>
        </a:buClr>
        <a:buSzPct val="80000"/>
        <a:buFont typeface="Symbol" charset="0"/>
        <a:buChar char=""/>
        <a:defRPr sz="2800">
          <a:solidFill>
            <a:srgbClr val="000000"/>
          </a:solidFill>
          <a:latin typeface="+mn-lt"/>
          <a:ea typeface="Lucida Sans Unicode" pitchFamily="-110" charset="-52"/>
          <a:cs typeface="+mn-cs"/>
        </a:defRPr>
      </a:lvl2pPr>
      <a:lvl3pPr marL="1143000" indent="-228600" algn="l" defTabSz="457200" rtl="0" eaLnBrk="0" fontAlgn="base" hangingPunct="0">
        <a:lnSpc>
          <a:spcPct val="101000"/>
        </a:lnSpc>
        <a:spcBef>
          <a:spcPts val="600"/>
        </a:spcBef>
        <a:spcAft>
          <a:spcPct val="0"/>
        </a:spcAft>
        <a:buClr>
          <a:srgbClr val="000000"/>
        </a:buClr>
        <a:buSzPct val="100000"/>
        <a:buFont typeface="Symbol" charset="0"/>
        <a:buChar char=""/>
        <a:defRPr sz="2400">
          <a:solidFill>
            <a:srgbClr val="000000"/>
          </a:solidFill>
          <a:latin typeface="+mn-lt"/>
          <a:ea typeface="Lucida Sans Unicode" pitchFamily="-110" charset="-52"/>
          <a:cs typeface="+mn-cs"/>
        </a:defRPr>
      </a:lvl3pPr>
      <a:lvl4pPr marL="16002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4pPr>
      <a:lvl5pPr marL="20574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5pPr>
      <a:lvl6pPr marL="25146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6pPr>
      <a:lvl7pPr marL="29718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7pPr>
      <a:lvl8pPr marL="34290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8pPr>
      <a:lvl9pPr marL="38862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nc-nd/4.0/" TargetMode="External"/><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hyperlink" Target="https://hibernate.org/orm/what-is-an-orm/"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github.com/steccothal/FlightMast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Grp="1" noChangeArrowheads="1"/>
          </p:cNvSpPr>
          <p:nvPr>
            <p:ph type="title"/>
          </p:nvPr>
        </p:nvSpPr>
        <p:spPr>
          <a:xfrm>
            <a:off x="609600" y="2657377"/>
            <a:ext cx="7772400" cy="771623"/>
          </a:xfrm>
        </p:spPr>
        <p:txBody>
          <a:bodyPr>
            <a:spAutoFit/>
          </a:bodyPr>
          <a:lstStyle/>
          <a:p>
            <a:pPr eaLnBrk="1" hangingPunct="1">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b="1" noProof="0" dirty="0">
                <a:latin typeface="Lucida Sans Unicode" charset="0"/>
                <a:cs typeface="Lucida Sans Unicode" charset="0"/>
              </a:rPr>
              <a:t>Object-Relational Mapping</a:t>
            </a:r>
          </a:p>
        </p:txBody>
      </p:sp>
      <p:sp>
        <p:nvSpPr>
          <p:cNvPr id="28675" name="Text Box 3"/>
          <p:cNvSpPr txBox="1">
            <a:spLocks noChangeArrowheads="1"/>
          </p:cNvSpPr>
          <p:nvPr/>
        </p:nvSpPr>
        <p:spPr bwMode="auto">
          <a:xfrm>
            <a:off x="7383337" y="5765749"/>
            <a:ext cx="1069181" cy="251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5000" rIns="90000" bIns="450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cs typeface="ＭＳ Ｐゴシック"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5pPr>
            <a:lvl6pPr marL="2514600" indent="-228600" eaLnBrk="0" fontAlgn="base" hangingPunct="0">
              <a:lnSpc>
                <a:spcPct val="103000"/>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6pPr>
            <a:lvl7pPr marL="2971800" indent="-228600" eaLnBrk="0" fontAlgn="base" hangingPunct="0">
              <a:lnSpc>
                <a:spcPct val="103000"/>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7pPr>
            <a:lvl8pPr marL="3429000" indent="-228600" eaLnBrk="0" fontAlgn="base" hangingPunct="0">
              <a:lnSpc>
                <a:spcPct val="103000"/>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8pPr>
            <a:lvl9pPr marL="3886200" indent="-228600" eaLnBrk="0" fontAlgn="base" hangingPunct="0">
              <a:lnSpc>
                <a:spcPct val="103000"/>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9pPr>
          </a:lstStyle>
          <a:p>
            <a:pPr algn="r" eaLnBrk="1" hangingPunct="1">
              <a:lnSpc>
                <a:spcPct val="87000"/>
              </a:lnSpc>
            </a:pPr>
            <a:r>
              <a:rPr lang="en-GB" sz="1200">
                <a:solidFill>
                  <a:srgbClr val="000000"/>
                </a:solidFill>
                <a:latin typeface="Tahoma" charset="0"/>
              </a:rPr>
              <a:t>Version 1.1.1</a:t>
            </a:r>
            <a:endParaRPr lang="en-GB" sz="1200" dirty="0">
              <a:solidFill>
                <a:srgbClr val="000000"/>
              </a:solidFill>
              <a:latin typeface="Tahoma" charset="0"/>
            </a:endParaRPr>
          </a:p>
        </p:txBody>
      </p:sp>
      <p:sp>
        <p:nvSpPr>
          <p:cNvPr id="28676" name="Text Box 3"/>
          <p:cNvSpPr txBox="1">
            <a:spLocks noChangeArrowheads="1"/>
          </p:cNvSpPr>
          <p:nvPr/>
        </p:nvSpPr>
        <p:spPr bwMode="auto">
          <a:xfrm>
            <a:off x="5592870" y="6017123"/>
            <a:ext cx="2847552" cy="2426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cs typeface="ＭＳ Ｐゴシック"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5pPr>
            <a:lvl6pPr marL="2514600" indent="-228600" eaLnBrk="0" fontAlgn="base" hangingPunct="0">
              <a:lnSpc>
                <a:spcPct val="103000"/>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6pPr>
            <a:lvl7pPr marL="2971800" indent="-228600" eaLnBrk="0" fontAlgn="base" hangingPunct="0">
              <a:lnSpc>
                <a:spcPct val="103000"/>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7pPr>
            <a:lvl8pPr marL="3429000" indent="-228600" eaLnBrk="0" fontAlgn="base" hangingPunct="0">
              <a:lnSpc>
                <a:spcPct val="103000"/>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8pPr>
            <a:lvl9pPr marL="3886200" indent="-228600" eaLnBrk="0" fontAlgn="base" hangingPunct="0">
              <a:lnSpc>
                <a:spcPct val="103000"/>
              </a:lnSpc>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Lucida Sans Unicode" charset="0"/>
                <a:ea typeface="ＭＳ Ｐゴシック" charset="0"/>
              </a:defRPr>
            </a:lvl9pPr>
          </a:lstStyle>
          <a:p>
            <a:pPr algn="r" eaLnBrk="1" hangingPunct="1"/>
            <a:r>
              <a:rPr lang="en-GB" sz="1000" dirty="0">
                <a:solidFill>
                  <a:srgbClr val="000000"/>
                </a:solidFill>
              </a:rPr>
              <a:t>© Marco </a:t>
            </a:r>
            <a:r>
              <a:rPr lang="en-GB" sz="1000" dirty="0" err="1">
                <a:solidFill>
                  <a:srgbClr val="000000"/>
                </a:solidFill>
              </a:rPr>
              <a:t>Torchiano</a:t>
            </a:r>
            <a:r>
              <a:rPr lang="en-GB" sz="1000" dirty="0">
                <a:solidFill>
                  <a:srgbClr val="000000"/>
                </a:solidFill>
              </a:rPr>
              <a:t>, Stefano Mancini, 2025</a:t>
            </a:r>
          </a:p>
        </p:txBody>
      </p:sp>
      <p:pic>
        <p:nvPicPr>
          <p:cNvPr id="28677" name="Picture 5"/>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19925" y="6310313"/>
            <a:ext cx="358775" cy="358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pic>
      <p:pic>
        <p:nvPicPr>
          <p:cNvPr id="28678" name="Picture 6"/>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523163" y="6308725"/>
            <a:ext cx="360362" cy="360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pic>
      <p:pic>
        <p:nvPicPr>
          <p:cNvPr id="28679" name="Picture 7"/>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029575" y="6308725"/>
            <a:ext cx="358775" cy="358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pic>
      <p:pic>
        <p:nvPicPr>
          <p:cNvPr id="286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5963" y="6297613"/>
            <a:ext cx="1054100" cy="371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pic>
      <p:sp>
        <p:nvSpPr>
          <p:cNvPr id="10" name="Rectangle 2"/>
          <p:cNvSpPr txBox="1">
            <a:spLocks noChangeArrowheads="1"/>
          </p:cNvSpPr>
          <p:nvPr/>
        </p:nvSpPr>
        <p:spPr bwMode="auto">
          <a:xfrm>
            <a:off x="2057400" y="3789040"/>
            <a:ext cx="6400800" cy="1997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0" tIns="0" rIns="0" bIns="0" numCol="1" anchor="ctr" anchorCtr="0" compatLnSpc="1">
            <a:prstTxWarp prst="textNoShape">
              <a:avLst/>
            </a:prstTxWarp>
          </a:bodyPr>
          <a:lstStyle>
            <a:lvl1pPr marL="338138" indent="-338138" algn="l" defTabSz="457200" rtl="0" eaLnBrk="0" fontAlgn="base" hangingPunct="0">
              <a:lnSpc>
                <a:spcPct val="103000"/>
              </a:lnSpc>
              <a:spcBef>
                <a:spcPts val="800"/>
              </a:spcBef>
              <a:spcAft>
                <a:spcPts val="200"/>
              </a:spcAft>
              <a:buClr>
                <a:srgbClr val="000000"/>
              </a:buClr>
              <a:buSzPct val="100000"/>
              <a:buFont typeface="Wingdings" charset="0"/>
              <a:buChar char=""/>
              <a:defRPr sz="3200">
                <a:solidFill>
                  <a:srgbClr val="000000"/>
                </a:solidFill>
                <a:latin typeface="+mn-lt"/>
                <a:ea typeface="ＭＳ Ｐゴシック" charset="0"/>
                <a:cs typeface="+mn-cs"/>
              </a:defRPr>
            </a:lvl1pPr>
            <a:lvl2pPr marL="738188" indent="-280988" algn="l" defTabSz="457200" rtl="0" eaLnBrk="0" fontAlgn="base" hangingPunct="0">
              <a:lnSpc>
                <a:spcPct val="103000"/>
              </a:lnSpc>
              <a:spcBef>
                <a:spcPts val="700"/>
              </a:spcBef>
              <a:spcAft>
                <a:spcPct val="0"/>
              </a:spcAft>
              <a:buClr>
                <a:srgbClr val="000000"/>
              </a:buClr>
              <a:buSzPct val="100000"/>
              <a:buFont typeface="Wingdings" charset="0"/>
              <a:buChar char=""/>
              <a:defRPr sz="2800">
                <a:solidFill>
                  <a:srgbClr val="000000"/>
                </a:solidFill>
                <a:latin typeface="+mn-lt"/>
                <a:ea typeface="Lucida Sans Unicode" charset="-52"/>
                <a:cs typeface="+mn-cs"/>
              </a:defRPr>
            </a:lvl2pPr>
            <a:lvl3pPr marL="1143000" indent="-228600" algn="l" defTabSz="457200" rtl="0" eaLnBrk="0" fontAlgn="base" hangingPunct="0">
              <a:lnSpc>
                <a:spcPct val="103000"/>
              </a:lnSpc>
              <a:spcBef>
                <a:spcPts val="600"/>
              </a:spcBef>
              <a:spcAft>
                <a:spcPct val="0"/>
              </a:spcAft>
              <a:buClr>
                <a:srgbClr val="000000"/>
              </a:buClr>
              <a:buSzPct val="100000"/>
              <a:buFont typeface="Lucida Sans Unicode" charset="0"/>
              <a:buChar char="–"/>
              <a:defRPr sz="2400">
                <a:solidFill>
                  <a:srgbClr val="000000"/>
                </a:solidFill>
                <a:latin typeface="+mn-lt"/>
                <a:ea typeface="Lucida Sans Unicode" charset="-52"/>
                <a:cs typeface="+mn-cs"/>
              </a:defRPr>
            </a:lvl3pPr>
            <a:lvl4pPr marL="1600200" indent="-228600" algn="l" defTabSz="457200" rtl="0" eaLnBrk="0" fontAlgn="base" hangingPunct="0">
              <a:lnSpc>
                <a:spcPct val="103000"/>
              </a:lnSpc>
              <a:spcBef>
                <a:spcPts val="500"/>
              </a:spcBef>
              <a:spcAft>
                <a:spcPct val="0"/>
              </a:spcAft>
              <a:buClr>
                <a:srgbClr val="000000"/>
              </a:buClr>
              <a:buSzPct val="100000"/>
              <a:buFont typeface="Lucida Sans Unicode" charset="0"/>
              <a:buChar char="–"/>
              <a:defRPr sz="2000">
                <a:solidFill>
                  <a:srgbClr val="000000"/>
                </a:solidFill>
                <a:latin typeface="+mn-lt"/>
                <a:ea typeface="Lucida Sans Unicode" charset="-52"/>
                <a:cs typeface="+mn-cs"/>
              </a:defRPr>
            </a:lvl4pPr>
            <a:lvl5pPr marL="2057400" indent="-228600" algn="l" defTabSz="457200" rtl="0" eaLnBrk="0" fontAlgn="base" hangingPunct="0">
              <a:lnSpc>
                <a:spcPct val="103000"/>
              </a:lnSpc>
              <a:spcBef>
                <a:spcPts val="500"/>
              </a:spcBef>
              <a:spcAft>
                <a:spcPct val="0"/>
              </a:spcAft>
              <a:buClr>
                <a:srgbClr val="000000"/>
              </a:buClr>
              <a:buSzPct val="100000"/>
              <a:buFont typeface="Lucida Sans Unicode" charset="0"/>
              <a:buChar char="–"/>
              <a:defRPr sz="2000">
                <a:solidFill>
                  <a:srgbClr val="000000"/>
                </a:solidFill>
                <a:latin typeface="+mn-lt"/>
                <a:ea typeface="Lucida Sans Unicode" charset="-52"/>
                <a:cs typeface="+mn-cs"/>
              </a:defRPr>
            </a:lvl5pPr>
            <a:lvl6pPr marL="2514600" indent="-228600" algn="l" defTabSz="457200" rtl="0" fontAlgn="base">
              <a:lnSpc>
                <a:spcPct val="103000"/>
              </a:lnSpc>
              <a:spcBef>
                <a:spcPts val="500"/>
              </a:spcBef>
              <a:spcAft>
                <a:spcPct val="0"/>
              </a:spcAft>
              <a:buClr>
                <a:srgbClr val="000000"/>
              </a:buClr>
              <a:buSzPct val="100000"/>
              <a:buFont typeface="Lucida Sans Unicode" pitchFamily="34" charset="0"/>
              <a:buChar char="–"/>
              <a:defRPr sz="2000">
                <a:solidFill>
                  <a:srgbClr val="000000"/>
                </a:solidFill>
                <a:latin typeface="+mn-lt"/>
                <a:cs typeface="+mn-cs"/>
              </a:defRPr>
            </a:lvl6pPr>
            <a:lvl7pPr marL="2971800" indent="-228600" algn="l" defTabSz="457200" rtl="0" fontAlgn="base">
              <a:lnSpc>
                <a:spcPct val="103000"/>
              </a:lnSpc>
              <a:spcBef>
                <a:spcPts val="500"/>
              </a:spcBef>
              <a:spcAft>
                <a:spcPct val="0"/>
              </a:spcAft>
              <a:buClr>
                <a:srgbClr val="000000"/>
              </a:buClr>
              <a:buSzPct val="100000"/>
              <a:buFont typeface="Lucida Sans Unicode" pitchFamily="34" charset="0"/>
              <a:buChar char="–"/>
              <a:defRPr sz="2000">
                <a:solidFill>
                  <a:srgbClr val="000000"/>
                </a:solidFill>
                <a:latin typeface="+mn-lt"/>
                <a:cs typeface="+mn-cs"/>
              </a:defRPr>
            </a:lvl7pPr>
            <a:lvl8pPr marL="3429000" indent="-228600" algn="l" defTabSz="457200" rtl="0" fontAlgn="base">
              <a:lnSpc>
                <a:spcPct val="103000"/>
              </a:lnSpc>
              <a:spcBef>
                <a:spcPts val="500"/>
              </a:spcBef>
              <a:spcAft>
                <a:spcPct val="0"/>
              </a:spcAft>
              <a:buClr>
                <a:srgbClr val="000000"/>
              </a:buClr>
              <a:buSzPct val="100000"/>
              <a:buFont typeface="Lucida Sans Unicode" pitchFamily="34" charset="0"/>
              <a:buChar char="–"/>
              <a:defRPr sz="2000">
                <a:solidFill>
                  <a:srgbClr val="000000"/>
                </a:solidFill>
                <a:latin typeface="+mn-lt"/>
                <a:cs typeface="+mn-cs"/>
              </a:defRPr>
            </a:lvl8pPr>
            <a:lvl9pPr marL="3886200" indent="-228600" algn="l" defTabSz="457200" rtl="0" fontAlgn="base">
              <a:lnSpc>
                <a:spcPct val="103000"/>
              </a:lnSpc>
              <a:spcBef>
                <a:spcPts val="500"/>
              </a:spcBef>
              <a:spcAft>
                <a:spcPct val="0"/>
              </a:spcAft>
              <a:buClr>
                <a:srgbClr val="000000"/>
              </a:buClr>
              <a:buSzPct val="100000"/>
              <a:buFont typeface="Lucida Sans Unicode" pitchFamily="34" charset="0"/>
              <a:buChar char="–"/>
              <a:defRPr sz="2000">
                <a:solidFill>
                  <a:srgbClr val="000000"/>
                </a:solidFill>
                <a:latin typeface="+mn-lt"/>
                <a:cs typeface="+mn-cs"/>
              </a:defRPr>
            </a:lvl9pPr>
          </a:lstStyle>
          <a:p>
            <a:pPr marL="0" indent="0" algn="r" eaLnBrk="1" hangingPunct="1">
              <a:buFont typeface="Wingdings" charset="0"/>
              <a:buNone/>
            </a:pPr>
            <a:r>
              <a:rPr lang="it-IT" dirty="0">
                <a:latin typeface="Lucida Sans Unicode" charset="0"/>
              </a:rPr>
              <a:t>Object </a:t>
            </a:r>
            <a:r>
              <a:rPr lang="it-IT" dirty="0" err="1">
                <a:latin typeface="Lucida Sans Unicode" charset="0"/>
              </a:rPr>
              <a:t>Oriented</a:t>
            </a:r>
            <a:r>
              <a:rPr lang="it-IT" dirty="0">
                <a:latin typeface="Lucida Sans Unicode" charset="0"/>
              </a:rPr>
              <a:t> Programming</a:t>
            </a:r>
          </a:p>
          <a:p>
            <a:pPr marL="0" indent="0" algn="r" eaLnBrk="1" hangingPunct="1">
              <a:buFont typeface="Wingdings" charset="0"/>
              <a:buNone/>
            </a:pPr>
            <a:endParaRPr lang="it-IT" dirty="0">
              <a:latin typeface="Lucida Sans Unicode" charset="0"/>
            </a:endParaRPr>
          </a:p>
          <a:p>
            <a:pPr marL="0" indent="0" algn="r" eaLnBrk="1" hangingPunct="1">
              <a:buFont typeface="Wingdings" charset="0"/>
              <a:buNone/>
            </a:pPr>
            <a:endParaRPr lang="it-IT" dirty="0">
              <a:latin typeface="Lucida Sans Unicode" charset="0"/>
              <a:cs typeface="Lucida Sans Unicode" charset="0"/>
            </a:endParaRPr>
          </a:p>
        </p:txBody>
      </p:sp>
    </p:spTree>
    <p:extLst>
      <p:ext uri="{BB962C8B-B14F-4D97-AF65-F5344CB8AC3E}">
        <p14:creationId xmlns:p14="http://schemas.microsoft.com/office/powerpoint/2010/main" val="368592915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9314" name="Rectangle 1"/>
          <p:cNvSpPr>
            <a:spLocks noGrp="1" noChangeArrowheads="1"/>
          </p:cNvSpPr>
          <p:nvPr>
            <p:ph type="title" idx="4294967295"/>
          </p:nvPr>
        </p:nvSpPr>
        <p:spPr/>
        <p:txBody>
          <a:bodyPr/>
          <a:lstStyle/>
          <a:p>
            <a:pPr eaLnBrk="1" hangingPunct="1">
              <a:tabLst>
                <a:tab pos="0" algn="l"/>
                <a:tab pos="455470" algn="l"/>
                <a:tab pos="912529" algn="l"/>
                <a:tab pos="1369587" algn="l"/>
                <a:tab pos="1826645" algn="l"/>
                <a:tab pos="2283702" algn="l"/>
                <a:tab pos="2740761" algn="l"/>
                <a:tab pos="3197820" algn="l"/>
                <a:tab pos="3654876" algn="l"/>
                <a:tab pos="4110347" algn="l"/>
                <a:tab pos="4568991" algn="l"/>
                <a:tab pos="5024462" algn="l"/>
                <a:tab pos="5483107" algn="l"/>
                <a:tab pos="5938577" algn="l"/>
                <a:tab pos="6397223" algn="l"/>
                <a:tab pos="6852693" algn="l"/>
                <a:tab pos="7309751" algn="l"/>
                <a:tab pos="7766809" algn="l"/>
                <a:tab pos="8223867" algn="l"/>
                <a:tab pos="8680925" algn="l"/>
                <a:tab pos="9137981" algn="l"/>
              </a:tabLst>
            </a:pPr>
            <a:r>
              <a:rPr lang="en-GB" noProof="0" dirty="0">
                <a:latin typeface="Lucida Sans Unicode" charset="0"/>
                <a:cs typeface="ＭＳ Ｐゴシック" charset="0"/>
              </a:rPr>
              <a:t>Licensing Note</a:t>
            </a:r>
          </a:p>
        </p:txBody>
      </p:sp>
      <p:sp>
        <p:nvSpPr>
          <p:cNvPr id="166915" name="Rectangle 2"/>
          <p:cNvSpPr>
            <a:spLocks noGrp="1" noChangeArrowheads="1"/>
          </p:cNvSpPr>
          <p:nvPr>
            <p:ph type="body" idx="4294967295"/>
          </p:nvPr>
        </p:nvSpPr>
        <p:spPr>
          <a:xfrm>
            <a:off x="609600" y="1052513"/>
            <a:ext cx="8229600" cy="5805487"/>
          </a:xfrm>
          <a:solidFill>
            <a:srgbClr val="FFFFFF"/>
          </a:solidFill>
        </p:spPr>
        <p:txBody>
          <a:bodyPr>
            <a:normAutofit/>
          </a:bodyPr>
          <a:lstStyle/>
          <a:p>
            <a:pPr marL="0" indent="0" defTabSz="414554" eaLnBrk="1" hangingPunct="1">
              <a:lnSpc>
                <a:spcPct val="80000"/>
              </a:lnSpc>
              <a:spcBef>
                <a:spcPts val="450"/>
              </a:spcBef>
              <a:spcAft>
                <a:spcPts val="113"/>
              </a:spcAft>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b="1" noProof="0" dirty="0"/>
              <a:t>This work is licensed under the Creative Commons Attribution-</a:t>
            </a:r>
            <a:r>
              <a:rPr lang="en-GB" sz="1800" b="1" noProof="0" dirty="0" err="1"/>
              <a:t>NonCommercial</a:t>
            </a:r>
            <a:r>
              <a:rPr lang="en-GB" sz="1800" b="1" noProof="0" dirty="0"/>
              <a:t>-</a:t>
            </a:r>
            <a:r>
              <a:rPr lang="en-GB" sz="1800" b="1" noProof="0" dirty="0" err="1"/>
              <a:t>NoDerivatives</a:t>
            </a:r>
            <a:r>
              <a:rPr lang="en-GB" sz="1800" b="1" noProof="0" dirty="0"/>
              <a:t> 4.0 International License. </a:t>
            </a:r>
          </a:p>
          <a:p>
            <a:pPr marL="0" indent="0" defTabSz="414554" eaLnBrk="1" hangingPunct="1">
              <a:lnSpc>
                <a:spcPct val="80000"/>
              </a:lnSpc>
              <a:spcBef>
                <a:spcPts val="450"/>
              </a:spcBef>
              <a:spcAft>
                <a:spcPts val="113"/>
              </a:spcAft>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b="1" noProof="0" dirty="0"/>
              <a:t>To view a copy of this license, visit </a:t>
            </a:r>
            <a:r>
              <a:rPr lang="en-GB" sz="1800" b="1" noProof="0" dirty="0">
                <a:hlinkClick r:id="rId3"/>
              </a:rPr>
              <a:t>http://creativecommons.org/licenses/by-nc-nd/4.0/</a:t>
            </a:r>
            <a:r>
              <a:rPr lang="en-GB" sz="1800" b="1" noProof="0" dirty="0"/>
              <a:t>.</a:t>
            </a:r>
          </a:p>
          <a:p>
            <a:pPr marL="0" indent="0" defTabSz="414554" eaLnBrk="1" hangingPunct="1">
              <a:lnSpc>
                <a:spcPct val="80000"/>
              </a:lnSpc>
              <a:spcBef>
                <a:spcPts val="450"/>
              </a:spcBef>
              <a:spcAft>
                <a:spcPts val="113"/>
              </a:spcAft>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b="1" noProof="0" dirty="0"/>
              <a:t>You are free:</a:t>
            </a:r>
            <a:r>
              <a:rPr lang="en-GB" sz="1800" noProof="0" dirty="0"/>
              <a:t>  to copy, distribute, display, and perform the work </a:t>
            </a:r>
          </a:p>
          <a:p>
            <a:pPr marL="295081" indent="-295081" defTabSz="414554" eaLnBrk="1" hangingPunct="1">
              <a:lnSpc>
                <a:spcPct val="80000"/>
              </a:lnSpc>
              <a:spcBef>
                <a:spcPts val="450"/>
              </a:spcBef>
              <a:spcAft>
                <a:spcPts val="113"/>
              </a:spcAft>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endParaRPr lang="en-GB" sz="1800" noProof="0" dirty="0"/>
          </a:p>
          <a:p>
            <a:pPr marL="334791" indent="-334791" defTabSz="414554" eaLnBrk="1" hangingPunct="1">
              <a:lnSpc>
                <a:spcPct val="80000"/>
              </a:lnSpc>
              <a:spcBef>
                <a:spcPts val="450"/>
              </a:spcBef>
              <a:spcAft>
                <a:spcPts val="113"/>
              </a:spcAft>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b="1" noProof="0" dirty="0"/>
              <a:t>Under the following conditions:</a:t>
            </a:r>
            <a:r>
              <a:rPr lang="en-GB" sz="1800" noProof="0" dirty="0"/>
              <a:t> </a:t>
            </a:r>
          </a:p>
          <a:p>
            <a:pPr marL="334791" indent="-334791" defTabSz="414554" eaLnBrk="1" hangingPunct="1">
              <a:lnSpc>
                <a:spcPct val="80000"/>
              </a:lnSpc>
              <a:spcBef>
                <a:spcPts val="450"/>
              </a:spcBef>
              <a:spcAft>
                <a:spcPts val="113"/>
              </a:spcAft>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b="1" noProof="0" dirty="0"/>
              <a:t>Attribution</a:t>
            </a:r>
            <a:r>
              <a:rPr lang="en-GB" sz="1800" noProof="0" dirty="0"/>
              <a:t>. You must attribute the work in the manner specified by the author or licensor.</a:t>
            </a:r>
          </a:p>
          <a:p>
            <a:pPr marL="334791" indent="-334791" defTabSz="414554" eaLnBrk="1" hangingPunct="1">
              <a:lnSpc>
                <a:spcPct val="80000"/>
              </a:lnSpc>
              <a:spcBef>
                <a:spcPts val="300"/>
              </a:spcBef>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endParaRPr lang="en-GB" sz="1200" noProof="0" dirty="0"/>
          </a:p>
          <a:p>
            <a:pPr marL="334791" indent="-334791" defTabSz="414554" eaLnBrk="1" hangingPunct="1">
              <a:lnSpc>
                <a:spcPct val="80000"/>
              </a:lnSpc>
              <a:spcBef>
                <a:spcPts val="450"/>
              </a:spcBef>
              <a:spcAft>
                <a:spcPts val="113"/>
              </a:spcAft>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b="1" noProof="0" dirty="0"/>
              <a:t>Non-commercial</a:t>
            </a:r>
            <a:r>
              <a:rPr lang="en-GB" sz="1800" noProof="0" dirty="0"/>
              <a:t>. You may not use this work for commercial purposes.  </a:t>
            </a:r>
          </a:p>
          <a:p>
            <a:pPr marL="1450940" lvl="3" indent="-207278" defTabSz="414554" eaLnBrk="1" hangingPunct="1">
              <a:lnSpc>
                <a:spcPct val="80000"/>
              </a:lnSpc>
              <a:spcBef>
                <a:spcPts val="300"/>
              </a:spcBef>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endParaRPr lang="en-GB" sz="1200" noProof="0" dirty="0"/>
          </a:p>
          <a:p>
            <a:pPr marL="334791" indent="-334791" defTabSz="414554" eaLnBrk="1" hangingPunct="1">
              <a:lnSpc>
                <a:spcPct val="80000"/>
              </a:lnSpc>
              <a:spcBef>
                <a:spcPts val="450"/>
              </a:spcBef>
              <a:spcAft>
                <a:spcPts val="113"/>
              </a:spcAft>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b="1" noProof="0" dirty="0"/>
              <a:t>No Derivative Works</a:t>
            </a:r>
            <a:r>
              <a:rPr lang="en-GB" sz="1800" noProof="0" dirty="0"/>
              <a:t>. You may not alter, transform, or build upon this work. </a:t>
            </a:r>
          </a:p>
          <a:p>
            <a:pPr marL="334791" indent="-334791" defTabSz="414554" eaLnBrk="1" hangingPunct="1">
              <a:lnSpc>
                <a:spcPct val="80000"/>
              </a:lnSpc>
              <a:spcBef>
                <a:spcPts val="300"/>
              </a:spcBef>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endParaRPr lang="en-GB" sz="1200" noProof="0" dirty="0"/>
          </a:p>
          <a:p>
            <a:pPr marL="334791" indent="-334791" defTabSz="414554" eaLnBrk="1" hangingPunct="1">
              <a:lnSpc>
                <a:spcPct val="80000"/>
              </a:lnSpc>
              <a:spcBef>
                <a:spcPts val="450"/>
              </a:spcBef>
              <a:spcAft>
                <a:spcPts val="113"/>
              </a:spcAft>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noProof="0" dirty="0"/>
              <a:t>For any reuse or distribution, you must make clear to others the license terms of this work. </a:t>
            </a:r>
          </a:p>
          <a:p>
            <a:pPr marL="334791" indent="-334791" defTabSz="414554" eaLnBrk="1" hangingPunct="1">
              <a:lnSpc>
                <a:spcPct val="80000"/>
              </a:lnSpc>
              <a:spcBef>
                <a:spcPts val="450"/>
              </a:spcBef>
              <a:spcAft>
                <a:spcPts val="113"/>
              </a:spcAft>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noProof="0" dirty="0"/>
              <a:t>Any of these conditions can be waived if you get permission from the copyright holder. </a:t>
            </a:r>
          </a:p>
          <a:p>
            <a:pPr marL="334791" indent="-334791" defTabSz="414554" eaLnBrk="1" hangingPunct="1">
              <a:lnSpc>
                <a:spcPct val="80000"/>
              </a:lnSpc>
              <a:spcBef>
                <a:spcPts val="450"/>
              </a:spcBef>
              <a:spcAft>
                <a:spcPts val="113"/>
              </a:spcAft>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endParaRPr lang="en-GB" sz="1800" noProof="0" dirty="0"/>
          </a:p>
          <a:p>
            <a:pPr marL="334791" indent="-334791" defTabSz="414554" eaLnBrk="1" hangingPunct="1">
              <a:lnSpc>
                <a:spcPct val="80000"/>
              </a:lnSpc>
              <a:spcBef>
                <a:spcPts val="450"/>
              </a:spcBef>
              <a:spcAft>
                <a:spcPts val="113"/>
              </a:spcAft>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r>
              <a:rPr lang="en-GB" sz="1800" b="1" noProof="0" dirty="0"/>
              <a:t>Your fair use and other rights are in no way affected by the above.</a:t>
            </a:r>
            <a:r>
              <a:rPr lang="en-GB" sz="1800" noProof="0" dirty="0"/>
              <a:t> </a:t>
            </a:r>
          </a:p>
          <a:p>
            <a:pPr marL="334791" indent="-334791" defTabSz="414554" eaLnBrk="1" hangingPunct="1">
              <a:lnSpc>
                <a:spcPct val="80000"/>
              </a:lnSpc>
              <a:spcBef>
                <a:spcPts val="450"/>
              </a:spcBef>
              <a:spcAft>
                <a:spcPts val="113"/>
              </a:spcAft>
              <a:buNone/>
              <a:tabLst>
                <a:tab pos="455376" algn="l"/>
                <a:tab pos="912340" algn="l"/>
                <a:tab pos="1369303" algn="l"/>
                <a:tab pos="1826266" algn="l"/>
                <a:tab pos="2283230" algn="l"/>
                <a:tab pos="2740193" algn="l"/>
                <a:tab pos="3197156" algn="l"/>
                <a:tab pos="3654118" algn="l"/>
                <a:tab pos="4111082" algn="l"/>
                <a:tab pos="4568044" algn="l"/>
                <a:tab pos="5025008" algn="l"/>
                <a:tab pos="5481971" algn="l"/>
                <a:tab pos="5938933" algn="l"/>
                <a:tab pos="6395897" algn="l"/>
                <a:tab pos="6852859" algn="l"/>
                <a:tab pos="7309823" algn="l"/>
                <a:tab pos="7766786" algn="l"/>
                <a:tab pos="8223749" algn="l"/>
                <a:tab pos="8680712" algn="l"/>
                <a:tab pos="9137675" algn="l"/>
              </a:tabLst>
              <a:defRPr/>
            </a:pPr>
            <a:endParaRPr lang="en-GB" sz="1800" noProof="0" dirty="0"/>
          </a:p>
        </p:txBody>
      </p:sp>
      <p:sp>
        <p:nvSpPr>
          <p:cNvPr id="269316" name="Rectangle 4"/>
          <p:cNvSpPr>
            <a:spLocks noChangeArrowheads="1"/>
          </p:cNvSpPr>
          <p:nvPr/>
        </p:nvSpPr>
        <p:spPr bwMode="auto">
          <a:xfrm>
            <a:off x="434975" y="2925763"/>
            <a:ext cx="431800" cy="1943100"/>
          </a:xfrm>
          <a:prstGeom prst="rect">
            <a:avLst/>
          </a:pr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lIns="91390" tIns="45697" rIns="91390" bIns="45697" anchor="ctr"/>
          <a:lstStyle/>
          <a:p>
            <a:endParaRPr lang="en-US"/>
          </a:p>
        </p:txBody>
      </p:sp>
      <p:pic>
        <p:nvPicPr>
          <p:cNvPr id="269317" name="Picture 1"/>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940425" y="115888"/>
            <a:ext cx="3059113" cy="730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69318" name="Picture 2"/>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95291" y="2924178"/>
            <a:ext cx="504825" cy="506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69319" name="Picture 3"/>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95291" y="3644902"/>
            <a:ext cx="504825" cy="504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69320" name="Picture 4"/>
          <p:cNvPicPr>
            <a:picLocks noChangeAspect="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95291" y="4365625"/>
            <a:ext cx="504825" cy="503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2742855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Contents</a:t>
            </a:r>
          </a:p>
        </p:txBody>
      </p:sp>
      <p:sp>
        <p:nvSpPr>
          <p:cNvPr id="3" name="Content Placeholder 2"/>
          <p:cNvSpPr>
            <a:spLocks noGrp="1"/>
          </p:cNvSpPr>
          <p:nvPr>
            <p:ph idx="1"/>
          </p:nvPr>
        </p:nvSpPr>
        <p:spPr/>
        <p:txBody>
          <a:bodyPr>
            <a:normAutofit fontScale="92500" lnSpcReduction="20000"/>
          </a:bodyPr>
          <a:lstStyle/>
          <a:p>
            <a:r>
              <a:rPr lang="en-GB" noProof="0" dirty="0"/>
              <a:t>Persistence and Direct data access</a:t>
            </a:r>
          </a:p>
          <a:p>
            <a:r>
              <a:rPr lang="en-GB" noProof="0" dirty="0"/>
              <a:t>JPA</a:t>
            </a:r>
          </a:p>
          <a:p>
            <a:r>
              <a:rPr lang="en-GB" noProof="0" dirty="0"/>
              <a:t>Querying</a:t>
            </a:r>
          </a:p>
          <a:p>
            <a:r>
              <a:rPr lang="en-GB" noProof="0" dirty="0"/>
              <a:t>ORM - Sessions &amp; Transactions</a:t>
            </a:r>
          </a:p>
          <a:p>
            <a:r>
              <a:rPr lang="en-GB" noProof="0" dirty="0"/>
              <a:t>The Repository Pattern</a:t>
            </a:r>
          </a:p>
          <a:p>
            <a:r>
              <a:rPr lang="en-GB" noProof="0" dirty="0"/>
              <a:t>Hibernate &amp; H2</a:t>
            </a:r>
          </a:p>
          <a:p>
            <a:r>
              <a:rPr lang="en-GB" noProof="0" dirty="0"/>
              <a:t>Designing a Layered ORM-Based Application</a:t>
            </a:r>
          </a:p>
          <a:p>
            <a:r>
              <a:rPr lang="en-GB" noProof="0" dirty="0"/>
              <a:t>Implementation of an ORM-based application</a:t>
            </a:r>
          </a:p>
        </p:txBody>
      </p:sp>
    </p:spTree>
    <p:extLst>
      <p:ext uri="{BB962C8B-B14F-4D97-AF65-F5344CB8AC3E}">
        <p14:creationId xmlns:p14="http://schemas.microsoft.com/office/powerpoint/2010/main" val="3160159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31D92-295C-117D-E1F7-EF5C84E17789}"/>
              </a:ext>
            </a:extLst>
          </p:cNvPr>
          <p:cNvSpPr>
            <a:spLocks noGrp="1"/>
          </p:cNvSpPr>
          <p:nvPr>
            <p:ph type="title"/>
          </p:nvPr>
        </p:nvSpPr>
        <p:spPr/>
        <p:txBody>
          <a:bodyPr/>
          <a:lstStyle/>
          <a:p>
            <a:r>
              <a:rPr lang="en-GB" noProof="0" dirty="0"/>
              <a:t>Persistence and Direct data access</a:t>
            </a:r>
          </a:p>
        </p:txBody>
      </p:sp>
      <p:sp>
        <p:nvSpPr>
          <p:cNvPr id="4" name="Text Placeholder 3">
            <a:extLst>
              <a:ext uri="{FF2B5EF4-FFF2-40B4-BE49-F238E27FC236}">
                <a16:creationId xmlns:a16="http://schemas.microsoft.com/office/drawing/2014/main" id="{7CEF62A8-02C0-BCEF-18CA-C242D8CA3AD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46044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04101-2780-BA94-C142-5567682EA71C}"/>
              </a:ext>
            </a:extLst>
          </p:cNvPr>
          <p:cNvSpPr>
            <a:spLocks noGrp="1"/>
          </p:cNvSpPr>
          <p:nvPr>
            <p:ph type="title"/>
          </p:nvPr>
        </p:nvSpPr>
        <p:spPr/>
        <p:txBody>
          <a:bodyPr/>
          <a:lstStyle/>
          <a:p>
            <a:r>
              <a:rPr lang="en-GB" noProof="0" dirty="0"/>
              <a:t>Persistence</a:t>
            </a:r>
          </a:p>
        </p:txBody>
      </p:sp>
      <p:pic>
        <p:nvPicPr>
          <p:cNvPr id="5" name="Segnaposto contenuto 4" descr="Immagine che contiene dipinto, cielo, disegno, arte&#10;&#10;Il contenuto generato dall'IA potrebbe non essere corretto.">
            <a:extLst>
              <a:ext uri="{FF2B5EF4-FFF2-40B4-BE49-F238E27FC236}">
                <a16:creationId xmlns:a16="http://schemas.microsoft.com/office/drawing/2014/main" id="{10314F95-FFBA-A4F3-1D0F-6873CE1FFA8A}"/>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1547664" y="1052736"/>
            <a:ext cx="7488832" cy="5387650"/>
          </a:xfrm>
        </p:spPr>
      </p:pic>
      <p:sp>
        <p:nvSpPr>
          <p:cNvPr id="3" name="CasellaDiTesto 2">
            <a:extLst>
              <a:ext uri="{FF2B5EF4-FFF2-40B4-BE49-F238E27FC236}">
                <a16:creationId xmlns:a16="http://schemas.microsoft.com/office/drawing/2014/main" id="{E5EA87EB-E4AE-2D9A-3EAB-00F3A86F13D2}"/>
              </a:ext>
            </a:extLst>
          </p:cNvPr>
          <p:cNvSpPr txBox="1"/>
          <p:nvPr/>
        </p:nvSpPr>
        <p:spPr>
          <a:xfrm>
            <a:off x="55068" y="4981854"/>
            <a:ext cx="1475656" cy="1408078"/>
          </a:xfrm>
          <a:prstGeom prst="rect">
            <a:avLst/>
          </a:prstGeom>
          <a:noFill/>
        </p:spPr>
        <p:txBody>
          <a:bodyPr wrap="square" rtlCol="0">
            <a:spAutoFit/>
          </a:bodyPr>
          <a:lstStyle/>
          <a:p>
            <a:r>
              <a:rPr lang="en-US" sz="1000" b="1" dirty="0">
                <a:solidFill>
                  <a:schemeClr val="tx1"/>
                </a:solidFill>
              </a:rPr>
              <a:t>Salvador Dalí</a:t>
            </a:r>
            <a:r>
              <a:rPr lang="en-US" sz="1000" dirty="0">
                <a:solidFill>
                  <a:schemeClr val="tx1"/>
                </a:solidFill>
              </a:rPr>
              <a:t> (Figueres, 1904 – Figueres 1989)</a:t>
            </a:r>
            <a:br>
              <a:rPr lang="en-US" sz="1000" dirty="0">
                <a:solidFill>
                  <a:schemeClr val="tx1"/>
                </a:solidFill>
              </a:rPr>
            </a:br>
            <a:r>
              <a:rPr lang="en-US" sz="1000" i="1" dirty="0">
                <a:solidFill>
                  <a:schemeClr val="tx1"/>
                </a:solidFill>
              </a:rPr>
              <a:t>La </a:t>
            </a:r>
            <a:r>
              <a:rPr lang="en-US" sz="1000" i="1" dirty="0" err="1">
                <a:solidFill>
                  <a:schemeClr val="tx1"/>
                </a:solidFill>
              </a:rPr>
              <a:t>persistencia</a:t>
            </a:r>
            <a:r>
              <a:rPr lang="en-US" sz="1000" i="1" dirty="0">
                <a:solidFill>
                  <a:schemeClr val="tx1"/>
                </a:solidFill>
              </a:rPr>
              <a:t> de la </a:t>
            </a:r>
            <a:r>
              <a:rPr lang="en-US" sz="1000" i="1" dirty="0" err="1">
                <a:solidFill>
                  <a:schemeClr val="tx1"/>
                </a:solidFill>
              </a:rPr>
              <a:t>memoria</a:t>
            </a:r>
            <a:br>
              <a:rPr lang="en-US" sz="1000" dirty="0">
                <a:solidFill>
                  <a:schemeClr val="tx1"/>
                </a:solidFill>
              </a:rPr>
            </a:br>
            <a:r>
              <a:rPr lang="en-US" sz="1000" dirty="0">
                <a:solidFill>
                  <a:schemeClr val="tx1"/>
                </a:solidFill>
              </a:rPr>
              <a:t>1931</a:t>
            </a:r>
            <a:br>
              <a:rPr lang="en-US" sz="1000" dirty="0">
                <a:solidFill>
                  <a:schemeClr val="tx1"/>
                </a:solidFill>
              </a:rPr>
            </a:br>
            <a:r>
              <a:rPr lang="en-US" sz="1000" dirty="0">
                <a:solidFill>
                  <a:schemeClr val="tx1"/>
                </a:solidFill>
              </a:rPr>
              <a:t>Oil on canvas</a:t>
            </a:r>
            <a:br>
              <a:rPr lang="en-US" sz="1000" dirty="0">
                <a:solidFill>
                  <a:schemeClr val="tx1"/>
                </a:solidFill>
              </a:rPr>
            </a:br>
            <a:r>
              <a:rPr lang="en-US" sz="1000" dirty="0">
                <a:solidFill>
                  <a:schemeClr val="tx1"/>
                </a:solidFill>
              </a:rPr>
              <a:t>24 × 33 cm</a:t>
            </a:r>
            <a:br>
              <a:rPr lang="en-US" sz="1000" dirty="0">
                <a:solidFill>
                  <a:schemeClr val="tx1"/>
                </a:solidFill>
              </a:rPr>
            </a:br>
            <a:r>
              <a:rPr lang="en-US" sz="1000" dirty="0">
                <a:solidFill>
                  <a:schemeClr val="tx1"/>
                </a:solidFill>
              </a:rPr>
              <a:t>Museum of Modern Art (MoMA), New York</a:t>
            </a:r>
            <a:endParaRPr lang="it-IT" sz="1000" dirty="0">
              <a:solidFill>
                <a:schemeClr val="tx1"/>
              </a:solidFill>
            </a:endParaRPr>
          </a:p>
        </p:txBody>
      </p:sp>
    </p:spTree>
    <p:extLst>
      <p:ext uri="{BB962C8B-B14F-4D97-AF65-F5344CB8AC3E}">
        <p14:creationId xmlns:p14="http://schemas.microsoft.com/office/powerpoint/2010/main" val="155829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5D042-96CA-CD2D-B497-8A52FD7BE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03BC2A-CF33-614F-D866-D10036FC87F8}"/>
              </a:ext>
            </a:extLst>
          </p:cNvPr>
          <p:cNvSpPr>
            <a:spLocks noGrp="1"/>
          </p:cNvSpPr>
          <p:nvPr>
            <p:ph type="title"/>
          </p:nvPr>
        </p:nvSpPr>
        <p:spPr/>
        <p:txBody>
          <a:bodyPr/>
          <a:lstStyle/>
          <a:p>
            <a:r>
              <a:rPr lang="en-GB" noProof="0" dirty="0"/>
              <a:t>Persistence</a:t>
            </a:r>
          </a:p>
        </p:txBody>
      </p:sp>
      <p:sp>
        <p:nvSpPr>
          <p:cNvPr id="3" name="Content Placeholder 2">
            <a:extLst>
              <a:ext uri="{FF2B5EF4-FFF2-40B4-BE49-F238E27FC236}">
                <a16:creationId xmlns:a16="http://schemas.microsoft.com/office/drawing/2014/main" id="{D8911234-DE50-CE7C-1E1F-5A82D460F29C}"/>
              </a:ext>
            </a:extLst>
          </p:cNvPr>
          <p:cNvSpPr>
            <a:spLocks noGrp="1"/>
          </p:cNvSpPr>
          <p:nvPr>
            <p:ph idx="1"/>
          </p:nvPr>
        </p:nvSpPr>
        <p:spPr/>
        <p:txBody>
          <a:bodyPr>
            <a:normAutofit fontScale="92500" lnSpcReduction="10000"/>
          </a:bodyPr>
          <a:lstStyle/>
          <a:p>
            <a:r>
              <a:rPr lang="en-GB" noProof="0" dirty="0"/>
              <a:t>Persistence simply means that we would like our program’s data to outlive the current process. </a:t>
            </a:r>
          </a:p>
          <a:p>
            <a:r>
              <a:rPr lang="en-GB" noProof="0" dirty="0"/>
              <a:t>For Java developers, this means we would like the state of certain objects to live beyond the scope of the JVM, </a:t>
            </a:r>
          </a:p>
          <a:p>
            <a:pPr lvl="1"/>
            <a:r>
              <a:rPr lang="en-GB" noProof="0" dirty="0"/>
              <a:t>so that the same state is available in a different JVM, </a:t>
            </a:r>
          </a:p>
          <a:p>
            <a:pPr lvl="1"/>
            <a:r>
              <a:rPr lang="en-GB" noProof="0" dirty="0"/>
              <a:t>or even in a different program written in a different programming language.</a:t>
            </a:r>
          </a:p>
        </p:txBody>
      </p:sp>
    </p:spTree>
    <p:extLst>
      <p:ext uri="{BB962C8B-B14F-4D97-AF65-F5344CB8AC3E}">
        <p14:creationId xmlns:p14="http://schemas.microsoft.com/office/powerpoint/2010/main" val="2739920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977F47-EC8B-6D92-DC9B-BCBF9977B095}"/>
              </a:ext>
            </a:extLst>
          </p:cNvPr>
          <p:cNvSpPr>
            <a:spLocks noGrp="1"/>
          </p:cNvSpPr>
          <p:nvPr>
            <p:ph type="title"/>
          </p:nvPr>
        </p:nvSpPr>
        <p:spPr/>
        <p:txBody>
          <a:bodyPr/>
          <a:lstStyle/>
          <a:p>
            <a:r>
              <a:rPr lang="en-GB" noProof="0" dirty="0"/>
              <a:t>Persistent vs. In-Memory Data</a:t>
            </a:r>
          </a:p>
        </p:txBody>
      </p:sp>
      <p:sp>
        <p:nvSpPr>
          <p:cNvPr id="3" name="Segnaposto contenuto 2">
            <a:extLst>
              <a:ext uri="{FF2B5EF4-FFF2-40B4-BE49-F238E27FC236}">
                <a16:creationId xmlns:a16="http://schemas.microsoft.com/office/drawing/2014/main" id="{48E479D9-D7EC-20B6-E134-83F660065270}"/>
              </a:ext>
            </a:extLst>
          </p:cNvPr>
          <p:cNvSpPr>
            <a:spLocks noGrp="1"/>
          </p:cNvSpPr>
          <p:nvPr>
            <p:ph idx="1"/>
          </p:nvPr>
        </p:nvSpPr>
        <p:spPr/>
        <p:txBody>
          <a:bodyPr/>
          <a:lstStyle/>
          <a:p>
            <a:r>
              <a:rPr lang="en-GB" noProof="0" dirty="0"/>
              <a:t>Need for persistence: Data must survive program execution</a:t>
            </a:r>
          </a:p>
          <a:p>
            <a:r>
              <a:rPr lang="en-GB" noProof="0" dirty="0"/>
              <a:t>In-memory data: Stored in RAM, lost when the program stops</a:t>
            </a:r>
          </a:p>
          <a:p>
            <a:r>
              <a:rPr lang="en-GB" noProof="0" dirty="0"/>
              <a:t>Persistent data: Stored on disk, databases, or external storage</a:t>
            </a:r>
          </a:p>
          <a:p>
            <a:r>
              <a:rPr lang="en-GB" noProof="0" dirty="0"/>
              <a:t>Key differences: Volatility, lifespan, and accessibility</a:t>
            </a:r>
          </a:p>
        </p:txBody>
      </p:sp>
    </p:spTree>
    <p:extLst>
      <p:ext uri="{BB962C8B-B14F-4D97-AF65-F5344CB8AC3E}">
        <p14:creationId xmlns:p14="http://schemas.microsoft.com/office/powerpoint/2010/main" val="3710344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970E8-5E89-F7BF-CB09-7BFE7901B9D0}"/>
              </a:ext>
            </a:extLst>
          </p:cNvPr>
          <p:cNvSpPr>
            <a:spLocks noGrp="1"/>
          </p:cNvSpPr>
          <p:nvPr>
            <p:ph type="title"/>
          </p:nvPr>
        </p:nvSpPr>
        <p:spPr/>
        <p:txBody>
          <a:bodyPr/>
          <a:lstStyle/>
          <a:p>
            <a:r>
              <a:rPr lang="en-GB" noProof="0" dirty="0"/>
              <a:t>Object/Relational Mismatch</a:t>
            </a:r>
          </a:p>
        </p:txBody>
      </p:sp>
      <p:sp>
        <p:nvSpPr>
          <p:cNvPr id="3" name="Content Placeholder 2">
            <a:extLst>
              <a:ext uri="{FF2B5EF4-FFF2-40B4-BE49-F238E27FC236}">
                <a16:creationId xmlns:a16="http://schemas.microsoft.com/office/drawing/2014/main" id="{50F01221-A262-C471-A348-D73D170A40B4}"/>
              </a:ext>
            </a:extLst>
          </p:cNvPr>
          <p:cNvSpPr>
            <a:spLocks noGrp="1"/>
          </p:cNvSpPr>
          <p:nvPr>
            <p:ph idx="1"/>
          </p:nvPr>
        </p:nvSpPr>
        <p:spPr/>
        <p:txBody>
          <a:bodyPr>
            <a:normAutofit/>
          </a:bodyPr>
          <a:lstStyle/>
          <a:p>
            <a:r>
              <a:rPr lang="en-GB" noProof="0" dirty="0"/>
              <a:t>Impedance mismatch refers to differences in relational data model compared object-oriented paradigm</a:t>
            </a:r>
          </a:p>
          <a:p>
            <a:pPr lvl="1"/>
            <a:r>
              <a:rPr lang="en-GB" noProof="0" dirty="0"/>
              <a:t>The relational model represents data in a tabular format</a:t>
            </a:r>
          </a:p>
          <a:p>
            <a:pPr lvl="1"/>
            <a:r>
              <a:rPr lang="en-GB" noProof="0" dirty="0"/>
              <a:t>Object-oriented languages represent data as an interconnected graph of objects with inheritance and polymorphism.</a:t>
            </a:r>
          </a:p>
        </p:txBody>
      </p:sp>
    </p:spTree>
    <p:extLst>
      <p:ext uri="{BB962C8B-B14F-4D97-AF65-F5344CB8AC3E}">
        <p14:creationId xmlns:p14="http://schemas.microsoft.com/office/powerpoint/2010/main" val="3667597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25BCF-1BA7-F7AD-16E8-3547E0B910BD}"/>
              </a:ext>
            </a:extLst>
          </p:cNvPr>
          <p:cNvSpPr>
            <a:spLocks noGrp="1"/>
          </p:cNvSpPr>
          <p:nvPr>
            <p:ph type="title"/>
          </p:nvPr>
        </p:nvSpPr>
        <p:spPr/>
        <p:txBody>
          <a:bodyPr/>
          <a:lstStyle/>
          <a:p>
            <a:r>
              <a:rPr lang="en-GB" noProof="0" dirty="0"/>
              <a:t>Object/Relational Mismatch</a:t>
            </a:r>
          </a:p>
        </p:txBody>
      </p:sp>
      <p:sp>
        <p:nvSpPr>
          <p:cNvPr id="3" name="Content Placeholder 2">
            <a:extLst>
              <a:ext uri="{FF2B5EF4-FFF2-40B4-BE49-F238E27FC236}">
                <a16:creationId xmlns:a16="http://schemas.microsoft.com/office/drawing/2014/main" id="{0B385B64-94EE-550A-8FFF-75D5BDDC919E}"/>
              </a:ext>
            </a:extLst>
          </p:cNvPr>
          <p:cNvSpPr>
            <a:spLocks noGrp="1"/>
          </p:cNvSpPr>
          <p:nvPr>
            <p:ph idx="1"/>
          </p:nvPr>
        </p:nvSpPr>
        <p:spPr/>
        <p:txBody>
          <a:bodyPr>
            <a:normAutofit/>
          </a:bodyPr>
          <a:lstStyle/>
          <a:p>
            <a:r>
              <a:rPr lang="en-GB" noProof="0" dirty="0"/>
              <a:t>Granularity</a:t>
            </a:r>
          </a:p>
          <a:p>
            <a:r>
              <a:rPr lang="en-GB" noProof="0" dirty="0"/>
              <a:t>Subtypes (inheritance)</a:t>
            </a:r>
          </a:p>
          <a:p>
            <a:r>
              <a:rPr lang="en-GB" noProof="0" dirty="0"/>
              <a:t>Identity</a:t>
            </a:r>
          </a:p>
          <a:p>
            <a:r>
              <a:rPr lang="en-GB" noProof="0" dirty="0"/>
              <a:t>Associations</a:t>
            </a:r>
          </a:p>
          <a:p>
            <a:r>
              <a:rPr lang="en-GB" noProof="0" dirty="0"/>
              <a:t>Data navigation</a:t>
            </a:r>
          </a:p>
        </p:txBody>
      </p:sp>
    </p:spTree>
    <p:extLst>
      <p:ext uri="{BB962C8B-B14F-4D97-AF65-F5344CB8AC3E}">
        <p14:creationId xmlns:p14="http://schemas.microsoft.com/office/powerpoint/2010/main" val="2746039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25BCF-1BA7-F7AD-16E8-3547E0B910BD}"/>
              </a:ext>
            </a:extLst>
          </p:cNvPr>
          <p:cNvSpPr>
            <a:spLocks noGrp="1"/>
          </p:cNvSpPr>
          <p:nvPr>
            <p:ph type="title"/>
          </p:nvPr>
        </p:nvSpPr>
        <p:spPr/>
        <p:txBody>
          <a:bodyPr/>
          <a:lstStyle/>
          <a:p>
            <a:r>
              <a:rPr lang="en-GB" noProof="0" dirty="0"/>
              <a:t>Object/Relational Mismatch</a:t>
            </a:r>
          </a:p>
        </p:txBody>
      </p:sp>
      <p:sp>
        <p:nvSpPr>
          <p:cNvPr id="3" name="Content Placeholder 2">
            <a:extLst>
              <a:ext uri="{FF2B5EF4-FFF2-40B4-BE49-F238E27FC236}">
                <a16:creationId xmlns:a16="http://schemas.microsoft.com/office/drawing/2014/main" id="{0B385B64-94EE-550A-8FFF-75D5BDDC919E}"/>
              </a:ext>
            </a:extLst>
          </p:cNvPr>
          <p:cNvSpPr>
            <a:spLocks noGrp="1"/>
          </p:cNvSpPr>
          <p:nvPr>
            <p:ph idx="1"/>
          </p:nvPr>
        </p:nvSpPr>
        <p:spPr/>
        <p:txBody>
          <a:bodyPr>
            <a:normAutofit fontScale="77500" lnSpcReduction="20000"/>
          </a:bodyPr>
          <a:lstStyle/>
          <a:p>
            <a:r>
              <a:rPr lang="en-GB" noProof="0" dirty="0"/>
              <a:t>Granularity</a:t>
            </a:r>
          </a:p>
          <a:p>
            <a:pPr lvl="1"/>
            <a:r>
              <a:rPr lang="en-GB" noProof="0" dirty="0"/>
              <a:t>Object models often have more classes than tables in the database. </a:t>
            </a:r>
          </a:p>
          <a:p>
            <a:r>
              <a:rPr lang="en-GB" noProof="0" dirty="0"/>
              <a:t>Subtypes (inheritance)</a:t>
            </a:r>
          </a:p>
          <a:p>
            <a:pPr lvl="1"/>
            <a:r>
              <a:rPr lang="en-GB" noProof="0" dirty="0"/>
              <a:t>The relational model doesn’t have inheritance as a first-class construct, </a:t>
            </a:r>
          </a:p>
          <a:p>
            <a:pPr lvl="1"/>
            <a:r>
              <a:rPr lang="en-GB" noProof="0" dirty="0"/>
              <a:t>There are standard ways to represent subtyping.</a:t>
            </a:r>
          </a:p>
          <a:p>
            <a:r>
              <a:rPr lang="en-GB" noProof="0" dirty="0"/>
              <a:t>Identity</a:t>
            </a:r>
          </a:p>
          <a:p>
            <a:pPr lvl="1"/>
            <a:r>
              <a:rPr lang="en-GB" noProof="0" dirty="0"/>
              <a:t>The relational model defines exactly one notion of "sameness": the primary key. </a:t>
            </a:r>
          </a:p>
          <a:p>
            <a:pPr lvl="1"/>
            <a:r>
              <a:rPr lang="en-GB" noProof="0" dirty="0"/>
              <a:t>Java defines both object identity </a:t>
            </a:r>
            <a:r>
              <a:rPr lang="en-GB" b="1" noProof="0" dirty="0">
                <a:latin typeface="Courier New" panose="02070309020205020404" pitchFamily="49" charset="0"/>
                <a:cs typeface="Courier New" panose="02070309020205020404" pitchFamily="49" charset="0"/>
              </a:rPr>
              <a:t>a==b </a:t>
            </a:r>
            <a:r>
              <a:rPr lang="en-GB" noProof="0" dirty="0"/>
              <a:t>and value equality </a:t>
            </a:r>
            <a:r>
              <a:rPr lang="en-GB" b="1" noProof="0" dirty="0" err="1">
                <a:latin typeface="Courier New" panose="02070309020205020404" pitchFamily="49" charset="0"/>
                <a:cs typeface="Courier New" panose="02070309020205020404" pitchFamily="49" charset="0"/>
              </a:rPr>
              <a:t>a.equals</a:t>
            </a:r>
            <a:r>
              <a:rPr lang="en-GB" b="1" noProof="0" dirty="0">
                <a:latin typeface="Courier New" panose="02070309020205020404" pitchFamily="49" charset="0"/>
                <a:cs typeface="Courier New" panose="02070309020205020404" pitchFamily="49" charset="0"/>
              </a:rPr>
              <a:t>(b)</a:t>
            </a:r>
            <a:r>
              <a:rPr lang="en-GB" noProof="0" dirty="0"/>
              <a:t>. </a:t>
            </a:r>
          </a:p>
          <a:p>
            <a:pPr lvl="2"/>
            <a:r>
              <a:rPr lang="en-GB" noProof="0" dirty="0"/>
              <a:t>It is common to have more than one object in a given Java program representing the same row of a database table.</a:t>
            </a:r>
          </a:p>
        </p:txBody>
      </p:sp>
    </p:spTree>
    <p:extLst>
      <p:ext uri="{BB962C8B-B14F-4D97-AF65-F5344CB8AC3E}">
        <p14:creationId xmlns:p14="http://schemas.microsoft.com/office/powerpoint/2010/main" val="769914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25BCF-1BA7-F7AD-16E8-3547E0B910BD}"/>
              </a:ext>
            </a:extLst>
          </p:cNvPr>
          <p:cNvSpPr>
            <a:spLocks noGrp="1"/>
          </p:cNvSpPr>
          <p:nvPr>
            <p:ph type="title"/>
          </p:nvPr>
        </p:nvSpPr>
        <p:spPr/>
        <p:txBody>
          <a:bodyPr/>
          <a:lstStyle/>
          <a:p>
            <a:r>
              <a:rPr lang="en-GB" noProof="0" dirty="0"/>
              <a:t>Object/Relational Mismatch</a:t>
            </a:r>
          </a:p>
        </p:txBody>
      </p:sp>
      <p:sp>
        <p:nvSpPr>
          <p:cNvPr id="3" name="Content Placeholder 2">
            <a:extLst>
              <a:ext uri="{FF2B5EF4-FFF2-40B4-BE49-F238E27FC236}">
                <a16:creationId xmlns:a16="http://schemas.microsoft.com/office/drawing/2014/main" id="{0B385B64-94EE-550A-8FFF-75D5BDDC919E}"/>
              </a:ext>
            </a:extLst>
          </p:cNvPr>
          <p:cNvSpPr>
            <a:spLocks noGrp="1"/>
          </p:cNvSpPr>
          <p:nvPr>
            <p:ph idx="1"/>
          </p:nvPr>
        </p:nvSpPr>
        <p:spPr/>
        <p:txBody>
          <a:bodyPr>
            <a:normAutofit fontScale="77500" lnSpcReduction="20000"/>
          </a:bodyPr>
          <a:lstStyle/>
          <a:p>
            <a:r>
              <a:rPr lang="en-GB" noProof="0" dirty="0"/>
              <a:t>Associations</a:t>
            </a:r>
          </a:p>
          <a:p>
            <a:pPr lvl="1"/>
            <a:r>
              <a:rPr lang="en-GB" noProof="0" dirty="0"/>
              <a:t>Associations are represented as unidirectional references in Java </a:t>
            </a:r>
          </a:p>
          <a:p>
            <a:pPr lvl="1"/>
            <a:r>
              <a:rPr lang="en-GB" noProof="0" dirty="0"/>
              <a:t>Relational databases treat all associations as bidirectional and represent them via foreign keys</a:t>
            </a:r>
          </a:p>
          <a:p>
            <a:pPr lvl="1"/>
            <a:r>
              <a:rPr lang="en-GB" noProof="0" dirty="0"/>
              <a:t>Bidirectional relationship in Java require code on both sides of the association</a:t>
            </a:r>
          </a:p>
          <a:p>
            <a:pPr lvl="1"/>
            <a:r>
              <a:rPr lang="en-GB" noProof="0" dirty="0"/>
              <a:t>Just by looking at the Java code we cannot be sure of the multiplicity of an association</a:t>
            </a:r>
          </a:p>
          <a:p>
            <a:r>
              <a:rPr lang="en-GB" noProof="0" dirty="0"/>
              <a:t>Data navigation</a:t>
            </a:r>
          </a:p>
          <a:p>
            <a:pPr lvl="1"/>
            <a:r>
              <a:rPr lang="en-GB" noProof="0" dirty="0"/>
              <a:t>In Java, we navigate associations from one object to the next, walking the object network. </a:t>
            </a:r>
          </a:p>
          <a:p>
            <a:pPr lvl="1"/>
            <a:r>
              <a:rPr lang="en-GB" noProof="0" dirty="0"/>
              <a:t>That is inefficient when retrieving relational data</a:t>
            </a:r>
          </a:p>
          <a:p>
            <a:pPr lvl="2"/>
            <a:r>
              <a:rPr lang="en-GB" noProof="0" dirty="0"/>
              <a:t>The goals is to minimize the number of SQL queries</a:t>
            </a:r>
          </a:p>
          <a:p>
            <a:endParaRPr lang="en-GB" noProof="0" dirty="0"/>
          </a:p>
        </p:txBody>
      </p:sp>
    </p:spTree>
    <p:extLst>
      <p:ext uri="{BB962C8B-B14F-4D97-AF65-F5344CB8AC3E}">
        <p14:creationId xmlns:p14="http://schemas.microsoft.com/office/powerpoint/2010/main" val="4017764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41E67F3-0C77-0C79-906B-0FF919ABD854}"/>
              </a:ext>
            </a:extLst>
          </p:cNvPr>
          <p:cNvSpPr>
            <a:spLocks noGrp="1"/>
          </p:cNvSpPr>
          <p:nvPr>
            <p:ph type="title"/>
          </p:nvPr>
        </p:nvSpPr>
        <p:spPr>
          <a:xfrm>
            <a:off x="228600" y="-444500"/>
            <a:ext cx="8607425" cy="1433513"/>
          </a:xfrm>
        </p:spPr>
        <p:txBody>
          <a:bodyPr>
            <a:normAutofit/>
          </a:bodyPr>
          <a:lstStyle/>
          <a:p>
            <a:r>
              <a:rPr lang="en-GB" noProof="0" dirty="0"/>
              <a:t>ORM - Definition</a:t>
            </a:r>
          </a:p>
        </p:txBody>
      </p:sp>
      <p:sp>
        <p:nvSpPr>
          <p:cNvPr id="3" name="Segnaposto contenuto 2">
            <a:extLst>
              <a:ext uri="{FF2B5EF4-FFF2-40B4-BE49-F238E27FC236}">
                <a16:creationId xmlns:a16="http://schemas.microsoft.com/office/drawing/2014/main" id="{01C170B2-17A2-B98D-2A4A-C970C3706DDD}"/>
              </a:ext>
            </a:extLst>
          </p:cNvPr>
          <p:cNvSpPr>
            <a:spLocks noGrp="1"/>
          </p:cNvSpPr>
          <p:nvPr>
            <p:ph idx="1"/>
          </p:nvPr>
        </p:nvSpPr>
        <p:spPr>
          <a:xfrm>
            <a:off x="685800" y="1295400"/>
            <a:ext cx="8150225" cy="4724400"/>
          </a:xfrm>
        </p:spPr>
        <p:txBody>
          <a:bodyPr/>
          <a:lstStyle/>
          <a:p>
            <a:pPr marL="0" indent="0">
              <a:buNone/>
            </a:pPr>
            <a:r>
              <a:rPr lang="en-GB" noProof="0" dirty="0"/>
              <a:t>Object-Relational Mapping (ORM) is a technique for managing database interactions using object-oriented programming, </a:t>
            </a:r>
            <a:r>
              <a:rPr lang="en-GB" b="0" i="0" noProof="0" dirty="0">
                <a:solidFill>
                  <a:srgbClr val="202122"/>
                </a:solidFill>
                <a:effectLst/>
              </a:rPr>
              <a:t>converting data between a relational database and the memory</a:t>
            </a:r>
            <a:endParaRPr lang="en-GB" noProof="0" dirty="0"/>
          </a:p>
        </p:txBody>
      </p:sp>
    </p:spTree>
    <p:extLst>
      <p:ext uri="{BB962C8B-B14F-4D97-AF65-F5344CB8AC3E}">
        <p14:creationId xmlns:p14="http://schemas.microsoft.com/office/powerpoint/2010/main" val="3437259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6AFFF9-CAF4-34EF-D62F-435E4B1FE950}"/>
              </a:ext>
            </a:extLst>
          </p:cNvPr>
          <p:cNvSpPr>
            <a:spLocks noGrp="1"/>
          </p:cNvSpPr>
          <p:nvPr>
            <p:ph type="title"/>
          </p:nvPr>
        </p:nvSpPr>
        <p:spPr/>
        <p:txBody>
          <a:bodyPr/>
          <a:lstStyle/>
          <a:p>
            <a:r>
              <a:rPr lang="en-GB" noProof="0" dirty="0"/>
              <a:t>ORM – Key Features</a:t>
            </a:r>
          </a:p>
        </p:txBody>
      </p:sp>
      <p:sp>
        <p:nvSpPr>
          <p:cNvPr id="3" name="Segnaposto contenuto 2">
            <a:extLst>
              <a:ext uri="{FF2B5EF4-FFF2-40B4-BE49-F238E27FC236}">
                <a16:creationId xmlns:a16="http://schemas.microsoft.com/office/drawing/2014/main" id="{621E94CB-E474-6288-0C5D-DCB561CBC622}"/>
              </a:ext>
            </a:extLst>
          </p:cNvPr>
          <p:cNvSpPr>
            <a:spLocks noGrp="1"/>
          </p:cNvSpPr>
          <p:nvPr>
            <p:ph idx="1"/>
          </p:nvPr>
        </p:nvSpPr>
        <p:spPr/>
        <p:txBody>
          <a:bodyPr>
            <a:normAutofit fontScale="92500" lnSpcReduction="10000"/>
          </a:bodyPr>
          <a:lstStyle/>
          <a:p>
            <a:r>
              <a:rPr lang="en-GB" noProof="0" dirty="0"/>
              <a:t>Provides an abstraction layer that decouples business logic from database access</a:t>
            </a:r>
          </a:p>
          <a:p>
            <a:r>
              <a:rPr lang="en-GB" noProof="0" dirty="0"/>
              <a:t>Translates objects in the application into database records and vice versa</a:t>
            </a:r>
          </a:p>
          <a:p>
            <a:r>
              <a:rPr lang="en-GB" noProof="0" dirty="0"/>
              <a:t>Automates data conversion between object models and relational schemas</a:t>
            </a:r>
          </a:p>
          <a:p>
            <a:r>
              <a:rPr lang="en-GB" noProof="0" dirty="0"/>
              <a:t>Reduces (in most cases eliminates) the need for direct SQL queries for basic operations</a:t>
            </a:r>
          </a:p>
        </p:txBody>
      </p:sp>
    </p:spTree>
    <p:extLst>
      <p:ext uri="{BB962C8B-B14F-4D97-AF65-F5344CB8AC3E}">
        <p14:creationId xmlns:p14="http://schemas.microsoft.com/office/powerpoint/2010/main" val="4238237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26E76B-595D-E43D-3E60-7F716A1A430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B343F3A-5E4A-3748-2923-9F148F6C6D87}"/>
              </a:ext>
            </a:extLst>
          </p:cNvPr>
          <p:cNvSpPr>
            <a:spLocks noGrp="1"/>
          </p:cNvSpPr>
          <p:nvPr>
            <p:ph type="title"/>
          </p:nvPr>
        </p:nvSpPr>
        <p:spPr/>
        <p:txBody>
          <a:bodyPr/>
          <a:lstStyle/>
          <a:p>
            <a:r>
              <a:rPr lang="en-GB" noProof="0" dirty="0"/>
              <a:t>ORM – Key Features</a:t>
            </a:r>
          </a:p>
        </p:txBody>
      </p:sp>
      <p:sp>
        <p:nvSpPr>
          <p:cNvPr id="3" name="Segnaposto contenuto 2">
            <a:extLst>
              <a:ext uri="{FF2B5EF4-FFF2-40B4-BE49-F238E27FC236}">
                <a16:creationId xmlns:a16="http://schemas.microsoft.com/office/drawing/2014/main" id="{53DBA551-6A68-6002-C7F1-B087ACB8FC58}"/>
              </a:ext>
            </a:extLst>
          </p:cNvPr>
          <p:cNvSpPr>
            <a:spLocks noGrp="1"/>
          </p:cNvSpPr>
          <p:nvPr>
            <p:ph idx="1"/>
          </p:nvPr>
        </p:nvSpPr>
        <p:spPr/>
        <p:txBody>
          <a:bodyPr>
            <a:normAutofit/>
          </a:bodyPr>
          <a:lstStyle/>
          <a:p>
            <a:r>
              <a:rPr lang="en-GB" noProof="0" dirty="0"/>
              <a:t>Automates query generation and result mapping to objects</a:t>
            </a:r>
          </a:p>
          <a:p>
            <a:r>
              <a:rPr lang="en-GB" noProof="0" dirty="0"/>
              <a:t>Reduces manual connection and transaction management</a:t>
            </a:r>
          </a:p>
        </p:txBody>
      </p:sp>
    </p:spTree>
    <p:extLst>
      <p:ext uri="{BB962C8B-B14F-4D97-AF65-F5344CB8AC3E}">
        <p14:creationId xmlns:p14="http://schemas.microsoft.com/office/powerpoint/2010/main" val="3787207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D25A27-6430-A49C-E7D7-54F85BCC2959}"/>
              </a:ext>
            </a:extLst>
          </p:cNvPr>
          <p:cNvSpPr>
            <a:spLocks noGrp="1"/>
          </p:cNvSpPr>
          <p:nvPr>
            <p:ph type="title"/>
          </p:nvPr>
        </p:nvSpPr>
        <p:spPr/>
        <p:txBody>
          <a:bodyPr/>
          <a:lstStyle/>
          <a:p>
            <a:r>
              <a:rPr lang="en-GB" noProof="0" dirty="0"/>
              <a:t>ORM vs Direct Data Access</a:t>
            </a:r>
          </a:p>
        </p:txBody>
      </p:sp>
      <p:sp>
        <p:nvSpPr>
          <p:cNvPr id="3" name="Segnaposto contenuto 2">
            <a:extLst>
              <a:ext uri="{FF2B5EF4-FFF2-40B4-BE49-F238E27FC236}">
                <a16:creationId xmlns:a16="http://schemas.microsoft.com/office/drawing/2014/main" id="{13211EB3-5878-C5EC-EFDD-A773FF1369DA}"/>
              </a:ext>
            </a:extLst>
          </p:cNvPr>
          <p:cNvSpPr>
            <a:spLocks noGrp="1"/>
          </p:cNvSpPr>
          <p:nvPr>
            <p:ph idx="1"/>
          </p:nvPr>
        </p:nvSpPr>
        <p:spPr/>
        <p:txBody>
          <a:bodyPr>
            <a:normAutofit fontScale="85000" lnSpcReduction="20000"/>
          </a:bodyPr>
          <a:lstStyle/>
          <a:p>
            <a:r>
              <a:rPr lang="en-GB" noProof="0" dirty="0"/>
              <a:t>Direct Data Access</a:t>
            </a:r>
          </a:p>
          <a:p>
            <a:pPr lvl="1"/>
            <a:r>
              <a:rPr lang="en-GB" noProof="0" dirty="0"/>
              <a:t>Uses native SQL to interact with the database</a:t>
            </a:r>
          </a:p>
          <a:p>
            <a:pPr lvl="1"/>
            <a:r>
              <a:rPr lang="en-GB" noProof="0" dirty="0"/>
              <a:t>Directly embeds SQL in the application code</a:t>
            </a:r>
          </a:p>
          <a:p>
            <a:pPr lvl="1"/>
            <a:r>
              <a:rPr lang="en-GB" noProof="0" dirty="0"/>
              <a:t>Manually handles every relationship and transaction</a:t>
            </a:r>
          </a:p>
          <a:p>
            <a:r>
              <a:rPr lang="en-GB" noProof="0" dirty="0"/>
              <a:t>ORM </a:t>
            </a:r>
          </a:p>
          <a:p>
            <a:pPr lvl="1"/>
            <a:r>
              <a:rPr lang="en-GB" noProof="0" dirty="0"/>
              <a:t>Uses object-based operations to interact with the database</a:t>
            </a:r>
          </a:p>
          <a:p>
            <a:pPr lvl="1"/>
            <a:r>
              <a:rPr lang="en-GB" noProof="0" dirty="0"/>
              <a:t>SQL queries can be automatically generated based on object models</a:t>
            </a:r>
          </a:p>
          <a:p>
            <a:pPr lvl="1"/>
            <a:r>
              <a:rPr lang="en-GB" noProof="0" dirty="0"/>
              <a:t>Simplifies complex relationships and data handling</a:t>
            </a:r>
          </a:p>
        </p:txBody>
      </p:sp>
    </p:spTree>
    <p:extLst>
      <p:ext uri="{BB962C8B-B14F-4D97-AF65-F5344CB8AC3E}">
        <p14:creationId xmlns:p14="http://schemas.microsoft.com/office/powerpoint/2010/main" val="1024758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A953C34-C4FE-369A-02AF-55715169E076}"/>
              </a:ext>
            </a:extLst>
          </p:cNvPr>
          <p:cNvSpPr>
            <a:spLocks noGrp="1"/>
          </p:cNvSpPr>
          <p:nvPr>
            <p:ph type="title"/>
          </p:nvPr>
        </p:nvSpPr>
        <p:spPr/>
        <p:txBody>
          <a:bodyPr/>
          <a:lstStyle/>
          <a:p>
            <a:r>
              <a:rPr lang="en-GB" noProof="0" dirty="0"/>
              <a:t>ORM – Pros &amp; Cons</a:t>
            </a:r>
          </a:p>
        </p:txBody>
      </p:sp>
      <p:sp>
        <p:nvSpPr>
          <p:cNvPr id="3" name="Segnaposto contenuto 2">
            <a:extLst>
              <a:ext uri="{FF2B5EF4-FFF2-40B4-BE49-F238E27FC236}">
                <a16:creationId xmlns:a16="http://schemas.microsoft.com/office/drawing/2014/main" id="{837844EF-65DA-5476-8045-400261E75060}"/>
              </a:ext>
            </a:extLst>
          </p:cNvPr>
          <p:cNvSpPr>
            <a:spLocks noGrp="1"/>
          </p:cNvSpPr>
          <p:nvPr>
            <p:ph idx="1"/>
          </p:nvPr>
        </p:nvSpPr>
        <p:spPr/>
        <p:txBody>
          <a:bodyPr/>
          <a:lstStyle/>
          <a:p>
            <a:r>
              <a:rPr lang="en-GB" noProof="0" dirty="0"/>
              <a:t>PRO</a:t>
            </a:r>
          </a:p>
          <a:p>
            <a:pPr lvl="1"/>
            <a:r>
              <a:rPr lang="en-GB" noProof="0" dirty="0"/>
              <a:t>Reduces the need to insert SQL within our programming language</a:t>
            </a:r>
          </a:p>
          <a:p>
            <a:pPr lvl="1"/>
            <a:r>
              <a:rPr lang="en-GB" noProof="0" dirty="0"/>
              <a:t>Improves code maintainability and readability</a:t>
            </a:r>
          </a:p>
          <a:p>
            <a:pPr lvl="1"/>
            <a:r>
              <a:rPr lang="en-GB" noProof="0" dirty="0"/>
              <a:t>Reduces development time by automating database interactions</a:t>
            </a:r>
          </a:p>
          <a:p>
            <a:pPr lvl="1"/>
            <a:r>
              <a:rPr lang="en-GB" noProof="0" dirty="0"/>
              <a:t>Supports multiple databases with minimal changes</a:t>
            </a:r>
          </a:p>
          <a:p>
            <a:pPr lvl="1"/>
            <a:endParaRPr lang="en-GB" noProof="0" dirty="0"/>
          </a:p>
        </p:txBody>
      </p:sp>
    </p:spTree>
    <p:extLst>
      <p:ext uri="{BB962C8B-B14F-4D97-AF65-F5344CB8AC3E}">
        <p14:creationId xmlns:p14="http://schemas.microsoft.com/office/powerpoint/2010/main" val="2340587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A7615-0AB5-84E2-7011-34076934030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4A47B41-BE7B-547C-C29E-39ED6E8CD5ED}"/>
              </a:ext>
            </a:extLst>
          </p:cNvPr>
          <p:cNvSpPr>
            <a:spLocks noGrp="1"/>
          </p:cNvSpPr>
          <p:nvPr>
            <p:ph type="title"/>
          </p:nvPr>
        </p:nvSpPr>
        <p:spPr/>
        <p:txBody>
          <a:bodyPr/>
          <a:lstStyle/>
          <a:p>
            <a:r>
              <a:rPr lang="en-GB" noProof="0" dirty="0"/>
              <a:t>ORM – Pros &amp; Cons</a:t>
            </a:r>
          </a:p>
        </p:txBody>
      </p:sp>
      <p:sp>
        <p:nvSpPr>
          <p:cNvPr id="3" name="Segnaposto contenuto 2">
            <a:extLst>
              <a:ext uri="{FF2B5EF4-FFF2-40B4-BE49-F238E27FC236}">
                <a16:creationId xmlns:a16="http://schemas.microsoft.com/office/drawing/2014/main" id="{33E232EE-2D76-0932-4F14-0AF2DEB581AF}"/>
              </a:ext>
            </a:extLst>
          </p:cNvPr>
          <p:cNvSpPr>
            <a:spLocks noGrp="1"/>
          </p:cNvSpPr>
          <p:nvPr>
            <p:ph idx="1"/>
          </p:nvPr>
        </p:nvSpPr>
        <p:spPr/>
        <p:txBody>
          <a:bodyPr/>
          <a:lstStyle/>
          <a:p>
            <a:r>
              <a:rPr lang="en-GB" noProof="0" dirty="0"/>
              <a:t>CON</a:t>
            </a:r>
          </a:p>
          <a:p>
            <a:pPr lvl="1"/>
            <a:r>
              <a:rPr lang="en-GB" noProof="0" dirty="0"/>
              <a:t>Less control over query optimization and performance (but it is possible to use direct SQL queries)</a:t>
            </a:r>
          </a:p>
          <a:p>
            <a:pPr lvl="1"/>
            <a:r>
              <a:rPr lang="en-GB" noProof="0" dirty="0"/>
              <a:t>Potential overhead compared to manually optimized SQL</a:t>
            </a:r>
          </a:p>
          <a:p>
            <a:pPr lvl="1"/>
            <a:r>
              <a:rPr lang="en-GB" noProof="0" dirty="0"/>
              <a:t>Learning curve for ORM frameworks and configurations</a:t>
            </a:r>
          </a:p>
        </p:txBody>
      </p:sp>
    </p:spTree>
    <p:extLst>
      <p:ext uri="{BB962C8B-B14F-4D97-AF65-F5344CB8AC3E}">
        <p14:creationId xmlns:p14="http://schemas.microsoft.com/office/powerpoint/2010/main" val="2117114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3CFF3-74C0-DB64-17E5-6AE18364E902}"/>
              </a:ext>
            </a:extLst>
          </p:cNvPr>
          <p:cNvSpPr>
            <a:spLocks noGrp="1"/>
          </p:cNvSpPr>
          <p:nvPr>
            <p:ph type="title"/>
          </p:nvPr>
        </p:nvSpPr>
        <p:spPr/>
        <p:txBody>
          <a:bodyPr/>
          <a:lstStyle/>
          <a:p>
            <a:r>
              <a:rPr lang="en-GB" noProof="0" dirty="0"/>
              <a:t>JPA</a:t>
            </a:r>
          </a:p>
        </p:txBody>
      </p:sp>
      <p:sp>
        <p:nvSpPr>
          <p:cNvPr id="4" name="Text Placeholder 3">
            <a:extLst>
              <a:ext uri="{FF2B5EF4-FFF2-40B4-BE49-F238E27FC236}">
                <a16:creationId xmlns:a16="http://schemas.microsoft.com/office/drawing/2014/main" id="{41451EDF-C2A4-A3CD-E3A9-FDF94A51FA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85117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58585-62A9-2CF5-28DA-AB5B126D8603}"/>
              </a:ext>
            </a:extLst>
          </p:cNvPr>
          <p:cNvSpPr>
            <a:spLocks noGrp="1"/>
          </p:cNvSpPr>
          <p:nvPr>
            <p:ph type="title"/>
          </p:nvPr>
        </p:nvSpPr>
        <p:spPr/>
        <p:txBody>
          <a:bodyPr/>
          <a:lstStyle/>
          <a:p>
            <a:r>
              <a:rPr lang="en-GB" noProof="0" dirty="0"/>
              <a:t>JPA</a:t>
            </a:r>
          </a:p>
        </p:txBody>
      </p:sp>
      <p:sp>
        <p:nvSpPr>
          <p:cNvPr id="3" name="Content Placeholder 2">
            <a:extLst>
              <a:ext uri="{FF2B5EF4-FFF2-40B4-BE49-F238E27FC236}">
                <a16:creationId xmlns:a16="http://schemas.microsoft.com/office/drawing/2014/main" id="{7E9F1AD9-DC34-8B3D-CB7B-ECB587919656}"/>
              </a:ext>
            </a:extLst>
          </p:cNvPr>
          <p:cNvSpPr>
            <a:spLocks noGrp="1"/>
          </p:cNvSpPr>
          <p:nvPr>
            <p:ph idx="1"/>
          </p:nvPr>
        </p:nvSpPr>
        <p:spPr/>
        <p:txBody>
          <a:bodyPr>
            <a:normAutofit fontScale="92500" lnSpcReduction="20000"/>
          </a:bodyPr>
          <a:lstStyle/>
          <a:p>
            <a:r>
              <a:rPr lang="en-GB" noProof="0" dirty="0"/>
              <a:t>Jakarta Persistence API (JPA), formerly Java Persistence API, is a Java specification for managing relational data using an object-oriented approach. </a:t>
            </a:r>
          </a:p>
          <a:p>
            <a:r>
              <a:rPr lang="en-GB" noProof="0" dirty="0"/>
              <a:t>It defines a standard way to </a:t>
            </a:r>
          </a:p>
          <a:p>
            <a:pPr lvl="1"/>
            <a:r>
              <a:rPr lang="en-GB" noProof="0" dirty="0"/>
              <a:t>map Java objects to database tables, </a:t>
            </a:r>
          </a:p>
          <a:p>
            <a:pPr lvl="1"/>
            <a:r>
              <a:rPr lang="en-GB" noProof="0" dirty="0"/>
              <a:t>manage entity lifecycle, and </a:t>
            </a:r>
          </a:p>
          <a:p>
            <a:pPr lvl="1"/>
            <a:r>
              <a:rPr lang="en-GB" noProof="0" dirty="0"/>
              <a:t>execute queries.</a:t>
            </a:r>
          </a:p>
          <a:p>
            <a:r>
              <a:rPr lang="en-GB" noProof="0" dirty="0"/>
              <a:t>It does not provide an implementation</a:t>
            </a:r>
            <a:endParaRPr lang="en-GB" dirty="0"/>
          </a:p>
          <a:p>
            <a:pPr lvl="1"/>
            <a:r>
              <a:rPr lang="en-GB" noProof="0" dirty="0"/>
              <a:t>it relies on providers such as Hibernate to handle persistence operations.</a:t>
            </a:r>
          </a:p>
        </p:txBody>
      </p:sp>
    </p:spTree>
    <p:extLst>
      <p:ext uri="{BB962C8B-B14F-4D97-AF65-F5344CB8AC3E}">
        <p14:creationId xmlns:p14="http://schemas.microsoft.com/office/powerpoint/2010/main" val="2475190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A4131-524C-8D2B-3D0C-AFB78D235D0F}"/>
              </a:ext>
            </a:extLst>
          </p:cNvPr>
          <p:cNvSpPr>
            <a:spLocks noGrp="1"/>
          </p:cNvSpPr>
          <p:nvPr>
            <p:ph type="title"/>
          </p:nvPr>
        </p:nvSpPr>
        <p:spPr/>
        <p:txBody>
          <a:bodyPr/>
          <a:lstStyle/>
          <a:p>
            <a:r>
              <a:rPr lang="en-GB" noProof="0" dirty="0"/>
              <a:t>Mapping</a:t>
            </a:r>
          </a:p>
        </p:txBody>
      </p:sp>
      <p:sp>
        <p:nvSpPr>
          <p:cNvPr id="3" name="Content Placeholder 2">
            <a:extLst>
              <a:ext uri="{FF2B5EF4-FFF2-40B4-BE49-F238E27FC236}">
                <a16:creationId xmlns:a16="http://schemas.microsoft.com/office/drawing/2014/main" id="{14842A2A-69E5-00F9-4A12-1D729EBD8AF0}"/>
              </a:ext>
            </a:extLst>
          </p:cNvPr>
          <p:cNvSpPr>
            <a:spLocks noGrp="1"/>
          </p:cNvSpPr>
          <p:nvPr>
            <p:ph idx="1"/>
          </p:nvPr>
        </p:nvSpPr>
        <p:spPr>
          <a:xfrm>
            <a:off x="685800" y="1295400"/>
            <a:ext cx="8150225" cy="5013920"/>
          </a:xfrm>
        </p:spPr>
        <p:txBody>
          <a:bodyPr>
            <a:normAutofit fontScale="85000" lnSpcReduction="20000"/>
          </a:bodyPr>
          <a:lstStyle/>
          <a:p>
            <a:r>
              <a:rPr lang="en-GB" noProof="0" dirty="0"/>
              <a:t>JPA provides two approaches for defining entity mappings:</a:t>
            </a:r>
          </a:p>
          <a:p>
            <a:pPr lvl="1"/>
            <a:r>
              <a:rPr lang="en-GB" noProof="0" dirty="0"/>
              <a:t>Annotations </a:t>
            </a:r>
          </a:p>
          <a:p>
            <a:pPr lvl="1"/>
            <a:r>
              <a:rPr lang="en-GB" noProof="0" dirty="0"/>
              <a:t>XML-based (mostly for legacy systems)</a:t>
            </a:r>
          </a:p>
          <a:p>
            <a:r>
              <a:rPr lang="en-GB" noProof="0" dirty="0"/>
              <a:t>We will focus on annotations approach</a:t>
            </a:r>
          </a:p>
          <a:p>
            <a:r>
              <a:rPr lang="en-GB" noProof="0" dirty="0"/>
              <a:t>JPA annotations are applied at different levels:</a:t>
            </a:r>
          </a:p>
          <a:p>
            <a:pPr lvl="1"/>
            <a:r>
              <a:rPr lang="en-GB" noProof="0" dirty="0"/>
              <a:t>Entity-Level: defines an entity and its table mapping</a:t>
            </a:r>
          </a:p>
          <a:p>
            <a:pPr lvl="1"/>
            <a:r>
              <a:rPr lang="en-GB" noProof="0" dirty="0"/>
              <a:t>Field-Level: defines the mapping of individual fields to database columns</a:t>
            </a:r>
          </a:p>
          <a:p>
            <a:pPr lvl="1"/>
            <a:r>
              <a:rPr lang="en-GB" noProof="0" dirty="0"/>
              <a:t>Relationship-Level: defines associations between entities</a:t>
            </a:r>
          </a:p>
        </p:txBody>
      </p:sp>
    </p:spTree>
    <p:extLst>
      <p:ext uri="{BB962C8B-B14F-4D97-AF65-F5344CB8AC3E}">
        <p14:creationId xmlns:p14="http://schemas.microsoft.com/office/powerpoint/2010/main" val="1670692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32B46-947F-EBC0-36AE-BB27BFE311F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091C958-D626-690F-8152-8EE13F1819DC}"/>
              </a:ext>
            </a:extLst>
          </p:cNvPr>
          <p:cNvSpPr>
            <a:spLocks noGrp="1"/>
          </p:cNvSpPr>
          <p:nvPr>
            <p:ph type="title"/>
          </p:nvPr>
        </p:nvSpPr>
        <p:spPr/>
        <p:txBody>
          <a:bodyPr/>
          <a:lstStyle/>
          <a:p>
            <a:r>
              <a:rPr lang="en-GB" noProof="0" dirty="0"/>
              <a:t>Entity – Definition</a:t>
            </a:r>
          </a:p>
        </p:txBody>
      </p:sp>
      <p:sp>
        <p:nvSpPr>
          <p:cNvPr id="3" name="Segnaposto contenuto 2">
            <a:extLst>
              <a:ext uri="{FF2B5EF4-FFF2-40B4-BE49-F238E27FC236}">
                <a16:creationId xmlns:a16="http://schemas.microsoft.com/office/drawing/2014/main" id="{DA161FFE-13F5-3594-269B-C6198C38604B}"/>
              </a:ext>
            </a:extLst>
          </p:cNvPr>
          <p:cNvSpPr>
            <a:spLocks noGrp="1"/>
          </p:cNvSpPr>
          <p:nvPr>
            <p:ph idx="1"/>
          </p:nvPr>
        </p:nvSpPr>
        <p:spPr/>
        <p:txBody>
          <a:bodyPr>
            <a:normAutofit/>
          </a:bodyPr>
          <a:lstStyle/>
          <a:p>
            <a:pPr marL="0" indent="0">
              <a:buNone/>
            </a:pPr>
            <a:r>
              <a:rPr lang="en-GB" noProof="0" dirty="0"/>
              <a:t>An </a:t>
            </a:r>
            <a:r>
              <a:rPr lang="en-GB" noProof="0" dirty="0">
                <a:solidFill>
                  <a:schemeClr val="accent6">
                    <a:lumMod val="75000"/>
                  </a:schemeClr>
                </a:solidFill>
              </a:rPr>
              <a:t>entity</a:t>
            </a:r>
            <a:r>
              <a:rPr lang="en-GB" noProof="0" dirty="0"/>
              <a:t> is a purely structural component that represents a persistent object that is mapped to a database table. It is a fundamental building block of the application's domain model and serves as an abstraction over relational database records.</a:t>
            </a:r>
          </a:p>
        </p:txBody>
      </p:sp>
    </p:spTree>
    <p:extLst>
      <p:ext uri="{BB962C8B-B14F-4D97-AF65-F5344CB8AC3E}">
        <p14:creationId xmlns:p14="http://schemas.microsoft.com/office/powerpoint/2010/main" val="3688029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EB5890-CB28-3C88-8671-5BA7DF8ED9C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EC0817C-3BAB-E55A-B7E2-FB2592F9E1F3}"/>
              </a:ext>
            </a:extLst>
          </p:cNvPr>
          <p:cNvSpPr>
            <a:spLocks noGrp="1"/>
          </p:cNvSpPr>
          <p:nvPr>
            <p:ph type="title"/>
          </p:nvPr>
        </p:nvSpPr>
        <p:spPr/>
        <p:txBody>
          <a:bodyPr/>
          <a:lstStyle/>
          <a:p>
            <a:r>
              <a:rPr lang="en-GB" noProof="0" dirty="0"/>
              <a:t>Entity – Key Features</a:t>
            </a:r>
          </a:p>
        </p:txBody>
      </p:sp>
      <p:sp>
        <p:nvSpPr>
          <p:cNvPr id="3" name="Segnaposto contenuto 2">
            <a:extLst>
              <a:ext uri="{FF2B5EF4-FFF2-40B4-BE49-F238E27FC236}">
                <a16:creationId xmlns:a16="http://schemas.microsoft.com/office/drawing/2014/main" id="{C571EBE6-7640-E7FE-080E-867717ABC4E3}"/>
              </a:ext>
            </a:extLst>
          </p:cNvPr>
          <p:cNvSpPr>
            <a:spLocks noGrp="1"/>
          </p:cNvSpPr>
          <p:nvPr>
            <p:ph idx="1"/>
          </p:nvPr>
        </p:nvSpPr>
        <p:spPr/>
        <p:txBody>
          <a:bodyPr>
            <a:normAutofit fontScale="85000" lnSpcReduction="20000"/>
          </a:bodyPr>
          <a:lstStyle/>
          <a:p>
            <a:r>
              <a:rPr lang="en-GB" noProof="0" dirty="0"/>
              <a:t>Entities encapsulate only data structure and constraints, without containing business logic</a:t>
            </a:r>
          </a:p>
          <a:p>
            <a:r>
              <a:rPr lang="en-GB" noProof="0" dirty="0"/>
              <a:t>Each entity instance corresponds to a row in a relational table</a:t>
            </a:r>
          </a:p>
          <a:p>
            <a:r>
              <a:rPr lang="en-GB" noProof="0" dirty="0"/>
              <a:t>Defines fields (mapped to table columns) and relationships with other entities</a:t>
            </a:r>
          </a:p>
          <a:p>
            <a:r>
              <a:rPr lang="en-GB" noProof="0" dirty="0"/>
              <a:t>Must have at least one primary key to ensure uniqueness</a:t>
            </a:r>
          </a:p>
          <a:p>
            <a:r>
              <a:rPr lang="en-GB" noProof="0" dirty="0"/>
              <a:t>By defining entities, we model the </a:t>
            </a:r>
            <a:r>
              <a:rPr lang="en-GB" b="1" i="1" noProof="0" dirty="0"/>
              <a:t>granularity</a:t>
            </a:r>
            <a:r>
              <a:rPr lang="en-GB" noProof="0" dirty="0"/>
              <a:t> of the object domain, ensuring a structured representation of data in the application</a:t>
            </a:r>
            <a:endParaRPr lang="en-GB" b="1" noProof="0" dirty="0"/>
          </a:p>
        </p:txBody>
      </p:sp>
    </p:spTree>
    <p:extLst>
      <p:ext uri="{BB962C8B-B14F-4D97-AF65-F5344CB8AC3E}">
        <p14:creationId xmlns:p14="http://schemas.microsoft.com/office/powerpoint/2010/main" val="4152839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9184E4-21AC-C8E7-02A9-DE09BD331B8A}"/>
              </a:ext>
            </a:extLst>
          </p:cNvPr>
          <p:cNvSpPr>
            <a:spLocks noGrp="1"/>
          </p:cNvSpPr>
          <p:nvPr>
            <p:ph type="title"/>
          </p:nvPr>
        </p:nvSpPr>
        <p:spPr/>
        <p:txBody>
          <a:bodyPr/>
          <a:lstStyle/>
          <a:p>
            <a:r>
              <a:rPr lang="en-GB" noProof="0" dirty="0"/>
              <a:t>Entity Mapping</a:t>
            </a:r>
          </a:p>
        </p:txBody>
      </p:sp>
      <p:sp>
        <p:nvSpPr>
          <p:cNvPr id="3" name="Segnaposto contenuto 2">
            <a:extLst>
              <a:ext uri="{FF2B5EF4-FFF2-40B4-BE49-F238E27FC236}">
                <a16:creationId xmlns:a16="http://schemas.microsoft.com/office/drawing/2014/main" id="{4F140862-A7B4-9FB0-84AD-B2807608B64F}"/>
              </a:ext>
            </a:extLst>
          </p:cNvPr>
          <p:cNvSpPr>
            <a:spLocks noGrp="1"/>
          </p:cNvSpPr>
          <p:nvPr>
            <p:ph idx="1"/>
          </p:nvPr>
        </p:nvSpPr>
        <p:spPr/>
        <p:txBody>
          <a:bodyPr>
            <a:normAutofit/>
          </a:bodyPr>
          <a:lstStyle/>
          <a:p>
            <a:r>
              <a:rPr lang="en-GB" b="1" noProof="0" dirty="0">
                <a:solidFill>
                  <a:schemeClr val="accent6">
                    <a:lumMod val="75000"/>
                  </a:schemeClr>
                </a:solidFill>
                <a:latin typeface="Courier New" panose="02070309020205020404" pitchFamily="49" charset="0"/>
                <a:cs typeface="Courier New" panose="02070309020205020404" pitchFamily="49" charset="0"/>
              </a:rPr>
              <a:t>@Entity </a:t>
            </a:r>
          </a:p>
          <a:p>
            <a:pPr lvl="1"/>
            <a:r>
              <a:rPr lang="en-GB" noProof="0" dirty="0"/>
              <a:t>Marks a class as a JPA entity.</a:t>
            </a:r>
          </a:p>
          <a:p>
            <a:pPr lvl="1"/>
            <a:r>
              <a:rPr lang="en-GB" noProof="0" dirty="0"/>
              <a:t>The class must have a no-argument constructor.</a:t>
            </a:r>
          </a:p>
          <a:p>
            <a:pPr lvl="1"/>
            <a:r>
              <a:rPr lang="en-GB" noProof="0" dirty="0"/>
              <a:t>The table name defaults to the class name.</a:t>
            </a:r>
          </a:p>
        </p:txBody>
      </p:sp>
    </p:spTree>
    <p:extLst>
      <p:ext uri="{BB962C8B-B14F-4D97-AF65-F5344CB8AC3E}">
        <p14:creationId xmlns:p14="http://schemas.microsoft.com/office/powerpoint/2010/main" val="675757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9184E4-21AC-C8E7-02A9-DE09BD331B8A}"/>
              </a:ext>
            </a:extLst>
          </p:cNvPr>
          <p:cNvSpPr>
            <a:spLocks noGrp="1"/>
          </p:cNvSpPr>
          <p:nvPr>
            <p:ph type="title"/>
          </p:nvPr>
        </p:nvSpPr>
        <p:spPr/>
        <p:txBody>
          <a:bodyPr/>
          <a:lstStyle/>
          <a:p>
            <a:r>
              <a:rPr lang="en-GB" noProof="0" dirty="0"/>
              <a:t>Entity Mapping Table</a:t>
            </a:r>
          </a:p>
        </p:txBody>
      </p:sp>
      <p:sp>
        <p:nvSpPr>
          <p:cNvPr id="3" name="Segnaposto contenuto 2">
            <a:extLst>
              <a:ext uri="{FF2B5EF4-FFF2-40B4-BE49-F238E27FC236}">
                <a16:creationId xmlns:a16="http://schemas.microsoft.com/office/drawing/2014/main" id="{4F140862-A7B4-9FB0-84AD-B2807608B64F}"/>
              </a:ext>
            </a:extLst>
          </p:cNvPr>
          <p:cNvSpPr>
            <a:spLocks noGrp="1"/>
          </p:cNvSpPr>
          <p:nvPr>
            <p:ph idx="1"/>
          </p:nvPr>
        </p:nvSpPr>
        <p:spPr/>
        <p:txBody>
          <a:bodyPr>
            <a:normAutofit/>
          </a:bodyPr>
          <a:lstStyle/>
          <a:p>
            <a:r>
              <a:rPr lang="en-GB" b="1" noProof="0" dirty="0">
                <a:latin typeface="Courier New" panose="02070309020205020404" pitchFamily="49" charset="0"/>
                <a:cs typeface="Courier New" panose="02070309020205020404" pitchFamily="49" charset="0"/>
              </a:rPr>
              <a:t>@Table(name, indexes...)</a:t>
            </a:r>
          </a:p>
          <a:p>
            <a:pPr lvl="1"/>
            <a:r>
              <a:rPr lang="en-GB" noProof="0" dirty="0"/>
              <a:t>Specifies the database table on which the entity will be mapped</a:t>
            </a:r>
          </a:p>
          <a:p>
            <a:pPr lvl="1"/>
            <a:r>
              <a:rPr lang="en-GB" noProof="0" dirty="0"/>
              <a:t>name (String, optional): the name of the </a:t>
            </a:r>
            <a:r>
              <a:rPr lang="en-GB" noProof="0" dirty="0" err="1"/>
              <a:t>db</a:t>
            </a:r>
            <a:r>
              <a:rPr lang="en-GB" noProof="0" dirty="0"/>
              <a:t> table</a:t>
            </a:r>
          </a:p>
          <a:p>
            <a:pPr lvl="1"/>
            <a:r>
              <a:rPr lang="en-GB" noProof="0" dirty="0"/>
              <a:t>indexes (Index[], optional): array of the indexes of the table</a:t>
            </a:r>
          </a:p>
        </p:txBody>
      </p:sp>
    </p:spTree>
    <p:extLst>
      <p:ext uri="{BB962C8B-B14F-4D97-AF65-F5344CB8AC3E}">
        <p14:creationId xmlns:p14="http://schemas.microsoft.com/office/powerpoint/2010/main" val="3677663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7F0B5D-AA28-EC10-27AF-FCA8FBA9139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44AFB98-37CE-C263-9D04-C6981F60580A}"/>
              </a:ext>
            </a:extLst>
          </p:cNvPr>
          <p:cNvSpPr>
            <a:spLocks noGrp="1"/>
          </p:cNvSpPr>
          <p:nvPr>
            <p:ph type="title"/>
          </p:nvPr>
        </p:nvSpPr>
        <p:spPr/>
        <p:txBody>
          <a:bodyPr/>
          <a:lstStyle/>
          <a:p>
            <a:r>
              <a:rPr lang="en-GB" noProof="0" dirty="0"/>
              <a:t>Entity Mapping - Index</a:t>
            </a:r>
          </a:p>
        </p:txBody>
      </p:sp>
      <p:sp>
        <p:nvSpPr>
          <p:cNvPr id="3" name="Segnaposto contenuto 2">
            <a:extLst>
              <a:ext uri="{FF2B5EF4-FFF2-40B4-BE49-F238E27FC236}">
                <a16:creationId xmlns:a16="http://schemas.microsoft.com/office/drawing/2014/main" id="{A5B4DF18-EE32-E36E-6614-D0D8AB4F3AF6}"/>
              </a:ext>
            </a:extLst>
          </p:cNvPr>
          <p:cNvSpPr>
            <a:spLocks noGrp="1"/>
          </p:cNvSpPr>
          <p:nvPr>
            <p:ph idx="1"/>
          </p:nvPr>
        </p:nvSpPr>
        <p:spPr/>
        <p:txBody>
          <a:bodyPr>
            <a:normAutofit fontScale="92500" lnSpcReduction="20000"/>
          </a:bodyPr>
          <a:lstStyle/>
          <a:p>
            <a:r>
              <a:rPr lang="en-GB" noProof="0" dirty="0"/>
              <a:t>Indexes are defined in the @Table annotation </a:t>
            </a:r>
          </a:p>
          <a:p>
            <a:r>
              <a:rPr lang="en-GB" b="1" noProof="0" dirty="0">
                <a:latin typeface="Courier New" panose="02070309020205020404" pitchFamily="49" charset="0"/>
                <a:cs typeface="Courier New" panose="02070309020205020404" pitchFamily="49" charset="0"/>
              </a:rPr>
              <a:t>@Index(name, </a:t>
            </a:r>
            <a:r>
              <a:rPr lang="en-GB" b="1" noProof="0" dirty="0" err="1">
                <a:latin typeface="Courier New" panose="02070309020205020404" pitchFamily="49" charset="0"/>
                <a:cs typeface="Courier New" panose="02070309020205020404" pitchFamily="49" charset="0"/>
              </a:rPr>
              <a:t>columnList</a:t>
            </a:r>
            <a:r>
              <a:rPr lang="en-GB" b="1" noProof="0" dirty="0">
                <a:latin typeface="Courier New" panose="02070309020205020404" pitchFamily="49" charset="0"/>
                <a:cs typeface="Courier New" panose="02070309020205020404" pitchFamily="49" charset="0"/>
              </a:rPr>
              <a:t>, unique)</a:t>
            </a:r>
          </a:p>
          <a:p>
            <a:pPr lvl="1"/>
            <a:r>
              <a:rPr lang="en-GB" b="1" noProof="0" dirty="0">
                <a:latin typeface="Courier New" panose="02070309020205020404" pitchFamily="49" charset="0"/>
                <a:cs typeface="Courier New" panose="02070309020205020404" pitchFamily="49" charset="0"/>
              </a:rPr>
              <a:t>name</a:t>
            </a:r>
            <a:r>
              <a:rPr lang="en-GB" noProof="0" dirty="0"/>
              <a:t>: (String) the name of the index</a:t>
            </a:r>
          </a:p>
          <a:p>
            <a:pPr lvl="1"/>
            <a:r>
              <a:rPr lang="en-GB" b="1" dirty="0" err="1">
                <a:latin typeface="Courier New" panose="02070309020205020404" pitchFamily="49" charset="0"/>
                <a:cs typeface="Courier New" panose="02070309020205020404" pitchFamily="49" charset="0"/>
              </a:rPr>
              <a:t>columnList</a:t>
            </a:r>
            <a:r>
              <a:rPr lang="en-GB" noProof="0" dirty="0"/>
              <a:t>: (String) comma-separated list of column names that will be included in the index. </a:t>
            </a:r>
          </a:p>
          <a:p>
            <a:pPr lvl="1"/>
            <a:r>
              <a:rPr lang="en-GB" b="1" dirty="0">
                <a:latin typeface="Courier New" panose="02070309020205020404" pitchFamily="49" charset="0"/>
                <a:cs typeface="Courier New" panose="02070309020205020404" pitchFamily="49" charset="0"/>
              </a:rPr>
              <a:t>unique</a:t>
            </a:r>
            <a:r>
              <a:rPr lang="en-GB" noProof="0" dirty="0"/>
              <a:t>: (</a:t>
            </a:r>
            <a:r>
              <a:rPr lang="en-GB" noProof="0" dirty="0" err="1"/>
              <a:t>boolean</a:t>
            </a:r>
            <a:r>
              <a:rPr lang="en-GB" noProof="0" dirty="0"/>
              <a:t>, default: false) whether the index enforces uniqueness across all indexed columns. If multiple columns are indexed together, their combination must be unique</a:t>
            </a:r>
          </a:p>
        </p:txBody>
      </p:sp>
    </p:spTree>
    <p:extLst>
      <p:ext uri="{BB962C8B-B14F-4D97-AF65-F5344CB8AC3E}">
        <p14:creationId xmlns:p14="http://schemas.microsoft.com/office/powerpoint/2010/main" val="1744274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C17FA-3FE5-1594-F27E-9D4E22EC99B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169B925-A91D-163F-4FAE-0C478B2B9361}"/>
              </a:ext>
            </a:extLst>
          </p:cNvPr>
          <p:cNvSpPr>
            <a:spLocks noGrp="1"/>
          </p:cNvSpPr>
          <p:nvPr>
            <p:ph type="title"/>
          </p:nvPr>
        </p:nvSpPr>
        <p:spPr/>
        <p:txBody>
          <a:bodyPr/>
          <a:lstStyle/>
          <a:p>
            <a:r>
              <a:rPr lang="en-GB" noProof="0" dirty="0"/>
              <a:t>Entity Mapping - Inheritance</a:t>
            </a:r>
          </a:p>
        </p:txBody>
      </p:sp>
      <p:sp>
        <p:nvSpPr>
          <p:cNvPr id="3" name="Segnaposto contenuto 2">
            <a:extLst>
              <a:ext uri="{FF2B5EF4-FFF2-40B4-BE49-F238E27FC236}">
                <a16:creationId xmlns:a16="http://schemas.microsoft.com/office/drawing/2014/main" id="{F17E9F16-B7A4-2599-8265-328981ADD12B}"/>
              </a:ext>
            </a:extLst>
          </p:cNvPr>
          <p:cNvSpPr>
            <a:spLocks noGrp="1"/>
          </p:cNvSpPr>
          <p:nvPr>
            <p:ph idx="1"/>
          </p:nvPr>
        </p:nvSpPr>
        <p:spPr/>
        <p:txBody>
          <a:bodyPr>
            <a:normAutofit fontScale="77500" lnSpcReduction="20000"/>
          </a:bodyPr>
          <a:lstStyle/>
          <a:p>
            <a:r>
              <a:rPr lang="en-GB" sz="2800" noProof="0" dirty="0"/>
              <a:t>Relational databases do not support </a:t>
            </a:r>
            <a:r>
              <a:rPr lang="en-GB" sz="2800" i="1" noProof="0" dirty="0"/>
              <a:t>subtypes</a:t>
            </a:r>
            <a:r>
              <a:rPr lang="en-GB" sz="2800" noProof="0" dirty="0"/>
              <a:t> (</a:t>
            </a:r>
            <a:r>
              <a:rPr lang="en-GB" sz="2800" i="1" noProof="0" dirty="0"/>
              <a:t>inheritance</a:t>
            </a:r>
            <a:r>
              <a:rPr lang="en-GB" sz="2800" noProof="0" dirty="0"/>
              <a:t>) natively, so ORM provides different strategies to map class hierarchies</a:t>
            </a:r>
          </a:p>
          <a:p>
            <a:r>
              <a:rPr lang="en-GB" sz="2800" b="1" noProof="0" dirty="0">
                <a:solidFill>
                  <a:schemeClr val="accent6">
                    <a:lumMod val="75000"/>
                  </a:schemeClr>
                </a:solidFill>
                <a:latin typeface="Courier New" panose="02070309020205020404" pitchFamily="49" charset="0"/>
                <a:cs typeface="Courier New" panose="02070309020205020404" pitchFamily="49" charset="0"/>
              </a:rPr>
              <a:t>@Inheritance</a:t>
            </a:r>
            <a:r>
              <a:rPr lang="en-GB" sz="2800" b="1" noProof="0" dirty="0">
                <a:latin typeface="Courier New" panose="02070309020205020404" pitchFamily="49" charset="0"/>
                <a:cs typeface="Courier New" panose="02070309020205020404" pitchFamily="49" charset="0"/>
              </a:rPr>
              <a:t>(strategy)</a:t>
            </a:r>
          </a:p>
          <a:p>
            <a:pPr lvl="1"/>
            <a:r>
              <a:rPr lang="en-GB" sz="2400" noProof="0" dirty="0"/>
              <a:t>specifies the inheritance strategy for an entity hierarchy</a:t>
            </a:r>
          </a:p>
          <a:p>
            <a:pPr lvl="1"/>
            <a:r>
              <a:rPr lang="en-GB" sz="2400" b="1" noProof="0" dirty="0">
                <a:solidFill>
                  <a:schemeClr val="accent6">
                    <a:lumMod val="75000"/>
                  </a:schemeClr>
                </a:solidFill>
                <a:latin typeface="Courier New" panose="02070309020205020404" pitchFamily="49" charset="0"/>
                <a:cs typeface="Courier New" panose="02070309020205020404" pitchFamily="49" charset="0"/>
              </a:rPr>
              <a:t>strategy</a:t>
            </a:r>
            <a:r>
              <a:rPr lang="en-GB" sz="2400" noProof="0" dirty="0"/>
              <a:t> (Enum: </a:t>
            </a:r>
            <a:r>
              <a:rPr lang="en-GB" sz="2400" noProof="0" dirty="0" err="1"/>
              <a:t>InheritanceType</a:t>
            </a:r>
            <a:r>
              <a:rPr lang="en-GB" sz="2400" noProof="0" dirty="0"/>
              <a:t>):</a:t>
            </a:r>
          </a:p>
          <a:p>
            <a:pPr lvl="2"/>
            <a:r>
              <a:rPr lang="en-GB" sz="2000" b="1" noProof="0" dirty="0">
                <a:solidFill>
                  <a:schemeClr val="accent6">
                    <a:lumMod val="75000"/>
                  </a:schemeClr>
                </a:solidFill>
                <a:latin typeface="Courier New" panose="02070309020205020404" pitchFamily="49" charset="0"/>
                <a:cs typeface="Courier New" panose="02070309020205020404" pitchFamily="49" charset="0"/>
              </a:rPr>
              <a:t>SINGLE_TABLE</a:t>
            </a:r>
            <a:r>
              <a:rPr lang="en-GB" sz="2000" noProof="0" dirty="0"/>
              <a:t>: one table for all subclasses with a type discriminator column</a:t>
            </a:r>
          </a:p>
          <a:p>
            <a:pPr lvl="2"/>
            <a:r>
              <a:rPr lang="en-GB" sz="2000" b="1" noProof="0" dirty="0">
                <a:solidFill>
                  <a:schemeClr val="accent6">
                    <a:lumMod val="75000"/>
                  </a:schemeClr>
                </a:solidFill>
                <a:latin typeface="Courier New" panose="02070309020205020404" pitchFamily="49" charset="0"/>
                <a:cs typeface="Courier New" panose="02070309020205020404" pitchFamily="49" charset="0"/>
              </a:rPr>
              <a:t>JOINED</a:t>
            </a:r>
            <a:r>
              <a:rPr lang="en-GB" sz="2000" noProof="0" dirty="0"/>
              <a:t>: separate tables linked through foreign keys</a:t>
            </a:r>
          </a:p>
          <a:p>
            <a:pPr lvl="2"/>
            <a:r>
              <a:rPr lang="en-GB" sz="2000" b="1" noProof="0" dirty="0">
                <a:solidFill>
                  <a:schemeClr val="accent6">
                    <a:lumMod val="75000"/>
                  </a:schemeClr>
                </a:solidFill>
                <a:latin typeface="Courier New" panose="02070309020205020404" pitchFamily="49" charset="0"/>
                <a:cs typeface="Courier New" panose="02070309020205020404" pitchFamily="49" charset="0"/>
              </a:rPr>
              <a:t>TABLE_PER_CLASS</a:t>
            </a:r>
            <a:r>
              <a:rPr lang="en-GB" sz="2000" noProof="0" dirty="0"/>
              <a:t>: one table per subclass with all its attributes</a:t>
            </a:r>
          </a:p>
          <a:p>
            <a:pPr lvl="1"/>
            <a:r>
              <a:rPr lang="en-GB" noProof="0" dirty="0"/>
              <a:t>Trade-offs:</a:t>
            </a:r>
          </a:p>
          <a:p>
            <a:pPr lvl="2"/>
            <a:r>
              <a:rPr lang="en-GB" noProof="0" dirty="0"/>
              <a:t>Single Table is more efficient but wastes space</a:t>
            </a:r>
          </a:p>
          <a:p>
            <a:pPr lvl="2"/>
            <a:r>
              <a:rPr lang="en-GB" noProof="0" dirty="0"/>
              <a:t>Joined Table normalizes data but adds complexity</a:t>
            </a:r>
          </a:p>
          <a:p>
            <a:pPr lvl="2"/>
            <a:r>
              <a:rPr lang="en-GB" noProof="0" dirty="0"/>
              <a:t>Table Per Class avoids duplication but makes querying harder</a:t>
            </a:r>
          </a:p>
        </p:txBody>
      </p:sp>
    </p:spTree>
    <p:extLst>
      <p:ext uri="{BB962C8B-B14F-4D97-AF65-F5344CB8AC3E}">
        <p14:creationId xmlns:p14="http://schemas.microsoft.com/office/powerpoint/2010/main" val="2744214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C17FA-3FE5-1594-F27E-9D4E22EC99B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169B925-A91D-163F-4FAE-0C478B2B9361}"/>
              </a:ext>
            </a:extLst>
          </p:cNvPr>
          <p:cNvSpPr>
            <a:spLocks noGrp="1"/>
          </p:cNvSpPr>
          <p:nvPr>
            <p:ph type="title"/>
          </p:nvPr>
        </p:nvSpPr>
        <p:spPr/>
        <p:txBody>
          <a:bodyPr/>
          <a:lstStyle/>
          <a:p>
            <a:r>
              <a:rPr lang="en-GB" noProof="0" dirty="0"/>
              <a:t>Entity Mapping - Inheritance</a:t>
            </a:r>
          </a:p>
        </p:txBody>
      </p:sp>
      <p:sp>
        <p:nvSpPr>
          <p:cNvPr id="3" name="Segnaposto contenuto 2">
            <a:extLst>
              <a:ext uri="{FF2B5EF4-FFF2-40B4-BE49-F238E27FC236}">
                <a16:creationId xmlns:a16="http://schemas.microsoft.com/office/drawing/2014/main" id="{F17E9F16-B7A4-2599-8265-328981ADD12B}"/>
              </a:ext>
            </a:extLst>
          </p:cNvPr>
          <p:cNvSpPr>
            <a:spLocks noGrp="1"/>
          </p:cNvSpPr>
          <p:nvPr>
            <p:ph idx="1"/>
          </p:nvPr>
        </p:nvSpPr>
        <p:spPr/>
        <p:txBody>
          <a:bodyPr>
            <a:normAutofit fontScale="70000" lnSpcReduction="20000"/>
          </a:bodyPr>
          <a:lstStyle/>
          <a:p>
            <a:r>
              <a:rPr lang="en-GB" b="1" noProof="0" dirty="0">
                <a:solidFill>
                  <a:schemeClr val="accent6">
                    <a:lumMod val="75000"/>
                  </a:schemeClr>
                </a:solidFill>
                <a:latin typeface="Courier New" panose="02070309020205020404" pitchFamily="49" charset="0"/>
                <a:cs typeface="Courier New" panose="02070309020205020404" pitchFamily="49" charset="0"/>
              </a:rPr>
              <a:t>@</a:t>
            </a:r>
            <a:r>
              <a:rPr lang="en-GB" b="1" noProof="0" dirty="0" err="1">
                <a:solidFill>
                  <a:schemeClr val="accent6">
                    <a:lumMod val="75000"/>
                  </a:schemeClr>
                </a:solidFill>
                <a:latin typeface="Courier New" panose="02070309020205020404" pitchFamily="49" charset="0"/>
                <a:cs typeface="Courier New" panose="02070309020205020404" pitchFamily="49" charset="0"/>
              </a:rPr>
              <a:t>DiscriminatorColumn</a:t>
            </a:r>
            <a:r>
              <a:rPr lang="en-GB" b="1" noProof="0" dirty="0">
                <a:latin typeface="Courier New" panose="02070309020205020404" pitchFamily="49" charset="0"/>
                <a:cs typeface="Courier New" panose="02070309020205020404" pitchFamily="49" charset="0"/>
              </a:rPr>
              <a:t>(name, </a:t>
            </a:r>
            <a:r>
              <a:rPr lang="en-GB" b="1" noProof="0" dirty="0" err="1">
                <a:latin typeface="Courier New" panose="02070309020205020404" pitchFamily="49" charset="0"/>
                <a:cs typeface="Courier New" panose="02070309020205020404" pitchFamily="49" charset="0"/>
              </a:rPr>
              <a:t>discriminatorType</a:t>
            </a:r>
            <a:r>
              <a:rPr lang="en-GB" b="1" noProof="0" dirty="0">
                <a:latin typeface="Courier New" panose="02070309020205020404" pitchFamily="49" charset="0"/>
                <a:cs typeface="Courier New" panose="02070309020205020404" pitchFamily="49" charset="0"/>
              </a:rPr>
              <a:t>, length) </a:t>
            </a:r>
            <a:r>
              <a:rPr lang="en-GB" noProof="0" dirty="0"/>
              <a:t>used with </a:t>
            </a:r>
            <a:r>
              <a:rPr lang="en-GB" b="1" noProof="0" dirty="0">
                <a:latin typeface="Courier New" panose="02070309020205020404" pitchFamily="49" charset="0"/>
                <a:cs typeface="Courier New" panose="02070309020205020404" pitchFamily="49" charset="0"/>
              </a:rPr>
              <a:t>SINGLE_TABLE </a:t>
            </a:r>
            <a:r>
              <a:rPr lang="en-GB" noProof="0" dirty="0"/>
              <a:t>inheritance to distinguish entity types</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name</a:t>
            </a:r>
            <a:r>
              <a:rPr lang="en-GB" noProof="0" dirty="0"/>
              <a:t> (String, default: "DTYPE"): name of the discriminator column</a:t>
            </a:r>
          </a:p>
          <a:p>
            <a:pPr lvl="1"/>
            <a:r>
              <a:rPr lang="en-GB" sz="2900" b="1" dirty="0" err="1">
                <a:solidFill>
                  <a:schemeClr val="accent6">
                    <a:lumMod val="75000"/>
                  </a:schemeClr>
                </a:solidFill>
                <a:latin typeface="Courier New" panose="02070309020205020404" pitchFamily="49" charset="0"/>
                <a:cs typeface="Courier New" panose="02070309020205020404" pitchFamily="49" charset="0"/>
              </a:rPr>
              <a:t>discriminatorType</a:t>
            </a:r>
            <a:r>
              <a:rPr lang="en-GB" noProof="0" dirty="0"/>
              <a:t> (Enum: </a:t>
            </a:r>
            <a:r>
              <a:rPr lang="en-GB" noProof="0" dirty="0" err="1"/>
              <a:t>DiscriminatorType</a:t>
            </a:r>
            <a:r>
              <a:rPr lang="en-GB" noProof="0" dirty="0"/>
              <a:t>): type of the column</a:t>
            </a:r>
          </a:p>
          <a:p>
            <a:pPr lvl="2"/>
            <a:r>
              <a:rPr lang="en-GB" noProof="0" dirty="0"/>
              <a:t>STRING | CHAR | INTEGER: </a:t>
            </a:r>
          </a:p>
          <a:p>
            <a:pPr lvl="1"/>
            <a:r>
              <a:rPr lang="en-GB" sz="2900" b="1" dirty="0">
                <a:solidFill>
                  <a:schemeClr val="accent6">
                    <a:lumMod val="75000"/>
                  </a:schemeClr>
                </a:solidFill>
                <a:latin typeface="Courier New" panose="02070309020205020404" pitchFamily="49" charset="0"/>
                <a:cs typeface="Courier New" panose="02070309020205020404" pitchFamily="49" charset="0"/>
              </a:rPr>
              <a:t>length</a:t>
            </a:r>
            <a:r>
              <a:rPr lang="en-GB" noProof="0" dirty="0"/>
              <a:t> (Integer, default: 31): max length for STRING type</a:t>
            </a:r>
          </a:p>
          <a:p>
            <a:r>
              <a:rPr lang="en-GB" b="1" noProof="0" dirty="0">
                <a:solidFill>
                  <a:schemeClr val="accent6">
                    <a:lumMod val="75000"/>
                  </a:schemeClr>
                </a:solidFill>
                <a:latin typeface="Courier New" panose="02070309020205020404" pitchFamily="49" charset="0"/>
                <a:cs typeface="Courier New" panose="02070309020205020404" pitchFamily="49" charset="0"/>
              </a:rPr>
              <a:t>@</a:t>
            </a:r>
            <a:r>
              <a:rPr lang="en-GB" b="1" noProof="0" dirty="0" err="1">
                <a:solidFill>
                  <a:schemeClr val="accent6">
                    <a:lumMod val="75000"/>
                  </a:schemeClr>
                </a:solidFill>
                <a:latin typeface="Courier New" panose="02070309020205020404" pitchFamily="49" charset="0"/>
                <a:cs typeface="Courier New" panose="02070309020205020404" pitchFamily="49" charset="0"/>
              </a:rPr>
              <a:t>DiscriminatorValue</a:t>
            </a:r>
            <a:r>
              <a:rPr lang="en-GB" b="1" noProof="0" dirty="0">
                <a:latin typeface="Courier New" panose="02070309020205020404" pitchFamily="49" charset="0"/>
                <a:cs typeface="Courier New" panose="02070309020205020404" pitchFamily="49" charset="0"/>
              </a:rPr>
              <a:t>(value)</a:t>
            </a:r>
          </a:p>
          <a:p>
            <a:pPr lvl="1"/>
            <a:r>
              <a:rPr lang="en-GB" noProof="0" dirty="0"/>
              <a:t>defines the value stored in the discriminator column for a specific entity</a:t>
            </a:r>
          </a:p>
          <a:p>
            <a:pPr lvl="1"/>
            <a:r>
              <a:rPr lang="en-GB" sz="2900" b="1" dirty="0">
                <a:solidFill>
                  <a:schemeClr val="accent6">
                    <a:lumMod val="75000"/>
                  </a:schemeClr>
                </a:solidFill>
                <a:latin typeface="Courier New" panose="02070309020205020404" pitchFamily="49" charset="0"/>
                <a:cs typeface="Courier New" panose="02070309020205020404" pitchFamily="49" charset="0"/>
              </a:rPr>
              <a:t>value</a:t>
            </a:r>
            <a:r>
              <a:rPr lang="en-GB" noProof="0" dirty="0"/>
              <a:t> (String): discriminator value for this entity</a:t>
            </a:r>
          </a:p>
          <a:p>
            <a:endParaRPr lang="en-GB" noProof="0" dirty="0"/>
          </a:p>
        </p:txBody>
      </p:sp>
    </p:spTree>
    <p:extLst>
      <p:ext uri="{BB962C8B-B14F-4D97-AF65-F5344CB8AC3E}">
        <p14:creationId xmlns:p14="http://schemas.microsoft.com/office/powerpoint/2010/main" val="824137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BB976CE-F072-3DE3-E45F-4293B426E140}"/>
              </a:ext>
            </a:extLst>
          </p:cNvPr>
          <p:cNvSpPr>
            <a:spLocks noGrp="1"/>
          </p:cNvSpPr>
          <p:nvPr>
            <p:ph type="title"/>
          </p:nvPr>
        </p:nvSpPr>
        <p:spPr/>
        <p:txBody>
          <a:bodyPr/>
          <a:lstStyle/>
          <a:p>
            <a:r>
              <a:rPr lang="en-US" dirty="0"/>
              <a:t>Entity Mapping - Inheritance</a:t>
            </a:r>
            <a:endParaRPr lang="it-IT" dirty="0"/>
          </a:p>
        </p:txBody>
      </p:sp>
      <p:sp>
        <p:nvSpPr>
          <p:cNvPr id="3" name="Segnaposto contenuto 2">
            <a:extLst>
              <a:ext uri="{FF2B5EF4-FFF2-40B4-BE49-F238E27FC236}">
                <a16:creationId xmlns:a16="http://schemas.microsoft.com/office/drawing/2014/main" id="{65F38638-2926-87C8-B52C-E59397684572}"/>
              </a:ext>
            </a:extLst>
          </p:cNvPr>
          <p:cNvSpPr>
            <a:spLocks noGrp="1"/>
          </p:cNvSpPr>
          <p:nvPr>
            <p:ph idx="1"/>
          </p:nvPr>
        </p:nvSpPr>
        <p:spPr>
          <a:xfrm>
            <a:off x="685800" y="1295400"/>
            <a:ext cx="8150225" cy="5157936"/>
          </a:xfrm>
        </p:spPr>
        <p:txBody>
          <a:bodyPr>
            <a:normAutofit fontScale="85000" lnSpcReduction="20000"/>
          </a:bodyPr>
          <a:lstStyle/>
          <a:p>
            <a:pPr marL="0" indent="0">
              <a:buNone/>
            </a:pPr>
            <a:r>
              <a:rPr lang="en-US" b="1" dirty="0">
                <a:solidFill>
                  <a:schemeClr val="accent6">
                    <a:lumMod val="75000"/>
                  </a:schemeClr>
                </a:solidFill>
                <a:latin typeface="Courier New" panose="02070309020205020404" pitchFamily="49" charset="0"/>
                <a:cs typeface="Courier New" panose="02070309020205020404" pitchFamily="49" charset="0"/>
              </a:rPr>
              <a:t>@MappedSuperclass</a:t>
            </a:r>
          </a:p>
          <a:p>
            <a:pPr lvl="1"/>
            <a:r>
              <a:rPr lang="en-US" dirty="0">
                <a:cs typeface="Courier New" panose="02070309020205020404" pitchFamily="49" charset="0"/>
              </a:rPr>
              <a:t>Defines a non-entity superclass</a:t>
            </a:r>
          </a:p>
          <a:p>
            <a:pPr lvl="2"/>
            <a:r>
              <a:rPr lang="en-US" dirty="0">
                <a:cs typeface="Courier New" panose="02070309020205020404" pitchFamily="49" charset="0"/>
              </a:rPr>
              <a:t>The class itself is not an entity and does not correspond to a database table.</a:t>
            </a:r>
          </a:p>
          <a:p>
            <a:pPr lvl="2"/>
            <a:r>
              <a:rPr lang="en-US" dirty="0">
                <a:cs typeface="Courier New" panose="02070309020205020404" pitchFamily="49" charset="0"/>
              </a:rPr>
              <a:t>This superclass does not generate its own table; all columns appear in the child entities' tables only.</a:t>
            </a:r>
          </a:p>
          <a:p>
            <a:pPr lvl="1"/>
            <a:r>
              <a:rPr lang="en-US" dirty="0">
                <a:cs typeface="Courier New" panose="02070309020205020404" pitchFamily="49" charset="0"/>
              </a:rPr>
              <a:t>Shares mapped fields with subclasses</a:t>
            </a:r>
          </a:p>
          <a:p>
            <a:pPr lvl="2"/>
            <a:r>
              <a:rPr lang="en-US" dirty="0">
                <a:cs typeface="Courier New" panose="02070309020205020404" pitchFamily="49" charset="0"/>
              </a:rPr>
              <a:t>Its annotated fields </a:t>
            </a:r>
            <a:r>
              <a:rPr lang="en-US" dirty="0">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@Id</a:t>
            </a:r>
            <a:r>
              <a:rPr lang="en-US" dirty="0">
                <a:cs typeface="Courier New" panose="02070309020205020404" pitchFamily="49" charset="0"/>
              </a:rPr>
              <a:t>, </a:t>
            </a:r>
            <a:r>
              <a:rPr lang="en-US" b="1" dirty="0">
                <a:latin typeface="Courier New" panose="02070309020205020404" pitchFamily="49" charset="0"/>
                <a:cs typeface="Courier New" panose="02070309020205020404" pitchFamily="49" charset="0"/>
              </a:rPr>
              <a:t>@Column</a:t>
            </a:r>
            <a:r>
              <a:rPr lang="en-US" dirty="0">
                <a:cs typeface="Courier New" panose="02070309020205020404" pitchFamily="49" charset="0"/>
              </a:rPr>
              <a:t>, etc.) are inherited and mapped into the tables of concrete entity subclasses.</a:t>
            </a:r>
          </a:p>
          <a:p>
            <a:pPr lvl="1"/>
            <a:r>
              <a:rPr lang="en-US" dirty="0">
                <a:cs typeface="Courier New" panose="02070309020205020404" pitchFamily="49" charset="0"/>
              </a:rPr>
              <a:t>Inheritance is Java-level only</a:t>
            </a:r>
          </a:p>
          <a:p>
            <a:pPr lvl="2"/>
            <a:r>
              <a:rPr lang="en-US" dirty="0">
                <a:cs typeface="Courier New" panose="02070309020205020404" pitchFamily="49" charset="0"/>
              </a:rPr>
              <a:t>There is no inheritance structure in the database—no join, no discriminator column.</a:t>
            </a:r>
          </a:p>
          <a:p>
            <a:pPr lvl="1"/>
            <a:r>
              <a:rPr lang="en-US" dirty="0">
                <a:cs typeface="Courier New" panose="02070309020205020404" pitchFamily="49" charset="0"/>
              </a:rPr>
              <a:t>Best for common reusable fields</a:t>
            </a:r>
          </a:p>
          <a:p>
            <a:pPr lvl="2"/>
            <a:r>
              <a:rPr lang="en-US" dirty="0">
                <a:cs typeface="Courier New" panose="02070309020205020404" pitchFamily="49" charset="0"/>
              </a:rPr>
              <a:t>Ideal for shared attributes such as id, timestamps, audit fields, or other common metadata.</a:t>
            </a:r>
            <a:endParaRPr lang="it-IT" dirty="0">
              <a:cs typeface="Courier New" panose="02070309020205020404" pitchFamily="49" charset="0"/>
            </a:endParaRPr>
          </a:p>
        </p:txBody>
      </p:sp>
    </p:spTree>
    <p:extLst>
      <p:ext uri="{BB962C8B-B14F-4D97-AF65-F5344CB8AC3E}">
        <p14:creationId xmlns:p14="http://schemas.microsoft.com/office/powerpoint/2010/main" val="1584857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296B4-516D-78E9-B71F-50ACE632F8C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8747044-5F10-104B-8EFE-A62FDC476DE9}"/>
              </a:ext>
            </a:extLst>
          </p:cNvPr>
          <p:cNvSpPr>
            <a:spLocks noGrp="1"/>
          </p:cNvSpPr>
          <p:nvPr>
            <p:ph type="title"/>
          </p:nvPr>
        </p:nvSpPr>
        <p:spPr/>
        <p:txBody>
          <a:bodyPr>
            <a:normAutofit/>
          </a:bodyPr>
          <a:lstStyle/>
          <a:p>
            <a:r>
              <a:rPr lang="en-GB" sz="3800" noProof="0" dirty="0"/>
              <a:t>Entity – Fields Mapping</a:t>
            </a:r>
          </a:p>
        </p:txBody>
      </p:sp>
      <p:sp>
        <p:nvSpPr>
          <p:cNvPr id="3" name="Segnaposto contenuto 2">
            <a:extLst>
              <a:ext uri="{FF2B5EF4-FFF2-40B4-BE49-F238E27FC236}">
                <a16:creationId xmlns:a16="http://schemas.microsoft.com/office/drawing/2014/main" id="{D9B4694E-EEC8-990A-CA63-CC40B09AE6E9}"/>
              </a:ext>
            </a:extLst>
          </p:cNvPr>
          <p:cNvSpPr>
            <a:spLocks noGrp="1"/>
          </p:cNvSpPr>
          <p:nvPr>
            <p:ph idx="1"/>
          </p:nvPr>
        </p:nvSpPr>
        <p:spPr>
          <a:xfrm>
            <a:off x="685800" y="1295400"/>
            <a:ext cx="8150225" cy="4941912"/>
          </a:xfrm>
        </p:spPr>
        <p:txBody>
          <a:bodyPr>
            <a:normAutofit fontScale="77500" lnSpcReduction="20000"/>
          </a:bodyPr>
          <a:lstStyle/>
          <a:p>
            <a:r>
              <a:rPr lang="en-GB" noProof="0" dirty="0"/>
              <a:t>Each entity field corresponds to a database column and can have the constraints and properties typical of a relational database schema</a:t>
            </a:r>
          </a:p>
          <a:p>
            <a:r>
              <a:rPr lang="en-GB" noProof="0" dirty="0"/>
              <a:t>Data type conversion between object model and relational model</a:t>
            </a:r>
          </a:p>
          <a:p>
            <a:pPr lvl="1"/>
            <a:r>
              <a:rPr lang="en-GB" b="1" noProof="0" dirty="0">
                <a:latin typeface="Courier New" panose="02070309020205020404" pitchFamily="49" charset="0"/>
                <a:cs typeface="Courier New" panose="02070309020205020404" pitchFamily="49" charset="0"/>
              </a:rPr>
              <a:t>String</a:t>
            </a:r>
            <a:r>
              <a:rPr lang="en-GB" noProof="0" dirty="0"/>
              <a:t> in code → </a:t>
            </a:r>
            <a:r>
              <a:rPr lang="en-GB" b="1" noProof="0" dirty="0">
                <a:latin typeface="Courier New" panose="02070309020205020404" pitchFamily="49" charset="0"/>
                <a:cs typeface="Courier New" panose="02070309020205020404" pitchFamily="49" charset="0"/>
              </a:rPr>
              <a:t>VARCHAR</a:t>
            </a:r>
            <a:r>
              <a:rPr lang="en-GB" noProof="0" dirty="0"/>
              <a:t> in database</a:t>
            </a:r>
          </a:p>
          <a:p>
            <a:pPr lvl="1"/>
            <a:r>
              <a:rPr lang="en-GB" b="1" noProof="0" dirty="0" err="1">
                <a:latin typeface="Courier New" panose="02070309020205020404" pitchFamily="49" charset="0"/>
                <a:cs typeface="Courier New" panose="02070309020205020404" pitchFamily="49" charset="0"/>
              </a:rPr>
              <a:t>boolean</a:t>
            </a:r>
            <a:r>
              <a:rPr lang="en-GB" noProof="0" dirty="0"/>
              <a:t> in code → </a:t>
            </a:r>
            <a:r>
              <a:rPr lang="en-GB" b="1" noProof="0" dirty="0">
                <a:latin typeface="Courier New" panose="02070309020205020404" pitchFamily="49" charset="0"/>
                <a:cs typeface="Courier New" panose="02070309020205020404" pitchFamily="49" charset="0"/>
              </a:rPr>
              <a:t>TINYINT(1)</a:t>
            </a:r>
            <a:r>
              <a:rPr lang="en-GB" noProof="0" dirty="0"/>
              <a:t> in some databases</a:t>
            </a:r>
          </a:p>
          <a:p>
            <a:r>
              <a:rPr lang="en-GB" noProof="0" dirty="0"/>
              <a:t>Handling type mismatches</a:t>
            </a:r>
          </a:p>
          <a:p>
            <a:pPr lvl="1"/>
            <a:r>
              <a:rPr lang="en-GB" noProof="0" dirty="0"/>
              <a:t>Some languages support richer types than relational databases</a:t>
            </a:r>
          </a:p>
          <a:p>
            <a:pPr lvl="1"/>
            <a:r>
              <a:rPr lang="en-GB" noProof="0" dirty="0"/>
              <a:t>ORM provides mapping rules for correct conversion</a:t>
            </a:r>
          </a:p>
          <a:p>
            <a:r>
              <a:rPr lang="en-GB" noProof="0" dirty="0"/>
              <a:t>Custom type mapping possible if default conversions are not sufficient</a:t>
            </a:r>
          </a:p>
        </p:txBody>
      </p:sp>
    </p:spTree>
    <p:extLst>
      <p:ext uri="{BB962C8B-B14F-4D97-AF65-F5344CB8AC3E}">
        <p14:creationId xmlns:p14="http://schemas.microsoft.com/office/powerpoint/2010/main" val="4237454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372D84-9539-2AA5-933F-FD7FC16BCB2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EA5E276-3BB9-FF9B-5229-73334E2390D5}"/>
              </a:ext>
            </a:extLst>
          </p:cNvPr>
          <p:cNvSpPr>
            <a:spLocks noGrp="1"/>
          </p:cNvSpPr>
          <p:nvPr>
            <p:ph type="title"/>
          </p:nvPr>
        </p:nvSpPr>
        <p:spPr/>
        <p:txBody>
          <a:bodyPr>
            <a:normAutofit/>
          </a:bodyPr>
          <a:lstStyle/>
          <a:p>
            <a:r>
              <a:rPr lang="en-GB" sz="3800" noProof="0" dirty="0"/>
              <a:t>Entity – Field Attributes</a:t>
            </a:r>
          </a:p>
        </p:txBody>
      </p:sp>
      <p:sp>
        <p:nvSpPr>
          <p:cNvPr id="3" name="Segnaposto contenuto 2">
            <a:extLst>
              <a:ext uri="{FF2B5EF4-FFF2-40B4-BE49-F238E27FC236}">
                <a16:creationId xmlns:a16="http://schemas.microsoft.com/office/drawing/2014/main" id="{A873107B-0C8A-57A3-215A-5B0DA8573524}"/>
              </a:ext>
            </a:extLst>
          </p:cNvPr>
          <p:cNvSpPr>
            <a:spLocks noGrp="1"/>
          </p:cNvSpPr>
          <p:nvPr>
            <p:ph idx="1"/>
          </p:nvPr>
        </p:nvSpPr>
        <p:spPr/>
        <p:txBody>
          <a:bodyPr>
            <a:normAutofit/>
          </a:bodyPr>
          <a:lstStyle/>
          <a:p>
            <a:r>
              <a:rPr lang="en-GB" noProof="0" dirty="0"/>
              <a:t>Primary keys attribute</a:t>
            </a:r>
          </a:p>
          <a:p>
            <a:pPr lvl="1"/>
            <a:r>
              <a:rPr lang="en-GB" noProof="0" dirty="0"/>
              <a:t>Establish the </a:t>
            </a:r>
            <a:r>
              <a:rPr lang="en-GB" b="1" i="1" noProof="0" dirty="0"/>
              <a:t>identity</a:t>
            </a:r>
            <a:r>
              <a:rPr lang="en-GB" noProof="0" dirty="0"/>
              <a:t> of an entity instance</a:t>
            </a:r>
          </a:p>
          <a:p>
            <a:pPr lvl="1"/>
            <a:r>
              <a:rPr lang="en-GB" noProof="0" dirty="0"/>
              <a:t>Define entity uniqueness</a:t>
            </a:r>
          </a:p>
          <a:p>
            <a:pPr lvl="1"/>
            <a:r>
              <a:rPr lang="en-GB" noProof="0" dirty="0"/>
              <a:t>Auto-generated (e.g., auto-increment, UUID) or manually assigned</a:t>
            </a:r>
          </a:p>
          <a:p>
            <a:pPr lvl="1"/>
            <a:r>
              <a:rPr lang="en-GB" noProof="0" dirty="0"/>
              <a:t>A primary key is always unique and non-null</a:t>
            </a:r>
          </a:p>
        </p:txBody>
      </p:sp>
    </p:spTree>
    <p:extLst>
      <p:ext uri="{BB962C8B-B14F-4D97-AF65-F5344CB8AC3E}">
        <p14:creationId xmlns:p14="http://schemas.microsoft.com/office/powerpoint/2010/main" val="3099418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810F5C-A9B0-A016-259E-66C22F5A8DEB}"/>
              </a:ext>
            </a:extLst>
          </p:cNvPr>
          <p:cNvSpPr>
            <a:spLocks noGrp="1"/>
          </p:cNvSpPr>
          <p:nvPr>
            <p:ph type="title"/>
          </p:nvPr>
        </p:nvSpPr>
        <p:spPr/>
        <p:txBody>
          <a:bodyPr/>
          <a:lstStyle/>
          <a:p>
            <a:r>
              <a:rPr lang="en-GB" noProof="0" dirty="0"/>
              <a:t>Field Mapping – Primary Key</a:t>
            </a:r>
          </a:p>
        </p:txBody>
      </p:sp>
      <p:sp>
        <p:nvSpPr>
          <p:cNvPr id="3" name="Segnaposto contenuto 2">
            <a:extLst>
              <a:ext uri="{FF2B5EF4-FFF2-40B4-BE49-F238E27FC236}">
                <a16:creationId xmlns:a16="http://schemas.microsoft.com/office/drawing/2014/main" id="{879EC7E5-90B3-D379-0086-0F51874DE84A}"/>
              </a:ext>
            </a:extLst>
          </p:cNvPr>
          <p:cNvSpPr>
            <a:spLocks noGrp="1"/>
          </p:cNvSpPr>
          <p:nvPr>
            <p:ph idx="1"/>
          </p:nvPr>
        </p:nvSpPr>
        <p:spPr/>
        <p:txBody>
          <a:bodyPr>
            <a:normAutofit fontScale="85000" lnSpcReduction="10000"/>
          </a:bodyPr>
          <a:lstStyle/>
          <a:p>
            <a:r>
              <a:rPr lang="en-GB" noProof="0" dirty="0"/>
              <a:t>Establish the </a:t>
            </a:r>
            <a:r>
              <a:rPr lang="en-GB" b="1" i="1" noProof="0" dirty="0"/>
              <a:t>identity</a:t>
            </a:r>
            <a:r>
              <a:rPr lang="en-GB" noProof="0" dirty="0"/>
              <a:t> of an entity instance</a:t>
            </a:r>
            <a:endParaRPr lang="en-GB" b="1" noProof="0" dirty="0">
              <a:latin typeface="Courier New" panose="02070309020205020404" pitchFamily="49" charset="0"/>
              <a:cs typeface="Courier New" panose="02070309020205020404" pitchFamily="49" charset="0"/>
            </a:endParaRPr>
          </a:p>
          <a:p>
            <a:r>
              <a:rPr lang="en-GB" b="1" noProof="0" dirty="0">
                <a:solidFill>
                  <a:schemeClr val="accent6">
                    <a:lumMod val="75000"/>
                  </a:schemeClr>
                </a:solidFill>
                <a:latin typeface="Courier New" panose="02070309020205020404" pitchFamily="49" charset="0"/>
                <a:cs typeface="Courier New" panose="02070309020205020404" pitchFamily="49" charset="0"/>
              </a:rPr>
              <a:t>@Id</a:t>
            </a:r>
          </a:p>
          <a:p>
            <a:pPr lvl="1"/>
            <a:r>
              <a:rPr lang="en-GB" noProof="0" dirty="0"/>
              <a:t> Declares the field as the primary key</a:t>
            </a:r>
          </a:p>
          <a:p>
            <a:r>
              <a:rPr lang="en-GB" b="1" noProof="0" dirty="0">
                <a:solidFill>
                  <a:schemeClr val="accent6">
                    <a:lumMod val="75000"/>
                  </a:schemeClr>
                </a:solidFill>
                <a:latin typeface="Courier New" panose="02070309020205020404" pitchFamily="49" charset="0"/>
                <a:cs typeface="Courier New" panose="02070309020205020404" pitchFamily="49" charset="0"/>
              </a:rPr>
              <a:t>@</a:t>
            </a:r>
            <a:r>
              <a:rPr lang="en-GB" b="1" noProof="0" dirty="0" err="1">
                <a:solidFill>
                  <a:schemeClr val="accent6">
                    <a:lumMod val="75000"/>
                  </a:schemeClr>
                </a:solidFill>
                <a:latin typeface="Courier New" panose="02070309020205020404" pitchFamily="49" charset="0"/>
                <a:cs typeface="Courier New" panose="02070309020205020404" pitchFamily="49" charset="0"/>
              </a:rPr>
              <a:t>GeneratedValue</a:t>
            </a:r>
            <a:r>
              <a:rPr lang="en-GB" b="1" noProof="0" dirty="0">
                <a:latin typeface="Courier New" panose="02070309020205020404" pitchFamily="49" charset="0"/>
                <a:cs typeface="Courier New" panose="02070309020205020404" pitchFamily="49" charset="0"/>
              </a:rPr>
              <a:t>(strategy)</a:t>
            </a:r>
          </a:p>
          <a:p>
            <a:pPr lvl="1"/>
            <a:r>
              <a:rPr lang="en-GB" noProof="0" dirty="0"/>
              <a:t>Only for autogenerated PK values</a:t>
            </a:r>
          </a:p>
          <a:p>
            <a:pPr lvl="1"/>
            <a:r>
              <a:rPr lang="en-GB" noProof="0" dirty="0"/>
              <a:t>Specifies PK generation strategy</a:t>
            </a:r>
          </a:p>
          <a:p>
            <a:pPr lvl="1"/>
            <a:r>
              <a:rPr lang="en-GB" noProof="0" dirty="0"/>
              <a:t>strategy (Enum: </a:t>
            </a:r>
            <a:r>
              <a:rPr lang="en-GB" noProof="0" dirty="0" err="1"/>
              <a:t>GenerationType</a:t>
            </a:r>
            <a:r>
              <a:rPr lang="en-GB" noProof="0" dirty="0"/>
              <a:t>):</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AUTO</a:t>
            </a:r>
            <a:r>
              <a:rPr lang="en-GB" noProof="0" dirty="0"/>
              <a:t>: default, ORM decides the best strategy</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IDENTITY</a:t>
            </a:r>
            <a:r>
              <a:rPr lang="en-GB" noProof="0" dirty="0"/>
              <a:t>: uses database auto-increment</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SEQUENCE</a:t>
            </a:r>
            <a:r>
              <a:rPr lang="en-GB" noProof="0" dirty="0"/>
              <a:t>: uses a database sequence</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TABLE</a:t>
            </a:r>
            <a:r>
              <a:rPr lang="en-GB" noProof="0" dirty="0"/>
              <a:t>: uses a table-based sequence</a:t>
            </a:r>
          </a:p>
          <a:p>
            <a:endParaRPr lang="en-GB" noProof="0" dirty="0"/>
          </a:p>
        </p:txBody>
      </p:sp>
    </p:spTree>
    <p:extLst>
      <p:ext uri="{BB962C8B-B14F-4D97-AF65-F5344CB8AC3E}">
        <p14:creationId xmlns:p14="http://schemas.microsoft.com/office/powerpoint/2010/main" val="2578042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CC51EF-AA59-3470-9923-98151EFFD7A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2C9263D-D786-CDA9-7141-B26C6C01B1FA}"/>
              </a:ext>
            </a:extLst>
          </p:cNvPr>
          <p:cNvSpPr>
            <a:spLocks noGrp="1"/>
          </p:cNvSpPr>
          <p:nvPr>
            <p:ph type="title"/>
          </p:nvPr>
        </p:nvSpPr>
        <p:spPr/>
        <p:txBody>
          <a:bodyPr>
            <a:normAutofit/>
          </a:bodyPr>
          <a:lstStyle/>
          <a:p>
            <a:r>
              <a:rPr lang="en-GB" sz="3800" noProof="0" dirty="0"/>
              <a:t>Entity – Field Attributes</a:t>
            </a:r>
          </a:p>
        </p:txBody>
      </p:sp>
      <p:sp>
        <p:nvSpPr>
          <p:cNvPr id="3" name="Segnaposto contenuto 2">
            <a:extLst>
              <a:ext uri="{FF2B5EF4-FFF2-40B4-BE49-F238E27FC236}">
                <a16:creationId xmlns:a16="http://schemas.microsoft.com/office/drawing/2014/main" id="{469B088B-E89C-C8FE-F924-32B35D8940E3}"/>
              </a:ext>
            </a:extLst>
          </p:cNvPr>
          <p:cNvSpPr>
            <a:spLocks noGrp="1"/>
          </p:cNvSpPr>
          <p:nvPr>
            <p:ph idx="1"/>
          </p:nvPr>
        </p:nvSpPr>
        <p:spPr/>
        <p:txBody>
          <a:bodyPr>
            <a:normAutofit fontScale="92500" lnSpcReduction="10000"/>
          </a:bodyPr>
          <a:lstStyle/>
          <a:p>
            <a:r>
              <a:rPr lang="en-GB" noProof="0" dirty="0"/>
              <a:t>Field generic attributes</a:t>
            </a:r>
          </a:p>
          <a:p>
            <a:pPr lvl="1"/>
            <a:r>
              <a:rPr lang="en-GB" noProof="0" dirty="0"/>
              <a:t>Foreign key: The field references a primary key from another table</a:t>
            </a:r>
          </a:p>
          <a:p>
            <a:pPr lvl="1"/>
            <a:r>
              <a:rPr lang="en-GB" noProof="0" dirty="0"/>
              <a:t>Nullable vs. Non-nullable: Whether a field must always have a value</a:t>
            </a:r>
          </a:p>
          <a:p>
            <a:pPr lvl="1"/>
            <a:r>
              <a:rPr lang="en-GB" noProof="0" dirty="0"/>
              <a:t>Unique constraints: Prevent duplicate values in a column</a:t>
            </a:r>
          </a:p>
          <a:p>
            <a:pPr lvl="1"/>
            <a:r>
              <a:rPr lang="en-GB" noProof="0" dirty="0"/>
              <a:t>Default values: Automatically assigned if no value is provided</a:t>
            </a:r>
          </a:p>
          <a:p>
            <a:pPr lvl="1"/>
            <a:r>
              <a:rPr lang="en-GB" noProof="0" dirty="0"/>
              <a:t>Data length constraints: Enforce maximum storage size (e.g., VARCHAR(255))</a:t>
            </a:r>
          </a:p>
        </p:txBody>
      </p:sp>
    </p:spTree>
    <p:extLst>
      <p:ext uri="{BB962C8B-B14F-4D97-AF65-F5344CB8AC3E}">
        <p14:creationId xmlns:p14="http://schemas.microsoft.com/office/powerpoint/2010/main" val="1675737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7239-DFF3-4CA7-6556-6089E6AFE8A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0677EED-BCB6-F293-5129-2220C213AE1B}"/>
              </a:ext>
            </a:extLst>
          </p:cNvPr>
          <p:cNvSpPr>
            <a:spLocks noGrp="1"/>
          </p:cNvSpPr>
          <p:nvPr>
            <p:ph type="title"/>
          </p:nvPr>
        </p:nvSpPr>
        <p:spPr/>
        <p:txBody>
          <a:bodyPr/>
          <a:lstStyle/>
          <a:p>
            <a:r>
              <a:rPr lang="en-GB" noProof="0" dirty="0"/>
              <a:t>Field Mapping</a:t>
            </a:r>
          </a:p>
        </p:txBody>
      </p:sp>
      <p:sp>
        <p:nvSpPr>
          <p:cNvPr id="3" name="Segnaposto contenuto 2">
            <a:extLst>
              <a:ext uri="{FF2B5EF4-FFF2-40B4-BE49-F238E27FC236}">
                <a16:creationId xmlns:a16="http://schemas.microsoft.com/office/drawing/2014/main" id="{5916851B-F204-CE9F-FDAC-F89F9B1503B6}"/>
              </a:ext>
            </a:extLst>
          </p:cNvPr>
          <p:cNvSpPr>
            <a:spLocks noGrp="1"/>
          </p:cNvSpPr>
          <p:nvPr>
            <p:ph idx="1"/>
          </p:nvPr>
        </p:nvSpPr>
        <p:spPr>
          <a:xfrm>
            <a:off x="685800" y="1295400"/>
            <a:ext cx="8150225" cy="5157936"/>
          </a:xfrm>
        </p:spPr>
        <p:txBody>
          <a:bodyPr>
            <a:normAutofit fontScale="92500" lnSpcReduction="20000"/>
          </a:bodyPr>
          <a:lstStyle/>
          <a:p>
            <a:r>
              <a:rPr lang="en-GB" b="1" noProof="0" dirty="0">
                <a:solidFill>
                  <a:schemeClr val="accent6">
                    <a:lumMod val="75000"/>
                  </a:schemeClr>
                </a:solidFill>
                <a:latin typeface="Courier New" panose="02070309020205020404" pitchFamily="49" charset="0"/>
                <a:cs typeface="Courier New" panose="02070309020205020404" pitchFamily="49" charset="0"/>
              </a:rPr>
              <a:t>@Column</a:t>
            </a:r>
            <a:r>
              <a:rPr lang="en-GB" b="1" noProof="0" dirty="0">
                <a:latin typeface="Courier New" panose="02070309020205020404" pitchFamily="49" charset="0"/>
                <a:cs typeface="Courier New" panose="02070309020205020404" pitchFamily="49" charset="0"/>
              </a:rPr>
              <a:t>(name, nullable, length, unique, insertable, updatable)</a:t>
            </a:r>
            <a:br>
              <a:rPr lang="en-GB" b="1" noProof="0" dirty="0">
                <a:latin typeface="Courier New" panose="02070309020205020404" pitchFamily="49" charset="0"/>
                <a:cs typeface="Courier New" panose="02070309020205020404" pitchFamily="49" charset="0"/>
              </a:rPr>
            </a:br>
            <a:r>
              <a:rPr lang="en-GB" noProof="0" dirty="0"/>
              <a:t>maps a field to a database column.</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name</a:t>
            </a:r>
            <a:r>
              <a:rPr lang="en-GB" noProof="0" dirty="0"/>
              <a:t> (String, optional): the name of the column in the mapping table</a:t>
            </a:r>
          </a:p>
          <a:p>
            <a:pPr lvl="1"/>
            <a:r>
              <a:rPr lang="en-GB" b="1" dirty="0">
                <a:solidFill>
                  <a:schemeClr val="accent6">
                    <a:lumMod val="75000"/>
                  </a:schemeClr>
                </a:solidFill>
                <a:latin typeface="Courier New" panose="02070309020205020404" pitchFamily="49" charset="0"/>
                <a:cs typeface="Courier New" panose="02070309020205020404" pitchFamily="49" charset="0"/>
              </a:rPr>
              <a:t>length</a:t>
            </a:r>
            <a:r>
              <a:rPr lang="en-GB" noProof="0" dirty="0"/>
              <a:t> (int, default: 255): defines the maximum length for a String field</a:t>
            </a:r>
          </a:p>
          <a:p>
            <a:pPr lvl="1"/>
            <a:r>
              <a:rPr lang="en-GB" b="1" dirty="0">
                <a:solidFill>
                  <a:schemeClr val="accent6">
                    <a:lumMod val="75000"/>
                  </a:schemeClr>
                </a:solidFill>
                <a:latin typeface="Courier New" panose="02070309020205020404" pitchFamily="49" charset="0"/>
                <a:cs typeface="Courier New" panose="02070309020205020404" pitchFamily="49" charset="0"/>
              </a:rPr>
              <a:t>unique</a:t>
            </a:r>
            <a:r>
              <a:rPr lang="en-GB" noProof="0" dirty="0"/>
              <a:t> (</a:t>
            </a:r>
            <a:r>
              <a:rPr lang="en-GB" noProof="0" dirty="0" err="1"/>
              <a:t>boolean</a:t>
            </a:r>
            <a:r>
              <a:rPr lang="en-GB" noProof="0" dirty="0"/>
              <a:t>, default: false): if true, enforces a unique constraint</a:t>
            </a:r>
          </a:p>
          <a:p>
            <a:pPr lvl="1"/>
            <a:r>
              <a:rPr lang="en-GB" b="1" dirty="0">
                <a:solidFill>
                  <a:schemeClr val="accent6">
                    <a:lumMod val="75000"/>
                  </a:schemeClr>
                </a:solidFill>
                <a:latin typeface="Courier New" panose="02070309020205020404" pitchFamily="49" charset="0"/>
                <a:cs typeface="Courier New" panose="02070309020205020404" pitchFamily="49" charset="0"/>
              </a:rPr>
              <a:t>insertable</a:t>
            </a:r>
            <a:r>
              <a:rPr lang="en-GB" noProof="0" dirty="0"/>
              <a:t> (</a:t>
            </a:r>
            <a:r>
              <a:rPr lang="en-GB" noProof="0" dirty="0" err="1"/>
              <a:t>boolean</a:t>
            </a:r>
            <a:r>
              <a:rPr lang="en-GB" noProof="0" dirty="0"/>
              <a:t>, default: true): if false, prevents insertion</a:t>
            </a:r>
          </a:p>
          <a:p>
            <a:pPr lvl="1"/>
            <a:r>
              <a:rPr lang="en-GB" b="1" dirty="0">
                <a:solidFill>
                  <a:schemeClr val="accent6">
                    <a:lumMod val="75000"/>
                  </a:schemeClr>
                </a:solidFill>
                <a:latin typeface="Courier New" panose="02070309020205020404" pitchFamily="49" charset="0"/>
                <a:cs typeface="Courier New" panose="02070309020205020404" pitchFamily="49" charset="0"/>
              </a:rPr>
              <a:t>updatable</a:t>
            </a:r>
            <a:r>
              <a:rPr lang="en-GB" noProof="0" dirty="0"/>
              <a:t> (</a:t>
            </a:r>
            <a:r>
              <a:rPr lang="en-GB" noProof="0" dirty="0" err="1"/>
              <a:t>boolean</a:t>
            </a:r>
            <a:r>
              <a:rPr lang="en-GB" noProof="0" dirty="0"/>
              <a:t>, default: true): if false, prevents updates</a:t>
            </a:r>
          </a:p>
          <a:p>
            <a:endParaRPr lang="en-GB" noProof="0" dirty="0"/>
          </a:p>
        </p:txBody>
      </p:sp>
    </p:spTree>
    <p:extLst>
      <p:ext uri="{BB962C8B-B14F-4D97-AF65-F5344CB8AC3E}">
        <p14:creationId xmlns:p14="http://schemas.microsoft.com/office/powerpoint/2010/main" val="4200811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7239-DFF3-4CA7-6556-6089E6AFE8A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0677EED-BCB6-F293-5129-2220C213AE1B}"/>
              </a:ext>
            </a:extLst>
          </p:cNvPr>
          <p:cNvSpPr>
            <a:spLocks noGrp="1"/>
          </p:cNvSpPr>
          <p:nvPr>
            <p:ph type="title"/>
          </p:nvPr>
        </p:nvSpPr>
        <p:spPr/>
        <p:txBody>
          <a:bodyPr/>
          <a:lstStyle/>
          <a:p>
            <a:r>
              <a:rPr lang="en-GB" noProof="0" dirty="0"/>
              <a:t>Field Mapping</a:t>
            </a:r>
          </a:p>
        </p:txBody>
      </p:sp>
      <p:sp>
        <p:nvSpPr>
          <p:cNvPr id="3" name="Segnaposto contenuto 2">
            <a:extLst>
              <a:ext uri="{FF2B5EF4-FFF2-40B4-BE49-F238E27FC236}">
                <a16:creationId xmlns:a16="http://schemas.microsoft.com/office/drawing/2014/main" id="{5916851B-F204-CE9F-FDAC-F89F9B1503B6}"/>
              </a:ext>
            </a:extLst>
          </p:cNvPr>
          <p:cNvSpPr>
            <a:spLocks noGrp="1"/>
          </p:cNvSpPr>
          <p:nvPr>
            <p:ph idx="1"/>
          </p:nvPr>
        </p:nvSpPr>
        <p:spPr>
          <a:xfrm>
            <a:off x="685800" y="1295400"/>
            <a:ext cx="8150225" cy="5157936"/>
          </a:xfrm>
        </p:spPr>
        <p:txBody>
          <a:bodyPr>
            <a:normAutofit fontScale="92500" lnSpcReduction="10000"/>
          </a:bodyPr>
          <a:lstStyle/>
          <a:p>
            <a:r>
              <a:rPr lang="en-GB" noProof="0" dirty="0"/>
              <a:t>These annotations define how entity fields map to database columns.</a:t>
            </a:r>
          </a:p>
          <a:p>
            <a:r>
              <a:rPr lang="en-GB" b="1" noProof="0" dirty="0">
                <a:solidFill>
                  <a:schemeClr val="accent6">
                    <a:lumMod val="75000"/>
                  </a:schemeClr>
                </a:solidFill>
                <a:latin typeface="Courier New" panose="02070309020205020404" pitchFamily="49" charset="0"/>
                <a:cs typeface="Courier New" panose="02070309020205020404" pitchFamily="49" charset="0"/>
              </a:rPr>
              <a:t>@Transient</a:t>
            </a:r>
            <a:r>
              <a:rPr lang="en-GB" b="1" noProof="0" dirty="0">
                <a:latin typeface="Courier New" panose="02070309020205020404" pitchFamily="49" charset="0"/>
                <a:cs typeface="Courier New" panose="02070309020205020404" pitchFamily="49" charset="0"/>
              </a:rPr>
              <a:t> </a:t>
            </a:r>
          </a:p>
          <a:p>
            <a:pPr lvl="1"/>
            <a:r>
              <a:rPr lang="en-GB" noProof="0" dirty="0"/>
              <a:t>Excludes a field from persistence. The field will not be mapped to a column</a:t>
            </a:r>
          </a:p>
          <a:p>
            <a:r>
              <a:rPr lang="en-GB" b="1" noProof="0" dirty="0">
                <a:solidFill>
                  <a:schemeClr val="accent6">
                    <a:lumMod val="75000"/>
                  </a:schemeClr>
                </a:solidFill>
                <a:latin typeface="Courier New" panose="02070309020205020404" pitchFamily="49" charset="0"/>
                <a:cs typeface="Courier New" panose="02070309020205020404" pitchFamily="49" charset="0"/>
              </a:rPr>
              <a:t>@Enumerated</a:t>
            </a:r>
            <a:r>
              <a:rPr lang="en-GB" b="1" noProof="0" dirty="0">
                <a:latin typeface="Courier New" panose="02070309020205020404" pitchFamily="49" charset="0"/>
                <a:cs typeface="Courier New" panose="02070309020205020404" pitchFamily="49" charset="0"/>
              </a:rPr>
              <a:t>(value)</a:t>
            </a:r>
          </a:p>
          <a:p>
            <a:pPr lvl="1"/>
            <a:r>
              <a:rPr lang="en-GB" noProof="0" dirty="0"/>
              <a:t>Maps an </a:t>
            </a:r>
            <a:r>
              <a:rPr lang="en-GB" noProof="0" dirty="0" err="1"/>
              <a:t>enum</a:t>
            </a:r>
            <a:r>
              <a:rPr lang="en-GB" noProof="0" dirty="0"/>
              <a:t> to a database column.</a:t>
            </a:r>
          </a:p>
          <a:p>
            <a:pPr lvl="1"/>
            <a:r>
              <a:rPr lang="en-GB" noProof="0" dirty="0">
                <a:solidFill>
                  <a:schemeClr val="accent6">
                    <a:lumMod val="75000"/>
                  </a:schemeClr>
                </a:solidFill>
              </a:rPr>
              <a:t>value</a:t>
            </a:r>
            <a:r>
              <a:rPr lang="en-GB" noProof="0" dirty="0"/>
              <a:t>: (</a:t>
            </a:r>
            <a:r>
              <a:rPr lang="en-GB" noProof="0" dirty="0" err="1"/>
              <a:t>EnumType</a:t>
            </a:r>
            <a:r>
              <a:rPr lang="en-GB" noProof="0" dirty="0"/>
              <a:t>) defines how the </a:t>
            </a:r>
            <a:r>
              <a:rPr lang="en-GB" noProof="0" dirty="0" err="1"/>
              <a:t>enum</a:t>
            </a:r>
            <a:r>
              <a:rPr lang="en-GB" noProof="0" dirty="0"/>
              <a:t> is stored</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ORDINAL</a:t>
            </a:r>
            <a:r>
              <a:rPr lang="en-GB" noProof="0" dirty="0"/>
              <a:t>: stores </a:t>
            </a:r>
            <a:r>
              <a:rPr lang="en-GB" noProof="0" dirty="0" err="1"/>
              <a:t>enum</a:t>
            </a:r>
            <a:r>
              <a:rPr lang="en-GB" noProof="0" dirty="0"/>
              <a:t> positions (0,1,2...)</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STRING</a:t>
            </a:r>
            <a:r>
              <a:rPr lang="en-GB" noProof="0" dirty="0"/>
              <a:t>: stores </a:t>
            </a:r>
            <a:r>
              <a:rPr lang="en-GB" noProof="0" dirty="0" err="1"/>
              <a:t>enum</a:t>
            </a:r>
            <a:r>
              <a:rPr lang="en-GB" noProof="0" dirty="0"/>
              <a:t> names as strings</a:t>
            </a:r>
          </a:p>
          <a:p>
            <a:pPr lvl="1"/>
            <a:endParaRPr lang="en-GB" noProof="0" dirty="0"/>
          </a:p>
          <a:p>
            <a:endParaRPr lang="en-GB" noProof="0" dirty="0"/>
          </a:p>
        </p:txBody>
      </p:sp>
    </p:spTree>
    <p:extLst>
      <p:ext uri="{BB962C8B-B14F-4D97-AF65-F5344CB8AC3E}">
        <p14:creationId xmlns:p14="http://schemas.microsoft.com/office/powerpoint/2010/main" val="768332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8288-E435-45B7-6B70-CBE46EFBC6A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43B51CA-9D8A-5A60-BEA5-30B5EC455790}"/>
              </a:ext>
            </a:extLst>
          </p:cNvPr>
          <p:cNvSpPr>
            <a:spLocks noGrp="1"/>
          </p:cNvSpPr>
          <p:nvPr>
            <p:ph type="title"/>
          </p:nvPr>
        </p:nvSpPr>
        <p:spPr/>
        <p:txBody>
          <a:bodyPr/>
          <a:lstStyle/>
          <a:p>
            <a:r>
              <a:rPr lang="en-GB" noProof="0" dirty="0"/>
              <a:t>Field mapping – Data Types</a:t>
            </a:r>
          </a:p>
        </p:txBody>
      </p:sp>
      <p:sp>
        <p:nvSpPr>
          <p:cNvPr id="3" name="Segnaposto contenuto 2">
            <a:extLst>
              <a:ext uri="{FF2B5EF4-FFF2-40B4-BE49-F238E27FC236}">
                <a16:creationId xmlns:a16="http://schemas.microsoft.com/office/drawing/2014/main" id="{6A19D321-FFB7-90CA-D7AC-899770361121}"/>
              </a:ext>
            </a:extLst>
          </p:cNvPr>
          <p:cNvSpPr>
            <a:spLocks noGrp="1"/>
          </p:cNvSpPr>
          <p:nvPr>
            <p:ph idx="1"/>
          </p:nvPr>
        </p:nvSpPr>
        <p:spPr/>
        <p:txBody>
          <a:bodyPr>
            <a:normAutofit fontScale="92500"/>
          </a:bodyPr>
          <a:lstStyle/>
          <a:p>
            <a:r>
              <a:rPr lang="en-GB" b="1" noProof="0" dirty="0">
                <a:solidFill>
                  <a:schemeClr val="accent6">
                    <a:lumMod val="75000"/>
                  </a:schemeClr>
                </a:solidFill>
                <a:latin typeface="Courier New" panose="02070309020205020404" pitchFamily="49" charset="0"/>
                <a:cs typeface="Courier New" panose="02070309020205020404" pitchFamily="49" charset="0"/>
              </a:rPr>
              <a:t>@Lob</a:t>
            </a:r>
          </a:p>
          <a:p>
            <a:pPr lvl="1"/>
            <a:r>
              <a:rPr lang="en-GB" noProof="0" dirty="0"/>
              <a:t>Marks a field as a large object (BLOB/CLOB).</a:t>
            </a:r>
          </a:p>
          <a:p>
            <a:r>
              <a:rPr lang="en-GB" b="1" noProof="0" dirty="0">
                <a:solidFill>
                  <a:schemeClr val="accent6">
                    <a:lumMod val="75000"/>
                  </a:schemeClr>
                </a:solidFill>
                <a:latin typeface="Courier New" panose="02070309020205020404" pitchFamily="49" charset="0"/>
                <a:cs typeface="Courier New" panose="02070309020205020404" pitchFamily="49" charset="0"/>
              </a:rPr>
              <a:t>@Temporal</a:t>
            </a:r>
            <a:r>
              <a:rPr lang="en-GB" b="1" noProof="0" dirty="0">
                <a:latin typeface="Courier New" panose="02070309020205020404" pitchFamily="49" charset="0"/>
                <a:cs typeface="Courier New" panose="02070309020205020404" pitchFamily="49" charset="0"/>
              </a:rPr>
              <a:t>(value)</a:t>
            </a:r>
          </a:p>
          <a:p>
            <a:pPr lvl="1"/>
            <a:r>
              <a:rPr lang="en-GB" noProof="0" dirty="0"/>
              <a:t>Specifies the temporal type of a </a:t>
            </a:r>
            <a:r>
              <a:rPr lang="en-GB" noProof="0" dirty="0" err="1"/>
              <a:t>java.util.Date</a:t>
            </a:r>
            <a:r>
              <a:rPr lang="en-GB" noProof="0" dirty="0"/>
              <a:t> or </a:t>
            </a:r>
            <a:r>
              <a:rPr lang="en-GB" noProof="0" dirty="0" err="1"/>
              <a:t>java.util.Calendar</a:t>
            </a:r>
            <a:endParaRPr lang="en-GB" noProof="0" dirty="0"/>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value</a:t>
            </a:r>
            <a:r>
              <a:rPr lang="en-GB" noProof="0" dirty="0"/>
              <a:t>: (Enum: </a:t>
            </a:r>
            <a:r>
              <a:rPr lang="en-GB" noProof="0" dirty="0" err="1"/>
              <a:t>TemporalType</a:t>
            </a:r>
            <a:r>
              <a:rPr lang="en-GB" noProof="0" dirty="0"/>
              <a:t>) Defines how the date/time is stored</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DATE</a:t>
            </a:r>
            <a:r>
              <a:rPr lang="en-GB" noProof="0" dirty="0"/>
              <a:t>: Stores only the date (without time).</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TIME</a:t>
            </a:r>
            <a:r>
              <a:rPr lang="en-GB" noProof="0" dirty="0"/>
              <a:t>: Stores only the time (without date).</a:t>
            </a:r>
          </a:p>
          <a:p>
            <a:pPr lvl="2"/>
            <a:r>
              <a:rPr lang="en-GB" b="1" noProof="0" dirty="0">
                <a:solidFill>
                  <a:schemeClr val="accent6">
                    <a:lumMod val="75000"/>
                  </a:schemeClr>
                </a:solidFill>
                <a:latin typeface="Courier New" panose="02070309020205020404" pitchFamily="49" charset="0"/>
                <a:cs typeface="Courier New" panose="02070309020205020404" pitchFamily="49" charset="0"/>
              </a:rPr>
              <a:t>TIMESTAMP</a:t>
            </a:r>
            <a:r>
              <a:rPr lang="en-GB" noProof="0" dirty="0"/>
              <a:t>: Stores both date and time</a:t>
            </a:r>
          </a:p>
          <a:p>
            <a:endParaRPr lang="en-GB" noProof="0" dirty="0"/>
          </a:p>
        </p:txBody>
      </p:sp>
    </p:spTree>
    <p:extLst>
      <p:ext uri="{BB962C8B-B14F-4D97-AF65-F5344CB8AC3E}">
        <p14:creationId xmlns:p14="http://schemas.microsoft.com/office/powerpoint/2010/main" val="1713882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8D9569-2C65-3A3A-13F2-429AB0A36F20}"/>
              </a:ext>
            </a:extLst>
          </p:cNvPr>
          <p:cNvSpPr>
            <a:spLocks noGrp="1"/>
          </p:cNvSpPr>
          <p:nvPr>
            <p:ph type="title"/>
          </p:nvPr>
        </p:nvSpPr>
        <p:spPr/>
        <p:txBody>
          <a:bodyPr/>
          <a:lstStyle/>
          <a:p>
            <a:r>
              <a:rPr lang="en-GB" noProof="0" dirty="0"/>
              <a:t>Entity – Relationship Mapping</a:t>
            </a:r>
          </a:p>
        </p:txBody>
      </p:sp>
      <p:sp>
        <p:nvSpPr>
          <p:cNvPr id="3" name="Segnaposto contenuto 2">
            <a:extLst>
              <a:ext uri="{FF2B5EF4-FFF2-40B4-BE49-F238E27FC236}">
                <a16:creationId xmlns:a16="http://schemas.microsoft.com/office/drawing/2014/main" id="{FAB56810-1EDA-EEF1-CA3B-989C45327E5D}"/>
              </a:ext>
            </a:extLst>
          </p:cNvPr>
          <p:cNvSpPr>
            <a:spLocks noGrp="1"/>
          </p:cNvSpPr>
          <p:nvPr>
            <p:ph idx="1"/>
          </p:nvPr>
        </p:nvSpPr>
        <p:spPr/>
        <p:txBody>
          <a:bodyPr>
            <a:normAutofit fontScale="70000" lnSpcReduction="20000"/>
          </a:bodyPr>
          <a:lstStyle/>
          <a:p>
            <a:r>
              <a:rPr lang="en-GB" noProof="0" dirty="0"/>
              <a:t>Relationships define the </a:t>
            </a:r>
            <a:r>
              <a:rPr lang="en-GB" b="1" i="1" noProof="0" dirty="0"/>
              <a:t>associations</a:t>
            </a:r>
            <a:r>
              <a:rPr lang="en-GB" noProof="0" dirty="0"/>
              <a:t> of our model, how entities are linked in a relational model</a:t>
            </a:r>
          </a:p>
          <a:p>
            <a:r>
              <a:rPr lang="en-GB" noProof="0" dirty="0"/>
              <a:t>Four main types of relationships:</a:t>
            </a:r>
          </a:p>
          <a:p>
            <a:pPr lvl="1"/>
            <a:r>
              <a:rPr lang="en-GB" noProof="0" dirty="0"/>
              <a:t>One-to-One (1:1) – Each entity instance maps to exactly one related entity</a:t>
            </a:r>
          </a:p>
          <a:p>
            <a:pPr lvl="1"/>
            <a:r>
              <a:rPr lang="en-GB" noProof="0" dirty="0"/>
              <a:t>One-to-Many (1:N) – One entity is related to multiple entities</a:t>
            </a:r>
          </a:p>
          <a:p>
            <a:pPr lvl="1"/>
            <a:r>
              <a:rPr lang="en-GB" noProof="0" dirty="0"/>
              <a:t>Many-to-One (N:1) – Multiple entities reference the same related entity</a:t>
            </a:r>
          </a:p>
          <a:p>
            <a:pPr lvl="1"/>
            <a:r>
              <a:rPr lang="en-GB" noProof="0" dirty="0"/>
              <a:t>Many-to-Many (N:N) – Requires a join table to establish the relationship</a:t>
            </a:r>
          </a:p>
          <a:p>
            <a:r>
              <a:rPr lang="en-GB" noProof="0" dirty="0"/>
              <a:t>Foreign keys are used to represent relationships at the database level</a:t>
            </a:r>
          </a:p>
          <a:p>
            <a:r>
              <a:rPr lang="en-GB" noProof="0" dirty="0"/>
              <a:t>Associations in ORM can be unidirectional or bidirectional</a:t>
            </a:r>
          </a:p>
        </p:txBody>
      </p:sp>
    </p:spTree>
    <p:extLst>
      <p:ext uri="{BB962C8B-B14F-4D97-AF65-F5344CB8AC3E}">
        <p14:creationId xmlns:p14="http://schemas.microsoft.com/office/powerpoint/2010/main" val="36417903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336410-7B96-94C6-E001-4FDEAA841208}"/>
              </a:ext>
            </a:extLst>
          </p:cNvPr>
          <p:cNvSpPr>
            <a:spLocks noGrp="1"/>
          </p:cNvSpPr>
          <p:nvPr>
            <p:ph type="title"/>
          </p:nvPr>
        </p:nvSpPr>
        <p:spPr/>
        <p:txBody>
          <a:bodyPr/>
          <a:lstStyle/>
          <a:p>
            <a:r>
              <a:rPr lang="en-GB" noProof="0" dirty="0"/>
              <a:t>Relationship Mapping</a:t>
            </a:r>
          </a:p>
        </p:txBody>
      </p:sp>
      <p:sp>
        <p:nvSpPr>
          <p:cNvPr id="3" name="Segnaposto contenuto 2">
            <a:extLst>
              <a:ext uri="{FF2B5EF4-FFF2-40B4-BE49-F238E27FC236}">
                <a16:creationId xmlns:a16="http://schemas.microsoft.com/office/drawing/2014/main" id="{F2D34C0F-656A-0C2D-3DE9-76C96C6F5958}"/>
              </a:ext>
            </a:extLst>
          </p:cNvPr>
          <p:cNvSpPr>
            <a:spLocks noGrp="1"/>
          </p:cNvSpPr>
          <p:nvPr>
            <p:ph idx="1"/>
          </p:nvPr>
        </p:nvSpPr>
        <p:spPr>
          <a:xfrm>
            <a:off x="682146" y="1196752"/>
            <a:ext cx="8150225" cy="5157936"/>
          </a:xfrm>
        </p:spPr>
        <p:txBody>
          <a:bodyPr>
            <a:normAutofit fontScale="77500" lnSpcReduction="20000"/>
          </a:bodyPr>
          <a:lstStyle/>
          <a:p>
            <a:r>
              <a:rPr lang="en-GB" noProof="0" dirty="0"/>
              <a:t>Relationships define the </a:t>
            </a:r>
            <a:r>
              <a:rPr lang="en-GB" b="1" i="1" noProof="0" dirty="0"/>
              <a:t>associations</a:t>
            </a:r>
            <a:r>
              <a:rPr lang="en-GB" noProof="0" dirty="0"/>
              <a:t> of our model, how entities are linked in a relational model</a:t>
            </a:r>
          </a:p>
          <a:p>
            <a:r>
              <a:rPr lang="en-GB" noProof="0" dirty="0"/>
              <a:t>One-to-One (</a:t>
            </a:r>
            <a:r>
              <a:rPr lang="en-GB" b="1" noProof="0" dirty="0">
                <a:solidFill>
                  <a:schemeClr val="accent6">
                    <a:lumMod val="75000"/>
                  </a:schemeClr>
                </a:solidFill>
                <a:latin typeface="Courier New" panose="02070309020205020404" pitchFamily="49" charset="0"/>
                <a:cs typeface="Courier New" panose="02070309020205020404" pitchFamily="49" charset="0"/>
              </a:rPr>
              <a:t>@OneToOne</a:t>
            </a:r>
            <a:r>
              <a:rPr lang="en-GB" noProof="0" dirty="0"/>
              <a:t>): each entity instance is associated with exactly one instance of the related entity</a:t>
            </a:r>
          </a:p>
          <a:p>
            <a:r>
              <a:rPr lang="en-GB" noProof="0" dirty="0"/>
              <a:t>Many-to-One (</a:t>
            </a:r>
            <a:r>
              <a:rPr lang="en-GB" b="1" noProof="0" dirty="0">
                <a:solidFill>
                  <a:schemeClr val="accent6">
                    <a:lumMod val="75000"/>
                  </a:schemeClr>
                </a:solidFill>
                <a:latin typeface="Courier New" panose="02070309020205020404" pitchFamily="49" charset="0"/>
                <a:cs typeface="Courier New" panose="02070309020205020404" pitchFamily="49" charset="0"/>
              </a:rPr>
              <a:t>@ManyToOne</a:t>
            </a:r>
            <a:r>
              <a:rPr lang="en-GB" noProof="0" dirty="0"/>
              <a:t>): multiple instances of one entity are associated with a single instance of another entity</a:t>
            </a:r>
          </a:p>
          <a:p>
            <a:r>
              <a:rPr lang="en-GB" noProof="0" dirty="0"/>
              <a:t>One-to-Many (</a:t>
            </a:r>
            <a:r>
              <a:rPr lang="en-GB" b="1" noProof="0" dirty="0">
                <a:solidFill>
                  <a:schemeClr val="accent6">
                    <a:lumMod val="75000"/>
                  </a:schemeClr>
                </a:solidFill>
                <a:latin typeface="Courier New" panose="02070309020205020404" pitchFamily="49" charset="0"/>
                <a:cs typeface="Courier New" panose="02070309020205020404" pitchFamily="49" charset="0"/>
              </a:rPr>
              <a:t>@OneToMany</a:t>
            </a:r>
            <a:r>
              <a:rPr lang="en-GB" noProof="0" dirty="0"/>
              <a:t>): one entity instance is related to multiple instances of the other entity</a:t>
            </a:r>
          </a:p>
          <a:p>
            <a:r>
              <a:rPr lang="en-GB" noProof="0" dirty="0"/>
              <a:t>Many-to-Many (</a:t>
            </a:r>
            <a:r>
              <a:rPr lang="en-GB" b="1" noProof="0" dirty="0">
                <a:solidFill>
                  <a:schemeClr val="accent6">
                    <a:lumMod val="75000"/>
                  </a:schemeClr>
                </a:solidFill>
                <a:latin typeface="Courier New" panose="02070309020205020404" pitchFamily="49" charset="0"/>
                <a:cs typeface="Courier New" panose="02070309020205020404" pitchFamily="49" charset="0"/>
              </a:rPr>
              <a:t>@</a:t>
            </a:r>
            <a:r>
              <a:rPr lang="en-GB" b="1" noProof="0" dirty="0" err="1">
                <a:solidFill>
                  <a:schemeClr val="accent6">
                    <a:lumMod val="75000"/>
                  </a:schemeClr>
                </a:solidFill>
                <a:latin typeface="Courier New" panose="02070309020205020404" pitchFamily="49" charset="0"/>
                <a:cs typeface="Courier New" panose="02070309020205020404" pitchFamily="49" charset="0"/>
              </a:rPr>
              <a:t>ManyToMany</a:t>
            </a:r>
            <a:r>
              <a:rPr lang="en-GB" noProof="0" dirty="0"/>
              <a:t>): entities are related in a many-to-many fashion, requiring a join table</a:t>
            </a:r>
          </a:p>
        </p:txBody>
      </p:sp>
    </p:spTree>
    <p:extLst>
      <p:ext uri="{BB962C8B-B14F-4D97-AF65-F5344CB8AC3E}">
        <p14:creationId xmlns:p14="http://schemas.microsoft.com/office/powerpoint/2010/main" val="39677673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C579D-DD45-0754-0EF3-5D38AB07988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642F70A-6E46-3167-0214-D3D5AB5D7D1F}"/>
              </a:ext>
            </a:extLst>
          </p:cNvPr>
          <p:cNvSpPr>
            <a:spLocks noGrp="1"/>
          </p:cNvSpPr>
          <p:nvPr>
            <p:ph type="title"/>
          </p:nvPr>
        </p:nvSpPr>
        <p:spPr/>
        <p:txBody>
          <a:bodyPr>
            <a:normAutofit/>
          </a:bodyPr>
          <a:lstStyle/>
          <a:p>
            <a:r>
              <a:rPr lang="en-GB" noProof="0" dirty="0"/>
              <a:t>Relationship Management</a:t>
            </a:r>
          </a:p>
        </p:txBody>
      </p:sp>
      <p:sp>
        <p:nvSpPr>
          <p:cNvPr id="3" name="Segnaposto contenuto 2">
            <a:extLst>
              <a:ext uri="{FF2B5EF4-FFF2-40B4-BE49-F238E27FC236}">
                <a16:creationId xmlns:a16="http://schemas.microsoft.com/office/drawing/2014/main" id="{FBD483BC-CCF3-A612-51E3-441F5954EADB}"/>
              </a:ext>
            </a:extLst>
          </p:cNvPr>
          <p:cNvSpPr>
            <a:spLocks noGrp="1"/>
          </p:cNvSpPr>
          <p:nvPr>
            <p:ph idx="1"/>
          </p:nvPr>
        </p:nvSpPr>
        <p:spPr>
          <a:xfrm>
            <a:off x="685800" y="1295400"/>
            <a:ext cx="8150225" cy="5229944"/>
          </a:xfrm>
        </p:spPr>
        <p:txBody>
          <a:bodyPr>
            <a:normAutofit fontScale="70000" lnSpcReduction="20000"/>
          </a:bodyPr>
          <a:lstStyle/>
          <a:p>
            <a:r>
              <a:rPr lang="en-GB" noProof="0" dirty="0"/>
              <a:t>JPA manages relationships using foreign keys and ensures data consistency using entity associations</a:t>
            </a:r>
          </a:p>
          <a:p>
            <a:r>
              <a:rPr lang="en-GB" noProof="0" dirty="0"/>
              <a:t>Foreign keys are automatically managed by JPA based on relationship annotations</a:t>
            </a:r>
          </a:p>
          <a:p>
            <a:pPr lvl="1"/>
            <a:r>
              <a:rPr lang="en-GB" noProof="0" dirty="0"/>
              <a:t>customization is allowed by using </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JoinColumn</a:t>
            </a:r>
            <a:r>
              <a:rPr lang="en-GB" b="1" noProof="0" dirty="0">
                <a:latin typeface="Courier New" panose="02070309020205020404" pitchFamily="49" charset="0"/>
                <a:cs typeface="Courier New" panose="02070309020205020404" pitchFamily="49" charset="0"/>
              </a:rPr>
              <a:t> </a:t>
            </a:r>
            <a:r>
              <a:rPr lang="en-GB" noProof="0" dirty="0"/>
              <a:t>(One-to-One, Many-to-One) or </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JoinTable</a:t>
            </a:r>
            <a:r>
              <a:rPr lang="en-GB" b="1" noProof="0" dirty="0">
                <a:latin typeface="Courier New" panose="02070309020205020404" pitchFamily="49" charset="0"/>
                <a:cs typeface="Courier New" panose="02070309020205020404" pitchFamily="49" charset="0"/>
              </a:rPr>
              <a:t> </a:t>
            </a:r>
            <a:r>
              <a:rPr lang="en-GB" noProof="0" dirty="0"/>
              <a:t>(Many-to-Many)</a:t>
            </a:r>
          </a:p>
          <a:p>
            <a:r>
              <a:rPr lang="en-GB" noProof="0" dirty="0">
                <a:solidFill>
                  <a:schemeClr val="accent6">
                    <a:lumMod val="75000"/>
                  </a:schemeClr>
                </a:solidFill>
              </a:rPr>
              <a:t>Owning</a:t>
            </a:r>
            <a:r>
              <a:rPr lang="en-GB" noProof="0" dirty="0"/>
              <a:t> vs. </a:t>
            </a:r>
            <a:r>
              <a:rPr lang="en-GB" noProof="0" dirty="0">
                <a:solidFill>
                  <a:schemeClr val="accent6">
                    <a:lumMod val="75000"/>
                  </a:schemeClr>
                </a:solidFill>
              </a:rPr>
              <a:t>Inverse</a:t>
            </a:r>
            <a:r>
              <a:rPr lang="en-GB" noProof="0" dirty="0"/>
              <a:t> Side</a:t>
            </a:r>
          </a:p>
          <a:p>
            <a:pPr lvl="1"/>
            <a:r>
              <a:rPr lang="en-GB" noProof="0" dirty="0"/>
              <a:t>the owning side is the entity that stores the foreign key</a:t>
            </a:r>
          </a:p>
          <a:p>
            <a:pPr lvl="1"/>
            <a:r>
              <a:rPr lang="en-GB" noProof="0" dirty="0"/>
              <a:t>the inverse side is the entity that is referenced</a:t>
            </a:r>
            <a:endParaRPr lang="en-GB" b="1" noProof="0" dirty="0">
              <a:latin typeface="Courier New" panose="02070309020205020404" pitchFamily="49" charset="0"/>
              <a:cs typeface="Courier New" panose="02070309020205020404" pitchFamily="49" charset="0"/>
            </a:endParaRPr>
          </a:p>
          <a:p>
            <a:r>
              <a:rPr lang="en-GB" noProof="0" dirty="0"/>
              <a:t>Bidirectional vs. Unidirectional Relationships</a:t>
            </a:r>
          </a:p>
          <a:p>
            <a:pPr lvl="1"/>
            <a:r>
              <a:rPr lang="en-US" noProof="0" dirty="0"/>
              <a:t>Unidirectional: only the owning side is aware of the relationship</a:t>
            </a:r>
          </a:p>
          <a:p>
            <a:pPr lvl="1"/>
            <a:r>
              <a:rPr lang="en-US" noProof="0" dirty="0"/>
              <a:t>Bidirectional: both sides are aware of the relationship; the inverse side uses </a:t>
            </a:r>
            <a:r>
              <a:rPr lang="en-US" sz="2900" b="1" dirty="0" err="1">
                <a:latin typeface="Courier New" panose="02070309020205020404" pitchFamily="49" charset="0"/>
                <a:cs typeface="Courier New" panose="02070309020205020404" pitchFamily="49" charset="0"/>
              </a:rPr>
              <a:t>mappedBy</a:t>
            </a:r>
            <a:r>
              <a:rPr lang="en-US" noProof="0" dirty="0"/>
              <a:t> to refer to the field on the owning side</a:t>
            </a:r>
            <a:endParaRPr lang="en-GB" noProof="0" dirty="0"/>
          </a:p>
        </p:txBody>
      </p:sp>
    </p:spTree>
    <p:extLst>
      <p:ext uri="{BB962C8B-B14F-4D97-AF65-F5344CB8AC3E}">
        <p14:creationId xmlns:p14="http://schemas.microsoft.com/office/powerpoint/2010/main" val="2258114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C55D2A-91B2-F2A3-4B73-F383351896C6}"/>
              </a:ext>
            </a:extLst>
          </p:cNvPr>
          <p:cNvSpPr>
            <a:spLocks noGrp="1"/>
          </p:cNvSpPr>
          <p:nvPr>
            <p:ph type="title"/>
          </p:nvPr>
        </p:nvSpPr>
        <p:spPr/>
        <p:txBody>
          <a:bodyPr/>
          <a:lstStyle/>
          <a:p>
            <a:r>
              <a:rPr lang="en-GB" noProof="0" dirty="0"/>
              <a:t>Relationships - </a:t>
            </a:r>
            <a:r>
              <a:rPr lang="en-GB" noProof="0" dirty="0" err="1"/>
              <a:t>OneToOne</a:t>
            </a:r>
            <a:endParaRPr lang="en-GB" noProof="0" dirty="0"/>
          </a:p>
        </p:txBody>
      </p:sp>
      <p:sp>
        <p:nvSpPr>
          <p:cNvPr id="3" name="Segnaposto contenuto 2">
            <a:extLst>
              <a:ext uri="{FF2B5EF4-FFF2-40B4-BE49-F238E27FC236}">
                <a16:creationId xmlns:a16="http://schemas.microsoft.com/office/drawing/2014/main" id="{E42959A7-043D-4433-79F8-7B3F7714A784}"/>
              </a:ext>
            </a:extLst>
          </p:cNvPr>
          <p:cNvSpPr>
            <a:spLocks noGrp="1"/>
          </p:cNvSpPr>
          <p:nvPr>
            <p:ph idx="1"/>
          </p:nvPr>
        </p:nvSpPr>
        <p:spPr/>
        <p:txBody>
          <a:bodyPr>
            <a:normAutofit fontScale="70000" lnSpcReduction="20000"/>
          </a:bodyPr>
          <a:lstStyle/>
          <a:p>
            <a:r>
              <a:rPr lang="en-GB" b="1" noProof="0" dirty="0">
                <a:solidFill>
                  <a:schemeClr val="accent6">
                    <a:lumMod val="75000"/>
                  </a:schemeClr>
                </a:solidFill>
                <a:latin typeface="Courier New" panose="02070309020205020404" pitchFamily="49" charset="0"/>
                <a:cs typeface="Courier New" panose="02070309020205020404" pitchFamily="49" charset="0"/>
              </a:rPr>
              <a:t>@</a:t>
            </a:r>
            <a:r>
              <a:rPr lang="en-GB" b="1" noProof="0" dirty="0" err="1">
                <a:solidFill>
                  <a:schemeClr val="accent6">
                    <a:lumMod val="75000"/>
                  </a:schemeClr>
                </a:solidFill>
                <a:latin typeface="Courier New" panose="02070309020205020404" pitchFamily="49" charset="0"/>
                <a:cs typeface="Courier New" panose="02070309020205020404" pitchFamily="49" charset="0"/>
              </a:rPr>
              <a:t>OneToOne</a:t>
            </a:r>
            <a:r>
              <a:rPr lang="en-GB" b="1" noProof="0" dirty="0">
                <a:latin typeface="Courier New" panose="02070309020205020404" pitchFamily="49" charset="0"/>
                <a:cs typeface="Courier New" panose="02070309020205020404" pitchFamily="49" charset="0"/>
              </a:rPr>
              <a:t>(cascade, fetch, </a:t>
            </a:r>
            <a:r>
              <a:rPr lang="en-GB" b="1" noProof="0" dirty="0" err="1">
                <a:latin typeface="Courier New" panose="02070309020205020404" pitchFamily="49" charset="0"/>
                <a:cs typeface="Courier New" panose="02070309020205020404" pitchFamily="49" charset="0"/>
              </a:rPr>
              <a:t>mappedBy</a:t>
            </a:r>
            <a:r>
              <a:rPr lang="en-GB" b="1" noProof="0" dirty="0">
                <a:latin typeface="Courier New" panose="02070309020205020404" pitchFamily="49" charset="0"/>
                <a:cs typeface="Courier New" panose="02070309020205020404" pitchFamily="49" charset="0"/>
              </a:rPr>
              <a:t>, </a:t>
            </a:r>
            <a:r>
              <a:rPr lang="en-GB" b="1" noProof="0" dirty="0" err="1">
                <a:latin typeface="Courier New" panose="02070309020205020404" pitchFamily="49" charset="0"/>
                <a:cs typeface="Courier New" panose="02070309020205020404" pitchFamily="49" charset="0"/>
              </a:rPr>
              <a:t>orphanRemoval</a:t>
            </a:r>
            <a:r>
              <a:rPr lang="en-GB" b="1" noProof="0" dirty="0">
                <a:latin typeface="Courier New" panose="02070309020205020404" pitchFamily="49" charset="0"/>
                <a:cs typeface="Courier New" panose="02070309020205020404" pitchFamily="49" charset="0"/>
              </a:rPr>
              <a:t>, optional)</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cascade</a:t>
            </a:r>
            <a:r>
              <a:rPr lang="en-GB" noProof="0" dirty="0"/>
              <a:t> (Enum: </a:t>
            </a:r>
            <a:r>
              <a:rPr lang="en-GB" noProof="0" dirty="0" err="1"/>
              <a:t>CascadeType</a:t>
            </a:r>
            <a:r>
              <a:rPr lang="en-GB" noProof="0" dirty="0"/>
              <a:t>[], optional)</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fetch</a:t>
            </a:r>
            <a:r>
              <a:rPr lang="en-GB" noProof="0" dirty="0"/>
              <a:t> (Enum: </a:t>
            </a:r>
            <a:r>
              <a:rPr lang="en-GB" noProof="0" dirty="0" err="1"/>
              <a:t>FetchType</a:t>
            </a:r>
            <a:r>
              <a:rPr lang="en-GB" noProof="0" dirty="0"/>
              <a:t>, optional, default: EAGER)</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mappedBy</a:t>
            </a:r>
            <a:r>
              <a:rPr lang="en-GB" noProof="0" dirty="0"/>
              <a:t> (String): specifies the field in the owning entity that maps this relationship. Used only on inverse side</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orphanRemoval</a:t>
            </a:r>
            <a:r>
              <a:rPr lang="en-GB" noProof="0" dirty="0"/>
              <a:t> (</a:t>
            </a:r>
            <a:r>
              <a:rPr lang="en-GB" noProof="0" dirty="0" err="1"/>
              <a:t>boolean</a:t>
            </a:r>
            <a:r>
              <a:rPr lang="en-GB" noProof="0" dirty="0"/>
              <a:t>, default: false): if true, removes related entities when they are no longer referenced</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optional</a:t>
            </a:r>
            <a:r>
              <a:rPr lang="en-GB" noProof="0" dirty="0"/>
              <a:t> (</a:t>
            </a:r>
            <a:r>
              <a:rPr lang="en-GB" noProof="0" dirty="0" err="1"/>
              <a:t>boolean</a:t>
            </a:r>
            <a:r>
              <a:rPr lang="en-GB" noProof="0" dirty="0"/>
              <a:t>, default: true): if false, enforces a non-null foreign key constraint</a:t>
            </a:r>
          </a:p>
          <a:p>
            <a:r>
              <a:rPr lang="en-GB" noProof="0" dirty="0"/>
              <a:t>The inverse side of the relationship uses </a:t>
            </a:r>
            <a:r>
              <a:rPr lang="en-GB" i="1" noProof="0" dirty="0" err="1"/>
              <a:t>mappedBy</a:t>
            </a:r>
            <a:r>
              <a:rPr lang="en-GB" noProof="0" dirty="0"/>
              <a:t> to reference the owning entity and avoid an extra foreign key</a:t>
            </a:r>
          </a:p>
        </p:txBody>
      </p:sp>
    </p:spTree>
    <p:extLst>
      <p:ext uri="{BB962C8B-B14F-4D97-AF65-F5344CB8AC3E}">
        <p14:creationId xmlns:p14="http://schemas.microsoft.com/office/powerpoint/2010/main" val="829194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336410-7B96-94C6-E001-4FDEAA841208}"/>
              </a:ext>
            </a:extLst>
          </p:cNvPr>
          <p:cNvSpPr>
            <a:spLocks noGrp="1"/>
          </p:cNvSpPr>
          <p:nvPr>
            <p:ph type="title"/>
          </p:nvPr>
        </p:nvSpPr>
        <p:spPr/>
        <p:txBody>
          <a:bodyPr/>
          <a:lstStyle/>
          <a:p>
            <a:r>
              <a:rPr lang="en-GB" noProof="0" dirty="0"/>
              <a:t>Relationship Mapping</a:t>
            </a:r>
          </a:p>
        </p:txBody>
      </p:sp>
      <p:sp>
        <p:nvSpPr>
          <p:cNvPr id="3" name="Segnaposto contenuto 2">
            <a:extLst>
              <a:ext uri="{FF2B5EF4-FFF2-40B4-BE49-F238E27FC236}">
                <a16:creationId xmlns:a16="http://schemas.microsoft.com/office/drawing/2014/main" id="{F2D34C0F-656A-0C2D-3DE9-76C96C6F5958}"/>
              </a:ext>
            </a:extLst>
          </p:cNvPr>
          <p:cNvSpPr>
            <a:spLocks noGrp="1"/>
          </p:cNvSpPr>
          <p:nvPr>
            <p:ph idx="1"/>
          </p:nvPr>
        </p:nvSpPr>
        <p:spPr/>
        <p:txBody>
          <a:bodyPr>
            <a:normAutofit/>
          </a:bodyPr>
          <a:lstStyle/>
          <a:p>
            <a:r>
              <a:rPr lang="en-GB" noProof="0" dirty="0"/>
              <a:t>All relationship annotations share two key parameters:</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cascade</a:t>
            </a:r>
            <a:r>
              <a:rPr lang="en-GB" noProof="0" dirty="0"/>
              <a:t> (Enum: </a:t>
            </a:r>
            <a:r>
              <a:rPr lang="en-GB" noProof="0" dirty="0" err="1"/>
              <a:t>CascadeType</a:t>
            </a:r>
            <a:r>
              <a:rPr lang="en-GB" noProof="0" dirty="0"/>
              <a:t>[]): defines how persistence operations affect related entities. It accepts an array of </a:t>
            </a:r>
            <a:r>
              <a:rPr lang="en-GB" noProof="0" dirty="0" err="1"/>
              <a:t>CascadeType</a:t>
            </a:r>
            <a:r>
              <a:rPr lang="en-GB" noProof="0" dirty="0"/>
              <a:t> values, meaning you can specify different cascade </a:t>
            </a:r>
            <a:r>
              <a:rPr lang="en-GB" noProof="0" dirty="0" err="1"/>
              <a:t>behaviors</a:t>
            </a:r>
            <a:r>
              <a:rPr lang="en-GB" noProof="0" dirty="0"/>
              <a:t> for different operations</a:t>
            </a:r>
          </a:p>
          <a:p>
            <a:pPr lvl="1"/>
            <a:r>
              <a:rPr lang="en-GB" b="1" dirty="0">
                <a:solidFill>
                  <a:schemeClr val="accent6">
                    <a:lumMod val="75000"/>
                  </a:schemeClr>
                </a:solidFill>
                <a:latin typeface="Courier New" panose="02070309020205020404" pitchFamily="49" charset="0"/>
                <a:cs typeface="Courier New" panose="02070309020205020404" pitchFamily="49" charset="0"/>
              </a:rPr>
              <a:t>fetch</a:t>
            </a:r>
            <a:r>
              <a:rPr lang="en-GB" noProof="0" dirty="0"/>
              <a:t> (Enum: </a:t>
            </a:r>
            <a:r>
              <a:rPr lang="en-GB" noProof="0" dirty="0" err="1"/>
              <a:t>FetchType</a:t>
            </a:r>
            <a:r>
              <a:rPr lang="en-GB" noProof="0" dirty="0"/>
              <a:t>): determines how the related entities are loaded</a:t>
            </a:r>
          </a:p>
        </p:txBody>
      </p:sp>
    </p:spTree>
    <p:extLst>
      <p:ext uri="{BB962C8B-B14F-4D97-AF65-F5344CB8AC3E}">
        <p14:creationId xmlns:p14="http://schemas.microsoft.com/office/powerpoint/2010/main" val="3641633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EC79EA-49ED-B6BB-C837-CD69D570D11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D892728-04CE-CFD2-5947-F15DD33C17F1}"/>
              </a:ext>
            </a:extLst>
          </p:cNvPr>
          <p:cNvSpPr>
            <a:spLocks noGrp="1"/>
          </p:cNvSpPr>
          <p:nvPr>
            <p:ph type="title"/>
          </p:nvPr>
        </p:nvSpPr>
        <p:spPr/>
        <p:txBody>
          <a:bodyPr>
            <a:normAutofit fontScale="90000"/>
          </a:bodyPr>
          <a:lstStyle/>
          <a:p>
            <a:r>
              <a:rPr lang="en-GB" noProof="0" dirty="0"/>
              <a:t>Entity – Relationship Cascading</a:t>
            </a:r>
          </a:p>
        </p:txBody>
      </p:sp>
      <p:sp>
        <p:nvSpPr>
          <p:cNvPr id="3" name="Segnaposto contenuto 2">
            <a:extLst>
              <a:ext uri="{FF2B5EF4-FFF2-40B4-BE49-F238E27FC236}">
                <a16:creationId xmlns:a16="http://schemas.microsoft.com/office/drawing/2014/main" id="{B81CA63A-8BEB-A9FD-9FEB-2C6C8E27F12C}"/>
              </a:ext>
            </a:extLst>
          </p:cNvPr>
          <p:cNvSpPr>
            <a:spLocks noGrp="1"/>
          </p:cNvSpPr>
          <p:nvPr>
            <p:ph idx="1"/>
          </p:nvPr>
        </p:nvSpPr>
        <p:spPr>
          <a:xfrm>
            <a:off x="685800" y="1295400"/>
            <a:ext cx="8150225" cy="5013920"/>
          </a:xfrm>
        </p:spPr>
        <p:txBody>
          <a:bodyPr>
            <a:normAutofit fontScale="62500" lnSpcReduction="20000"/>
          </a:bodyPr>
          <a:lstStyle/>
          <a:p>
            <a:r>
              <a:rPr lang="en-GB" noProof="0" dirty="0"/>
              <a:t>Cascading allows propagation of operations (e.g., persist, update, delete) from a parent entity to its related entities.</a:t>
            </a:r>
          </a:p>
          <a:p>
            <a:r>
              <a:rPr lang="en-GB" noProof="0" dirty="0"/>
              <a:t>ORMs let you configure cascading per operation type:</a:t>
            </a:r>
          </a:p>
          <a:p>
            <a:pPr lvl="1"/>
            <a:r>
              <a:rPr lang="en-GB" noProof="0" dirty="0"/>
              <a:t>Persist: saves related entities when the parent is saved.</a:t>
            </a:r>
          </a:p>
          <a:p>
            <a:pPr lvl="1"/>
            <a:r>
              <a:rPr lang="en-GB" noProof="0" dirty="0"/>
              <a:t>Merge: updates related entities when the parent is updated.</a:t>
            </a:r>
          </a:p>
          <a:p>
            <a:pPr lvl="1"/>
            <a:r>
              <a:rPr lang="en-GB" noProof="0" dirty="0"/>
              <a:t>Remove: deletes related entities when the parent is deleted.</a:t>
            </a:r>
          </a:p>
          <a:p>
            <a:pPr lvl="1"/>
            <a:r>
              <a:rPr lang="en-GB" noProof="0" dirty="0"/>
              <a:t>Detach: detaches related entities when the parent is removed from the persistence context.</a:t>
            </a:r>
          </a:p>
          <a:p>
            <a:pPr lvl="1"/>
            <a:r>
              <a:rPr lang="en-GB" noProof="0" dirty="0"/>
              <a:t>Refresh: reloads related entities when the parent is refreshed.</a:t>
            </a:r>
          </a:p>
          <a:p>
            <a:r>
              <a:rPr lang="en-GB" noProof="0" dirty="0"/>
              <a:t>Cascade strategies:</a:t>
            </a:r>
          </a:p>
          <a:p>
            <a:pPr lvl="1"/>
            <a:r>
              <a:rPr lang="en-GB" noProof="0" dirty="0"/>
              <a:t>Full cascade: applies all operations to related entities.</a:t>
            </a:r>
          </a:p>
          <a:p>
            <a:pPr lvl="1"/>
            <a:r>
              <a:rPr lang="en-GB" noProof="0" dirty="0"/>
              <a:t>Selective cascade: allows only specific operations to be propagated.</a:t>
            </a:r>
          </a:p>
          <a:p>
            <a:pPr lvl="1"/>
            <a:r>
              <a:rPr lang="en-GB" noProof="0" dirty="0"/>
              <a:t>No cascade: relationships must be managed manually.</a:t>
            </a:r>
          </a:p>
          <a:p>
            <a:r>
              <a:rPr lang="en-GB" noProof="0" dirty="0"/>
              <a:t>Cascading simplifies persistence management but must be configured carefully to avoid unintended side effects.</a:t>
            </a:r>
          </a:p>
        </p:txBody>
      </p:sp>
    </p:spTree>
    <p:extLst>
      <p:ext uri="{BB962C8B-B14F-4D97-AF65-F5344CB8AC3E}">
        <p14:creationId xmlns:p14="http://schemas.microsoft.com/office/powerpoint/2010/main" val="3523687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E336410-7B96-94C6-E001-4FDEAA841208}"/>
              </a:ext>
            </a:extLst>
          </p:cNvPr>
          <p:cNvSpPr>
            <a:spLocks noGrp="1"/>
          </p:cNvSpPr>
          <p:nvPr>
            <p:ph type="title"/>
          </p:nvPr>
        </p:nvSpPr>
        <p:spPr/>
        <p:txBody>
          <a:bodyPr/>
          <a:lstStyle/>
          <a:p>
            <a:r>
              <a:rPr lang="en-GB" noProof="0" dirty="0"/>
              <a:t>Relationship Mapping</a:t>
            </a:r>
          </a:p>
        </p:txBody>
      </p:sp>
      <p:sp>
        <p:nvSpPr>
          <p:cNvPr id="3" name="Segnaposto contenuto 2">
            <a:extLst>
              <a:ext uri="{FF2B5EF4-FFF2-40B4-BE49-F238E27FC236}">
                <a16:creationId xmlns:a16="http://schemas.microsoft.com/office/drawing/2014/main" id="{F2D34C0F-656A-0C2D-3DE9-76C96C6F5958}"/>
              </a:ext>
            </a:extLst>
          </p:cNvPr>
          <p:cNvSpPr>
            <a:spLocks noGrp="1"/>
          </p:cNvSpPr>
          <p:nvPr>
            <p:ph idx="1"/>
          </p:nvPr>
        </p:nvSpPr>
        <p:spPr>
          <a:xfrm>
            <a:off x="685800" y="1295400"/>
            <a:ext cx="8150225" cy="5157936"/>
          </a:xfrm>
        </p:spPr>
        <p:txBody>
          <a:bodyPr>
            <a:normAutofit fontScale="77500" lnSpcReduction="20000"/>
          </a:bodyPr>
          <a:lstStyle/>
          <a:p>
            <a:r>
              <a:rPr lang="en-GB" b="1" noProof="0" dirty="0">
                <a:solidFill>
                  <a:schemeClr val="accent6">
                    <a:lumMod val="75000"/>
                  </a:schemeClr>
                </a:solidFill>
                <a:latin typeface="Courier New" panose="02070309020205020404" pitchFamily="49" charset="0"/>
                <a:cs typeface="Courier New" panose="02070309020205020404" pitchFamily="49" charset="0"/>
              </a:rPr>
              <a:t>cascade</a:t>
            </a:r>
            <a:r>
              <a:rPr lang="en-GB" noProof="0" dirty="0"/>
              <a:t> (Enum: </a:t>
            </a:r>
            <a:r>
              <a:rPr lang="en-GB" noProof="0" dirty="0" err="1"/>
              <a:t>CascadeType</a:t>
            </a:r>
            <a:r>
              <a:rPr lang="en-GB" noProof="0" dirty="0"/>
              <a:t>[]): accepts an array of </a:t>
            </a:r>
            <a:r>
              <a:rPr lang="en-GB" noProof="0" dirty="0" err="1"/>
              <a:t>CascadeType</a:t>
            </a:r>
            <a:r>
              <a:rPr lang="en-GB" noProof="0" dirty="0"/>
              <a:t> values, possible different cascade </a:t>
            </a:r>
            <a:r>
              <a:rPr lang="en-GB" noProof="0" dirty="0" err="1"/>
              <a:t>behaviors</a:t>
            </a:r>
            <a:r>
              <a:rPr lang="en-GB" noProof="0" dirty="0"/>
              <a:t> for different operations:</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ALL</a:t>
            </a:r>
            <a:r>
              <a:rPr lang="en-GB" noProof="0" dirty="0"/>
              <a:t>: applies all operations to related entities</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PERSIST</a:t>
            </a:r>
            <a:r>
              <a:rPr lang="en-GB" noProof="0" dirty="0"/>
              <a:t>: saves child entities when the parent is saved</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MERGE</a:t>
            </a:r>
            <a:r>
              <a:rPr lang="en-GB" noProof="0" dirty="0"/>
              <a:t>: updates child entities when the parent is updated</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REMOVE</a:t>
            </a:r>
            <a:r>
              <a:rPr lang="en-GB" noProof="0" dirty="0"/>
              <a:t>: deletes child entities when the parent is deleted</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REFRESH</a:t>
            </a:r>
            <a:r>
              <a:rPr lang="en-GB" noProof="0" dirty="0"/>
              <a:t>: reloads child entities when the parent is refreshed</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DETACH</a:t>
            </a:r>
            <a:r>
              <a:rPr lang="en-GB" noProof="0" dirty="0"/>
              <a:t>: detaches child entities when the parent is detached</a:t>
            </a:r>
          </a:p>
          <a:p>
            <a:endParaRPr lang="en-GB" noProof="0" dirty="0"/>
          </a:p>
        </p:txBody>
      </p:sp>
    </p:spTree>
    <p:extLst>
      <p:ext uri="{BB962C8B-B14F-4D97-AF65-F5344CB8AC3E}">
        <p14:creationId xmlns:p14="http://schemas.microsoft.com/office/powerpoint/2010/main" val="623904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B14ABD-4234-1771-FAF6-37218C9A7F5D}"/>
              </a:ext>
            </a:extLst>
          </p:cNvPr>
          <p:cNvSpPr>
            <a:spLocks noGrp="1"/>
          </p:cNvSpPr>
          <p:nvPr>
            <p:ph type="title"/>
          </p:nvPr>
        </p:nvSpPr>
        <p:spPr/>
        <p:txBody>
          <a:bodyPr/>
          <a:lstStyle/>
          <a:p>
            <a:r>
              <a:rPr lang="en-GB" noProof="0" dirty="0"/>
              <a:t>Entity – Loading strategies</a:t>
            </a:r>
          </a:p>
        </p:txBody>
      </p:sp>
      <p:sp>
        <p:nvSpPr>
          <p:cNvPr id="3" name="Segnaposto contenuto 2">
            <a:extLst>
              <a:ext uri="{FF2B5EF4-FFF2-40B4-BE49-F238E27FC236}">
                <a16:creationId xmlns:a16="http://schemas.microsoft.com/office/drawing/2014/main" id="{FE584BC5-12DC-45B4-FF4C-7AB5D2A4E743}"/>
              </a:ext>
            </a:extLst>
          </p:cNvPr>
          <p:cNvSpPr>
            <a:spLocks noGrp="1"/>
          </p:cNvSpPr>
          <p:nvPr>
            <p:ph idx="1"/>
          </p:nvPr>
        </p:nvSpPr>
        <p:spPr/>
        <p:txBody>
          <a:bodyPr>
            <a:normAutofit fontScale="77500" lnSpcReduction="20000"/>
          </a:bodyPr>
          <a:lstStyle/>
          <a:p>
            <a:r>
              <a:rPr lang="en-GB" noProof="0" dirty="0"/>
              <a:t>The loading strategy determines the </a:t>
            </a:r>
            <a:r>
              <a:rPr lang="en-GB" b="1" i="1" noProof="0" dirty="0"/>
              <a:t>data navigation </a:t>
            </a:r>
            <a:r>
              <a:rPr lang="en-GB" noProof="0" dirty="0"/>
              <a:t>in our model</a:t>
            </a:r>
          </a:p>
          <a:p>
            <a:r>
              <a:rPr lang="en-GB" noProof="0" dirty="0"/>
              <a:t>Navigating relationships in ORM requires fetching data efficiently</a:t>
            </a:r>
          </a:p>
          <a:p>
            <a:r>
              <a:rPr lang="en-GB" b="1" dirty="0">
                <a:solidFill>
                  <a:schemeClr val="accent6">
                    <a:lumMod val="75000"/>
                  </a:schemeClr>
                </a:solidFill>
                <a:latin typeface="Courier New" panose="02070309020205020404" pitchFamily="49" charset="0"/>
                <a:cs typeface="Courier New" panose="02070309020205020404" pitchFamily="49" charset="0"/>
              </a:rPr>
              <a:t>fetch</a:t>
            </a:r>
            <a:r>
              <a:rPr lang="en-GB" noProof="0" dirty="0"/>
              <a:t> (Enum: </a:t>
            </a:r>
            <a:r>
              <a:rPr lang="en-GB" noProof="0" dirty="0" err="1"/>
              <a:t>FetchType</a:t>
            </a:r>
            <a:r>
              <a:rPr lang="en-GB" noProof="0" dirty="0"/>
              <a:t>): determines how the related entities are loaded (</a:t>
            </a:r>
            <a:r>
              <a:rPr lang="en-GB" noProof="0" dirty="0" err="1"/>
              <a:t>FetchType.XXX</a:t>
            </a:r>
            <a:r>
              <a:rPr lang="en-GB" noProof="0" dirty="0"/>
              <a:t>):</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EAGER</a:t>
            </a:r>
            <a:r>
              <a:rPr lang="en-GB" noProof="0" dirty="0"/>
              <a:t>: always loads the related entity immediately</a:t>
            </a:r>
          </a:p>
          <a:p>
            <a:pPr lvl="2"/>
            <a:r>
              <a:rPr lang="en-GB" noProof="0" dirty="0"/>
              <a:t>reduces query count but can load unnecessary data</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LAZY</a:t>
            </a:r>
            <a:r>
              <a:rPr lang="en-GB" noProof="0" dirty="0"/>
              <a:t>: loads the related entity only when accessed</a:t>
            </a:r>
          </a:p>
          <a:p>
            <a:pPr lvl="2"/>
            <a:r>
              <a:rPr lang="en-GB" noProof="0" dirty="0"/>
              <a:t>improves initial performance but causes multiple queries</a:t>
            </a:r>
          </a:p>
          <a:p>
            <a:r>
              <a:rPr lang="en-GB" noProof="0" dirty="0"/>
              <a:t>Choosing the right strategy depends on performance trade-offs and data access patterns </a:t>
            </a:r>
          </a:p>
        </p:txBody>
      </p:sp>
    </p:spTree>
    <p:extLst>
      <p:ext uri="{BB962C8B-B14F-4D97-AF65-F5344CB8AC3E}">
        <p14:creationId xmlns:p14="http://schemas.microsoft.com/office/powerpoint/2010/main" val="2987238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F5EE7-3720-5707-CBDF-5269509BC1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C9D7411-1359-CBBC-C8BD-DC18501B7A4A}"/>
              </a:ext>
            </a:extLst>
          </p:cNvPr>
          <p:cNvSpPr>
            <a:spLocks noGrp="1"/>
          </p:cNvSpPr>
          <p:nvPr>
            <p:ph type="title"/>
          </p:nvPr>
        </p:nvSpPr>
        <p:spPr/>
        <p:txBody>
          <a:bodyPr>
            <a:normAutofit/>
          </a:bodyPr>
          <a:lstStyle/>
          <a:p>
            <a:r>
              <a:rPr lang="en-GB" sz="3400" noProof="0" dirty="0"/>
              <a:t>Relationship Management - </a:t>
            </a:r>
            <a:r>
              <a:rPr lang="en-GB" sz="3400" noProof="0" dirty="0" err="1"/>
              <a:t>JoinColumn</a:t>
            </a:r>
            <a:endParaRPr lang="en-GB" sz="3400" noProof="0" dirty="0"/>
          </a:p>
        </p:txBody>
      </p:sp>
      <p:sp>
        <p:nvSpPr>
          <p:cNvPr id="3" name="Segnaposto contenuto 2">
            <a:extLst>
              <a:ext uri="{FF2B5EF4-FFF2-40B4-BE49-F238E27FC236}">
                <a16:creationId xmlns:a16="http://schemas.microsoft.com/office/drawing/2014/main" id="{DED3B9E8-B0CB-291A-054E-BA960E9C5D10}"/>
              </a:ext>
            </a:extLst>
          </p:cNvPr>
          <p:cNvSpPr>
            <a:spLocks noGrp="1"/>
          </p:cNvSpPr>
          <p:nvPr>
            <p:ph idx="1"/>
          </p:nvPr>
        </p:nvSpPr>
        <p:spPr>
          <a:xfrm>
            <a:off x="685800" y="1295400"/>
            <a:ext cx="8150225" cy="5229944"/>
          </a:xfrm>
        </p:spPr>
        <p:txBody>
          <a:bodyPr>
            <a:normAutofit fontScale="70000" lnSpcReduction="20000"/>
          </a:bodyPr>
          <a:lstStyle/>
          <a:p>
            <a:r>
              <a:rPr lang="en-GB" noProof="0" dirty="0"/>
              <a:t>By default, JPA automatically names the foreign key column as </a:t>
            </a:r>
            <a:r>
              <a:rPr lang="en-GB" i="1" noProof="0" dirty="0"/>
              <a:t>{</a:t>
            </a:r>
            <a:r>
              <a:rPr lang="en-GB" i="1" noProof="0" dirty="0" err="1"/>
              <a:t>fieldName</a:t>
            </a:r>
            <a:r>
              <a:rPr lang="en-GB" i="1" noProof="0" dirty="0"/>
              <a:t>}_id</a:t>
            </a:r>
            <a:r>
              <a:rPr lang="en-GB" noProof="0" dirty="0"/>
              <a:t>, but </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JoinColumn</a:t>
            </a:r>
            <a:r>
              <a:rPr lang="en-GB" noProof="0" dirty="0"/>
              <a:t> allows customization</a:t>
            </a:r>
          </a:p>
          <a:p>
            <a:r>
              <a:rPr lang="en-GB" b="1" noProof="0" dirty="0">
                <a:solidFill>
                  <a:schemeClr val="accent6">
                    <a:lumMod val="75000"/>
                  </a:schemeClr>
                </a:solidFill>
                <a:latin typeface="Courier New" panose="02070309020205020404" pitchFamily="49" charset="0"/>
                <a:cs typeface="Courier New" panose="02070309020205020404" pitchFamily="49" charset="0"/>
              </a:rPr>
              <a:t>@</a:t>
            </a:r>
            <a:r>
              <a:rPr lang="en-GB" b="1" noProof="0" dirty="0" err="1">
                <a:solidFill>
                  <a:schemeClr val="accent6">
                    <a:lumMod val="75000"/>
                  </a:schemeClr>
                </a:solidFill>
                <a:latin typeface="Courier New" panose="02070309020205020404" pitchFamily="49" charset="0"/>
                <a:cs typeface="Courier New" panose="02070309020205020404" pitchFamily="49" charset="0"/>
              </a:rPr>
              <a:t>JoinColumn</a:t>
            </a:r>
            <a:r>
              <a:rPr lang="en-GB" b="1" noProof="0" dirty="0">
                <a:latin typeface="Courier New" panose="02070309020205020404" pitchFamily="49" charset="0"/>
                <a:cs typeface="Courier New" panose="02070309020205020404" pitchFamily="49" charset="0"/>
              </a:rPr>
              <a:t>(name, </a:t>
            </a:r>
            <a:r>
              <a:rPr lang="en-GB" b="1" noProof="0" dirty="0" err="1">
                <a:latin typeface="Courier New" panose="02070309020205020404" pitchFamily="49" charset="0"/>
                <a:cs typeface="Courier New" panose="02070309020205020404" pitchFamily="49" charset="0"/>
              </a:rPr>
              <a:t>referencedColumnName</a:t>
            </a:r>
            <a:r>
              <a:rPr lang="en-GB" b="1" noProof="0" dirty="0">
                <a:latin typeface="Courier New" panose="02070309020205020404" pitchFamily="49" charset="0"/>
                <a:cs typeface="Courier New" panose="02070309020205020404" pitchFamily="49" charset="0"/>
              </a:rPr>
              <a:t>, nullable, unique, insertable, updatable)</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name</a:t>
            </a:r>
            <a:r>
              <a:rPr lang="en-GB" noProof="0" dirty="0"/>
              <a:t> (String, optional): defines the foreign key column name</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referencedColumnName</a:t>
            </a:r>
            <a:r>
              <a:rPr lang="en-GB" noProof="0" dirty="0"/>
              <a:t> (String, optional): the column name in the referenced entity’s table</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nullable</a:t>
            </a:r>
            <a:r>
              <a:rPr lang="en-GB" noProof="0" dirty="0"/>
              <a:t> (</a:t>
            </a:r>
            <a:r>
              <a:rPr lang="en-GB" noProof="0" dirty="0" err="1"/>
              <a:t>boolean</a:t>
            </a:r>
            <a:r>
              <a:rPr lang="en-GB" noProof="0" dirty="0"/>
              <a:t>, default: true): if false, prevents NULL values</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unique</a:t>
            </a:r>
            <a:r>
              <a:rPr lang="en-GB" noProof="0" dirty="0"/>
              <a:t> (</a:t>
            </a:r>
            <a:r>
              <a:rPr lang="en-GB" noProof="0" dirty="0" err="1"/>
              <a:t>boolean</a:t>
            </a:r>
            <a:r>
              <a:rPr lang="en-GB" noProof="0" dirty="0"/>
              <a:t>, default: false): if true, enforces uniqueness</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insertable</a:t>
            </a:r>
            <a:r>
              <a:rPr lang="en-GB" noProof="0" dirty="0"/>
              <a:t> (</a:t>
            </a:r>
            <a:r>
              <a:rPr lang="en-GB" noProof="0" dirty="0" err="1"/>
              <a:t>boolean</a:t>
            </a:r>
            <a:r>
              <a:rPr lang="en-GB" noProof="0" dirty="0"/>
              <a:t>, default: true): if false, prevents insert operations</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updatable</a:t>
            </a:r>
            <a:r>
              <a:rPr lang="en-GB" noProof="0" dirty="0"/>
              <a:t> (</a:t>
            </a:r>
            <a:r>
              <a:rPr lang="en-GB" noProof="0" dirty="0" err="1"/>
              <a:t>boolean</a:t>
            </a:r>
            <a:r>
              <a:rPr lang="en-GB" noProof="0" dirty="0"/>
              <a:t>, default: true): if false, prevents updates</a:t>
            </a:r>
          </a:p>
        </p:txBody>
      </p:sp>
    </p:spTree>
    <p:extLst>
      <p:ext uri="{BB962C8B-B14F-4D97-AF65-F5344CB8AC3E}">
        <p14:creationId xmlns:p14="http://schemas.microsoft.com/office/powerpoint/2010/main" val="21712951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6767C2-4074-0F60-5CF0-662F736DFECE}"/>
              </a:ext>
            </a:extLst>
          </p:cNvPr>
          <p:cNvSpPr>
            <a:spLocks noGrp="1"/>
          </p:cNvSpPr>
          <p:nvPr>
            <p:ph type="title"/>
          </p:nvPr>
        </p:nvSpPr>
        <p:spPr/>
        <p:txBody>
          <a:bodyPr/>
          <a:lstStyle/>
          <a:p>
            <a:r>
              <a:rPr lang="en-GB" noProof="0" dirty="0"/>
              <a:t>Relationships - </a:t>
            </a:r>
            <a:r>
              <a:rPr lang="en-GB" noProof="0" dirty="0" err="1"/>
              <a:t>ManyToOne</a:t>
            </a:r>
            <a:endParaRPr lang="en-GB" noProof="0" dirty="0"/>
          </a:p>
        </p:txBody>
      </p:sp>
      <p:sp>
        <p:nvSpPr>
          <p:cNvPr id="3" name="Segnaposto contenuto 2">
            <a:extLst>
              <a:ext uri="{FF2B5EF4-FFF2-40B4-BE49-F238E27FC236}">
                <a16:creationId xmlns:a16="http://schemas.microsoft.com/office/drawing/2014/main" id="{99A969B4-941F-1236-D6E9-CB8DC32E8EE0}"/>
              </a:ext>
            </a:extLst>
          </p:cNvPr>
          <p:cNvSpPr>
            <a:spLocks noGrp="1"/>
          </p:cNvSpPr>
          <p:nvPr>
            <p:ph idx="1"/>
          </p:nvPr>
        </p:nvSpPr>
        <p:spPr/>
        <p:txBody>
          <a:bodyPr>
            <a:normAutofit/>
          </a:bodyPr>
          <a:lstStyle/>
          <a:p>
            <a:r>
              <a:rPr lang="en-GB" sz="2400" b="1" noProof="0" dirty="0">
                <a:solidFill>
                  <a:schemeClr val="accent6">
                    <a:lumMod val="75000"/>
                  </a:schemeClr>
                </a:solidFill>
                <a:latin typeface="Courier New" panose="02070309020205020404" pitchFamily="49" charset="0"/>
                <a:cs typeface="Courier New" panose="02070309020205020404" pitchFamily="49" charset="0"/>
              </a:rPr>
              <a:t>@</a:t>
            </a:r>
            <a:r>
              <a:rPr lang="en-GB" sz="2400" b="1" noProof="0" dirty="0" err="1">
                <a:solidFill>
                  <a:schemeClr val="accent6">
                    <a:lumMod val="75000"/>
                  </a:schemeClr>
                </a:solidFill>
                <a:latin typeface="Courier New" panose="02070309020205020404" pitchFamily="49" charset="0"/>
                <a:cs typeface="Courier New" panose="02070309020205020404" pitchFamily="49" charset="0"/>
              </a:rPr>
              <a:t>ManyToOne</a:t>
            </a:r>
            <a:r>
              <a:rPr lang="en-GB" sz="2400" b="1" noProof="0" dirty="0">
                <a:latin typeface="Courier New" panose="02070309020205020404" pitchFamily="49" charset="0"/>
                <a:cs typeface="Courier New" panose="02070309020205020404" pitchFamily="49" charset="0"/>
              </a:rPr>
              <a:t>(cascade, fetch, optional)</a:t>
            </a:r>
          </a:p>
          <a:p>
            <a:pPr lvl="1"/>
            <a:r>
              <a:rPr lang="en-GB" sz="2000" b="1" noProof="0" dirty="0">
                <a:solidFill>
                  <a:schemeClr val="accent6">
                    <a:lumMod val="75000"/>
                  </a:schemeClr>
                </a:solidFill>
                <a:latin typeface="Courier New" panose="02070309020205020404" pitchFamily="49" charset="0"/>
                <a:cs typeface="Courier New" panose="02070309020205020404" pitchFamily="49" charset="0"/>
              </a:rPr>
              <a:t>cascade</a:t>
            </a:r>
            <a:r>
              <a:rPr lang="en-GB" sz="2000" noProof="0" dirty="0"/>
              <a:t> (</a:t>
            </a:r>
            <a:r>
              <a:rPr lang="en-GB" sz="2000" noProof="0" dirty="0" err="1"/>
              <a:t>CascadeType</a:t>
            </a:r>
            <a:r>
              <a:rPr lang="en-GB" sz="2000" noProof="0" dirty="0"/>
              <a:t>[], optional)</a:t>
            </a:r>
          </a:p>
          <a:p>
            <a:pPr lvl="1"/>
            <a:r>
              <a:rPr lang="en-GB" sz="2000" b="1" noProof="0" dirty="0">
                <a:solidFill>
                  <a:schemeClr val="accent6">
                    <a:lumMod val="75000"/>
                  </a:schemeClr>
                </a:solidFill>
                <a:latin typeface="Courier New" panose="02070309020205020404" pitchFamily="49" charset="0"/>
                <a:cs typeface="Courier New" panose="02070309020205020404" pitchFamily="49" charset="0"/>
              </a:rPr>
              <a:t>fetch</a:t>
            </a:r>
            <a:r>
              <a:rPr lang="en-GB" sz="2000" noProof="0" dirty="0"/>
              <a:t> (</a:t>
            </a:r>
            <a:r>
              <a:rPr lang="en-GB" sz="2000" noProof="0" dirty="0" err="1"/>
              <a:t>FetchType</a:t>
            </a:r>
            <a:r>
              <a:rPr lang="en-GB" sz="2000" noProof="0" dirty="0"/>
              <a:t>, optional, default: EAGER)</a:t>
            </a:r>
          </a:p>
          <a:p>
            <a:pPr lvl="1"/>
            <a:r>
              <a:rPr lang="en-GB" sz="2000" b="1" noProof="0" dirty="0">
                <a:solidFill>
                  <a:schemeClr val="accent6">
                    <a:lumMod val="75000"/>
                  </a:schemeClr>
                </a:solidFill>
                <a:latin typeface="Courier New" panose="02070309020205020404" pitchFamily="49" charset="0"/>
                <a:cs typeface="Courier New" panose="02070309020205020404" pitchFamily="49" charset="0"/>
              </a:rPr>
              <a:t>optional</a:t>
            </a:r>
            <a:r>
              <a:rPr lang="en-GB" sz="2000" noProof="0" dirty="0"/>
              <a:t> (</a:t>
            </a:r>
            <a:r>
              <a:rPr lang="en-GB" sz="2000" noProof="0" dirty="0" err="1"/>
              <a:t>boolean</a:t>
            </a:r>
            <a:r>
              <a:rPr lang="en-GB" sz="2000" noProof="0" dirty="0"/>
              <a:t>, default: true): if false, enforces a non-null foreign key constraint</a:t>
            </a:r>
          </a:p>
          <a:p>
            <a:r>
              <a:rPr lang="en-GB" sz="2400" b="1" noProof="0" dirty="0">
                <a:latin typeface="Courier New" panose="02070309020205020404" pitchFamily="49" charset="0"/>
                <a:cs typeface="Courier New" panose="02070309020205020404" pitchFamily="49" charset="0"/>
              </a:rPr>
              <a:t>@</a:t>
            </a:r>
            <a:r>
              <a:rPr lang="en-GB" sz="2400" b="1" noProof="0" dirty="0" err="1">
                <a:latin typeface="Courier New" panose="02070309020205020404" pitchFamily="49" charset="0"/>
                <a:cs typeface="Courier New" panose="02070309020205020404" pitchFamily="49" charset="0"/>
              </a:rPr>
              <a:t>JoinColumn</a:t>
            </a:r>
            <a:r>
              <a:rPr lang="en-GB" sz="2400" b="1" noProof="0" dirty="0">
                <a:latin typeface="Courier New" panose="02070309020205020404" pitchFamily="49" charset="0"/>
                <a:cs typeface="Courier New" panose="02070309020205020404" pitchFamily="49" charset="0"/>
              </a:rPr>
              <a:t> </a:t>
            </a:r>
            <a:r>
              <a:rPr lang="en-GB" sz="2400" noProof="0" dirty="0"/>
              <a:t>may be used to define the foreign key column</a:t>
            </a:r>
          </a:p>
        </p:txBody>
      </p:sp>
    </p:spTree>
    <p:extLst>
      <p:ext uri="{BB962C8B-B14F-4D97-AF65-F5344CB8AC3E}">
        <p14:creationId xmlns:p14="http://schemas.microsoft.com/office/powerpoint/2010/main" val="855711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72BAF0F-696D-7374-4DCE-FDDFC0BF60DE}"/>
              </a:ext>
            </a:extLst>
          </p:cNvPr>
          <p:cNvSpPr>
            <a:spLocks noGrp="1"/>
          </p:cNvSpPr>
          <p:nvPr>
            <p:ph type="title"/>
          </p:nvPr>
        </p:nvSpPr>
        <p:spPr/>
        <p:txBody>
          <a:bodyPr/>
          <a:lstStyle/>
          <a:p>
            <a:r>
              <a:rPr lang="en-GB" noProof="0" dirty="0"/>
              <a:t>Relationships - </a:t>
            </a:r>
            <a:r>
              <a:rPr lang="en-GB" noProof="0" dirty="0" err="1"/>
              <a:t>OneToMany</a:t>
            </a:r>
            <a:endParaRPr lang="en-GB" noProof="0" dirty="0"/>
          </a:p>
        </p:txBody>
      </p:sp>
      <p:sp>
        <p:nvSpPr>
          <p:cNvPr id="3" name="Segnaposto contenuto 2">
            <a:extLst>
              <a:ext uri="{FF2B5EF4-FFF2-40B4-BE49-F238E27FC236}">
                <a16:creationId xmlns:a16="http://schemas.microsoft.com/office/drawing/2014/main" id="{43C1F1EC-29DA-B1C9-F1C5-D52496702784}"/>
              </a:ext>
            </a:extLst>
          </p:cNvPr>
          <p:cNvSpPr>
            <a:spLocks noGrp="1"/>
          </p:cNvSpPr>
          <p:nvPr>
            <p:ph idx="1"/>
          </p:nvPr>
        </p:nvSpPr>
        <p:spPr>
          <a:xfrm>
            <a:off x="685800" y="1295400"/>
            <a:ext cx="8150225" cy="5013920"/>
          </a:xfrm>
        </p:spPr>
        <p:txBody>
          <a:bodyPr>
            <a:normAutofit fontScale="77500" lnSpcReduction="20000"/>
          </a:bodyPr>
          <a:lstStyle/>
          <a:p>
            <a:r>
              <a:rPr lang="en-GB" b="1" noProof="0" dirty="0">
                <a:solidFill>
                  <a:schemeClr val="accent6">
                    <a:lumMod val="75000"/>
                  </a:schemeClr>
                </a:solidFill>
                <a:latin typeface="Courier New" panose="02070309020205020404" pitchFamily="49" charset="0"/>
                <a:cs typeface="Courier New" panose="02070309020205020404" pitchFamily="49" charset="0"/>
              </a:rPr>
              <a:t>@</a:t>
            </a:r>
            <a:r>
              <a:rPr lang="en-GB" b="1" noProof="0" dirty="0" err="1">
                <a:solidFill>
                  <a:schemeClr val="accent6">
                    <a:lumMod val="75000"/>
                  </a:schemeClr>
                </a:solidFill>
                <a:latin typeface="Courier New" panose="02070309020205020404" pitchFamily="49" charset="0"/>
                <a:cs typeface="Courier New" panose="02070309020205020404" pitchFamily="49" charset="0"/>
              </a:rPr>
              <a:t>OneToMany</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mappedBy</a:t>
            </a:r>
            <a:r>
              <a:rPr lang="en-GB" b="1" noProof="0" dirty="0">
                <a:latin typeface="Courier New" panose="02070309020205020404" pitchFamily="49" charset="0"/>
                <a:cs typeface="Courier New" panose="02070309020205020404" pitchFamily="49" charset="0"/>
              </a:rPr>
              <a:t>, cascade, fetch, </a:t>
            </a:r>
            <a:r>
              <a:rPr lang="en-GB" b="1" noProof="0" dirty="0" err="1">
                <a:latin typeface="Courier New" panose="02070309020205020404" pitchFamily="49" charset="0"/>
                <a:cs typeface="Courier New" panose="02070309020205020404" pitchFamily="49" charset="0"/>
              </a:rPr>
              <a:t>orphanRemoval</a:t>
            </a:r>
            <a:r>
              <a:rPr lang="en-GB" b="1" noProof="0" dirty="0">
                <a:latin typeface="Courier New" panose="02070309020205020404" pitchFamily="49" charset="0"/>
                <a:cs typeface="Courier New" panose="02070309020205020404" pitchFamily="49" charset="0"/>
              </a:rPr>
              <a:t>)</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mappedBy</a:t>
            </a:r>
            <a:r>
              <a:rPr lang="en-GB" noProof="0" dirty="0"/>
              <a:t> (String, required): specifies the field in the owning entity that manages the foreign key</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cascade</a:t>
            </a:r>
            <a:r>
              <a:rPr lang="en-GB" noProof="0" dirty="0"/>
              <a:t> (Enum: </a:t>
            </a:r>
            <a:r>
              <a:rPr lang="en-GB" noProof="0" dirty="0" err="1"/>
              <a:t>CascadeType</a:t>
            </a:r>
            <a:r>
              <a:rPr lang="en-GB" noProof="0" dirty="0"/>
              <a:t>[], optional)</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fetch</a:t>
            </a:r>
            <a:r>
              <a:rPr lang="en-GB" noProof="0" dirty="0"/>
              <a:t> (Enum: </a:t>
            </a:r>
            <a:r>
              <a:rPr lang="en-GB" noProof="0" dirty="0" err="1"/>
              <a:t>FetchType</a:t>
            </a:r>
            <a:r>
              <a:rPr lang="en-GB" noProof="0" dirty="0"/>
              <a:t>, optional, default: LAZY)</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orphanRemoval</a:t>
            </a:r>
            <a:r>
              <a:rPr lang="en-GB" noProof="0" dirty="0"/>
              <a:t> (</a:t>
            </a:r>
            <a:r>
              <a:rPr lang="en-GB" noProof="0" dirty="0" err="1"/>
              <a:t>boolean</a:t>
            </a:r>
            <a:r>
              <a:rPr lang="en-GB" noProof="0" dirty="0"/>
              <a:t>, default: false): if true, removes orphaned entities automatically</a:t>
            </a:r>
          </a:p>
          <a:p>
            <a:r>
              <a:rPr lang="en-GB" noProof="0" dirty="0"/>
              <a:t>Must use </a:t>
            </a:r>
            <a:r>
              <a:rPr lang="en-GB" b="1" dirty="0" err="1">
                <a:latin typeface="Courier New" panose="02070309020205020404" pitchFamily="49" charset="0"/>
                <a:cs typeface="Courier New" panose="02070309020205020404" pitchFamily="49" charset="0"/>
              </a:rPr>
              <a:t>mappedBy</a:t>
            </a:r>
            <a:r>
              <a:rPr lang="en-GB" noProof="0" dirty="0"/>
              <a:t> to indicate that the relationship is managed by the "many" side</a:t>
            </a:r>
          </a:p>
          <a:p>
            <a:r>
              <a:rPr lang="en-GB" noProof="0" dirty="0"/>
              <a:t>Since the foreign key is in the "many" side (</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ManyToOne</a:t>
            </a:r>
            <a:r>
              <a:rPr lang="en-GB" noProof="0" dirty="0"/>
              <a:t>), </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JoinColumn</a:t>
            </a:r>
            <a:r>
              <a:rPr lang="en-GB" b="1" noProof="0" dirty="0">
                <a:latin typeface="Courier New" panose="02070309020205020404" pitchFamily="49" charset="0"/>
                <a:cs typeface="Courier New" panose="02070309020205020404" pitchFamily="49" charset="0"/>
              </a:rPr>
              <a:t> is </a:t>
            </a:r>
            <a:r>
              <a:rPr lang="en-GB" noProof="0" dirty="0"/>
              <a:t>not used</a:t>
            </a:r>
          </a:p>
        </p:txBody>
      </p:sp>
    </p:spTree>
    <p:extLst>
      <p:ext uri="{BB962C8B-B14F-4D97-AF65-F5344CB8AC3E}">
        <p14:creationId xmlns:p14="http://schemas.microsoft.com/office/powerpoint/2010/main" val="3944117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1AB23CA-F326-CEA1-F6A4-57E335570908}"/>
              </a:ext>
            </a:extLst>
          </p:cNvPr>
          <p:cNvSpPr>
            <a:spLocks noGrp="1"/>
          </p:cNvSpPr>
          <p:nvPr>
            <p:ph type="title"/>
          </p:nvPr>
        </p:nvSpPr>
        <p:spPr/>
        <p:txBody>
          <a:bodyPr/>
          <a:lstStyle/>
          <a:p>
            <a:r>
              <a:rPr lang="en-GB" noProof="0" dirty="0"/>
              <a:t>Relationships - </a:t>
            </a:r>
            <a:r>
              <a:rPr lang="en-GB" noProof="0" dirty="0" err="1"/>
              <a:t>ManyToMany</a:t>
            </a:r>
            <a:endParaRPr lang="en-GB" noProof="0" dirty="0"/>
          </a:p>
        </p:txBody>
      </p:sp>
      <p:sp>
        <p:nvSpPr>
          <p:cNvPr id="3" name="Segnaposto contenuto 2">
            <a:extLst>
              <a:ext uri="{FF2B5EF4-FFF2-40B4-BE49-F238E27FC236}">
                <a16:creationId xmlns:a16="http://schemas.microsoft.com/office/drawing/2014/main" id="{7960BF93-2315-4613-A7C2-84E7C2E171D1}"/>
              </a:ext>
            </a:extLst>
          </p:cNvPr>
          <p:cNvSpPr>
            <a:spLocks noGrp="1"/>
          </p:cNvSpPr>
          <p:nvPr>
            <p:ph idx="1"/>
          </p:nvPr>
        </p:nvSpPr>
        <p:spPr/>
        <p:txBody>
          <a:bodyPr>
            <a:normAutofit/>
          </a:bodyPr>
          <a:lstStyle/>
          <a:p>
            <a:r>
              <a:rPr lang="en-GB" sz="2800" b="1" noProof="0" dirty="0">
                <a:solidFill>
                  <a:schemeClr val="accent6">
                    <a:lumMod val="75000"/>
                  </a:schemeClr>
                </a:solidFill>
                <a:latin typeface="Courier New" panose="02070309020205020404" pitchFamily="49" charset="0"/>
                <a:cs typeface="Courier New" panose="02070309020205020404" pitchFamily="49" charset="0"/>
              </a:rPr>
              <a:t>@</a:t>
            </a:r>
            <a:r>
              <a:rPr lang="en-GB" sz="2800" b="1" noProof="0" dirty="0" err="1">
                <a:solidFill>
                  <a:schemeClr val="accent6">
                    <a:lumMod val="75000"/>
                  </a:schemeClr>
                </a:solidFill>
                <a:latin typeface="Courier New" panose="02070309020205020404" pitchFamily="49" charset="0"/>
                <a:cs typeface="Courier New" panose="02070309020205020404" pitchFamily="49" charset="0"/>
              </a:rPr>
              <a:t>ManyToMany</a:t>
            </a:r>
            <a:r>
              <a:rPr lang="en-GB" sz="2800" b="1" noProof="0" dirty="0">
                <a:latin typeface="Courier New" panose="02070309020205020404" pitchFamily="49" charset="0"/>
                <a:cs typeface="Courier New" panose="02070309020205020404" pitchFamily="49" charset="0"/>
              </a:rPr>
              <a:t>(cascade, fetch)</a:t>
            </a:r>
          </a:p>
          <a:p>
            <a:pPr lvl="1"/>
            <a:r>
              <a:rPr lang="en-GB" sz="2400" b="1" noProof="0" dirty="0">
                <a:solidFill>
                  <a:schemeClr val="accent6">
                    <a:lumMod val="75000"/>
                  </a:schemeClr>
                </a:solidFill>
                <a:latin typeface="Courier New" panose="02070309020205020404" pitchFamily="49" charset="0"/>
                <a:cs typeface="Courier New" panose="02070309020205020404" pitchFamily="49" charset="0"/>
              </a:rPr>
              <a:t>cascade</a:t>
            </a:r>
            <a:r>
              <a:rPr lang="en-GB" sz="2400" noProof="0" dirty="0"/>
              <a:t> (</a:t>
            </a:r>
            <a:r>
              <a:rPr lang="en-GB" sz="2400" noProof="0" dirty="0" err="1"/>
              <a:t>CascadeType</a:t>
            </a:r>
            <a:r>
              <a:rPr lang="en-GB" sz="2400" noProof="0" dirty="0"/>
              <a:t>[], optional) </a:t>
            </a:r>
          </a:p>
          <a:p>
            <a:pPr lvl="1"/>
            <a:r>
              <a:rPr lang="en-GB" sz="2400" b="1" noProof="0" dirty="0">
                <a:solidFill>
                  <a:schemeClr val="accent6">
                    <a:lumMod val="75000"/>
                  </a:schemeClr>
                </a:solidFill>
                <a:latin typeface="Courier New" panose="02070309020205020404" pitchFamily="49" charset="0"/>
                <a:cs typeface="Courier New" panose="02070309020205020404" pitchFamily="49" charset="0"/>
              </a:rPr>
              <a:t>fetch</a:t>
            </a:r>
            <a:r>
              <a:rPr lang="en-GB" sz="2400" noProof="0" dirty="0"/>
              <a:t> (</a:t>
            </a:r>
            <a:r>
              <a:rPr lang="en-GB" sz="2400" noProof="0" dirty="0" err="1"/>
              <a:t>FetchType</a:t>
            </a:r>
            <a:r>
              <a:rPr lang="en-GB" sz="2400" noProof="0" dirty="0"/>
              <a:t>, optional, default: LAZY)</a:t>
            </a:r>
          </a:p>
          <a:p>
            <a:r>
              <a:rPr lang="en-GB" sz="2800" noProof="0" dirty="0"/>
              <a:t>JPA automatically creates a join table, when a </a:t>
            </a:r>
            <a:r>
              <a:rPr lang="en-GB" sz="2800" b="1" noProof="0" dirty="0">
                <a:latin typeface="Courier New" panose="02070309020205020404" pitchFamily="49" charset="0"/>
                <a:cs typeface="Courier New" panose="02070309020205020404" pitchFamily="49" charset="0"/>
              </a:rPr>
              <a:t>@</a:t>
            </a:r>
            <a:r>
              <a:rPr lang="en-GB" sz="2800" b="1" noProof="0" dirty="0" err="1">
                <a:latin typeface="Courier New" panose="02070309020205020404" pitchFamily="49" charset="0"/>
                <a:cs typeface="Courier New" panose="02070309020205020404" pitchFamily="49" charset="0"/>
              </a:rPr>
              <a:t>ManyToMany</a:t>
            </a:r>
            <a:r>
              <a:rPr lang="en-GB" sz="2800" noProof="0" dirty="0"/>
              <a:t> relationship is defined, but </a:t>
            </a:r>
            <a:r>
              <a:rPr lang="en-GB" sz="2800" b="1" noProof="0" dirty="0">
                <a:latin typeface="Courier New" panose="02070309020205020404" pitchFamily="49" charset="0"/>
                <a:cs typeface="Courier New" panose="02070309020205020404" pitchFamily="49" charset="0"/>
              </a:rPr>
              <a:t>@</a:t>
            </a:r>
            <a:r>
              <a:rPr lang="en-GB" sz="2800" b="1" noProof="0" dirty="0" err="1">
                <a:latin typeface="Courier New" panose="02070309020205020404" pitchFamily="49" charset="0"/>
                <a:cs typeface="Courier New" panose="02070309020205020404" pitchFamily="49" charset="0"/>
              </a:rPr>
              <a:t>JoinTable</a:t>
            </a:r>
            <a:r>
              <a:rPr lang="en-GB" sz="2800" b="1" noProof="0" dirty="0">
                <a:latin typeface="Courier New" panose="02070309020205020404" pitchFamily="49" charset="0"/>
                <a:cs typeface="Courier New" panose="02070309020205020404" pitchFamily="49" charset="0"/>
              </a:rPr>
              <a:t> </a:t>
            </a:r>
            <a:r>
              <a:rPr lang="en-GB" sz="2800" noProof="0" dirty="0"/>
              <a:t>can be used to specify the table and foreign key mappings</a:t>
            </a:r>
          </a:p>
        </p:txBody>
      </p:sp>
    </p:spTree>
    <p:extLst>
      <p:ext uri="{BB962C8B-B14F-4D97-AF65-F5344CB8AC3E}">
        <p14:creationId xmlns:p14="http://schemas.microsoft.com/office/powerpoint/2010/main" val="20015006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8EBE6-3618-F756-F30D-450BD809C51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E1EAED5-50F6-F080-87DD-53FDB4542D30}"/>
              </a:ext>
            </a:extLst>
          </p:cNvPr>
          <p:cNvSpPr>
            <a:spLocks noGrp="1"/>
          </p:cNvSpPr>
          <p:nvPr>
            <p:ph type="title"/>
          </p:nvPr>
        </p:nvSpPr>
        <p:spPr/>
        <p:txBody>
          <a:bodyPr>
            <a:normAutofit/>
          </a:bodyPr>
          <a:lstStyle/>
          <a:p>
            <a:r>
              <a:rPr lang="en-GB" sz="3600" noProof="0" dirty="0"/>
              <a:t>Relationship Management - </a:t>
            </a:r>
            <a:r>
              <a:rPr lang="en-GB" sz="3600" noProof="0" dirty="0" err="1"/>
              <a:t>JoinTable</a:t>
            </a:r>
            <a:endParaRPr lang="en-GB" sz="3600" noProof="0" dirty="0"/>
          </a:p>
        </p:txBody>
      </p:sp>
      <p:sp>
        <p:nvSpPr>
          <p:cNvPr id="3" name="Segnaposto contenuto 2">
            <a:extLst>
              <a:ext uri="{FF2B5EF4-FFF2-40B4-BE49-F238E27FC236}">
                <a16:creationId xmlns:a16="http://schemas.microsoft.com/office/drawing/2014/main" id="{8C7D7A08-A660-727B-45BF-76600AFE51BF}"/>
              </a:ext>
            </a:extLst>
          </p:cNvPr>
          <p:cNvSpPr>
            <a:spLocks noGrp="1"/>
          </p:cNvSpPr>
          <p:nvPr>
            <p:ph idx="1"/>
          </p:nvPr>
        </p:nvSpPr>
        <p:spPr>
          <a:xfrm>
            <a:off x="685800" y="1295400"/>
            <a:ext cx="8150225" cy="5229944"/>
          </a:xfrm>
        </p:spPr>
        <p:txBody>
          <a:bodyPr>
            <a:normAutofit/>
          </a:bodyPr>
          <a:lstStyle/>
          <a:p>
            <a:r>
              <a:rPr lang="en-GB" sz="2800" b="1" noProof="0" dirty="0">
                <a:solidFill>
                  <a:schemeClr val="accent6">
                    <a:lumMod val="75000"/>
                  </a:schemeClr>
                </a:solidFill>
                <a:latin typeface="Courier New" panose="02070309020205020404" pitchFamily="49" charset="0"/>
                <a:cs typeface="Courier New" panose="02070309020205020404" pitchFamily="49" charset="0"/>
              </a:rPr>
              <a:t>@</a:t>
            </a:r>
            <a:r>
              <a:rPr lang="en-GB" sz="2800" b="1" noProof="0" dirty="0" err="1">
                <a:solidFill>
                  <a:schemeClr val="accent6">
                    <a:lumMod val="75000"/>
                  </a:schemeClr>
                </a:solidFill>
                <a:latin typeface="Courier New" panose="02070309020205020404" pitchFamily="49" charset="0"/>
                <a:cs typeface="Courier New" panose="02070309020205020404" pitchFamily="49" charset="0"/>
              </a:rPr>
              <a:t>JoinTable</a:t>
            </a:r>
            <a:r>
              <a:rPr lang="en-GB" sz="2800" b="1" noProof="0" dirty="0">
                <a:latin typeface="Courier New" panose="02070309020205020404" pitchFamily="49" charset="0"/>
                <a:cs typeface="Courier New" panose="02070309020205020404" pitchFamily="49" charset="0"/>
              </a:rPr>
              <a:t>(name, </a:t>
            </a:r>
            <a:r>
              <a:rPr lang="en-GB" sz="2800" b="1" noProof="0" dirty="0" err="1">
                <a:latin typeface="Courier New" panose="02070309020205020404" pitchFamily="49" charset="0"/>
                <a:cs typeface="Courier New" panose="02070309020205020404" pitchFamily="49" charset="0"/>
              </a:rPr>
              <a:t>joinColumns</a:t>
            </a:r>
            <a:r>
              <a:rPr lang="en-GB" sz="2800" b="1" noProof="0" dirty="0">
                <a:latin typeface="Courier New" panose="02070309020205020404" pitchFamily="49" charset="0"/>
                <a:cs typeface="Courier New" panose="02070309020205020404" pitchFamily="49" charset="0"/>
              </a:rPr>
              <a:t>, </a:t>
            </a:r>
            <a:r>
              <a:rPr lang="en-GB" sz="2800" b="1" noProof="0" dirty="0" err="1">
                <a:latin typeface="Courier New" panose="02070309020205020404" pitchFamily="49" charset="0"/>
                <a:cs typeface="Courier New" panose="02070309020205020404" pitchFamily="49" charset="0"/>
              </a:rPr>
              <a:t>inverseJoinColumns</a:t>
            </a:r>
            <a:r>
              <a:rPr lang="en-GB" sz="2800" b="1" noProof="0" dirty="0">
                <a:latin typeface="Courier New" panose="02070309020205020404" pitchFamily="49" charset="0"/>
                <a:cs typeface="Courier New" panose="02070309020205020404" pitchFamily="49" charset="0"/>
              </a:rPr>
              <a:t>)</a:t>
            </a:r>
            <a:r>
              <a:rPr lang="en-GB" sz="2800" noProof="0" dirty="0">
                <a:cs typeface="Courier New" panose="02070309020205020404" pitchFamily="49" charset="0"/>
              </a:rPr>
              <a:t> defines the details of the join table</a:t>
            </a:r>
          </a:p>
          <a:p>
            <a:pPr lvl="1"/>
            <a:r>
              <a:rPr lang="en-GB" sz="2400" b="1" noProof="0" dirty="0">
                <a:solidFill>
                  <a:schemeClr val="accent6">
                    <a:lumMod val="75000"/>
                  </a:schemeClr>
                </a:solidFill>
                <a:latin typeface="Courier New" panose="02070309020205020404" pitchFamily="49" charset="0"/>
                <a:cs typeface="Courier New" panose="02070309020205020404" pitchFamily="49" charset="0"/>
              </a:rPr>
              <a:t>name</a:t>
            </a:r>
            <a:r>
              <a:rPr lang="en-GB" sz="2400" noProof="0" dirty="0"/>
              <a:t> (String, required): name of the join table</a:t>
            </a:r>
          </a:p>
          <a:p>
            <a:pPr lvl="1"/>
            <a:r>
              <a:rPr lang="en-GB" sz="2400" b="1" noProof="0" dirty="0" err="1">
                <a:solidFill>
                  <a:schemeClr val="accent6">
                    <a:lumMod val="75000"/>
                  </a:schemeClr>
                </a:solidFill>
                <a:latin typeface="Courier New" panose="02070309020205020404" pitchFamily="49" charset="0"/>
                <a:cs typeface="Courier New" panose="02070309020205020404" pitchFamily="49" charset="0"/>
              </a:rPr>
              <a:t>joinColumns</a:t>
            </a:r>
            <a:r>
              <a:rPr lang="en-GB" sz="2400" noProof="0" dirty="0"/>
              <a:t> (Array of @</a:t>
            </a:r>
            <a:r>
              <a:rPr lang="en-GB" sz="2400" noProof="0" dirty="0" err="1"/>
              <a:t>JoinColumn</a:t>
            </a:r>
            <a:r>
              <a:rPr lang="en-GB" sz="2400" noProof="0" dirty="0"/>
              <a:t>): defines foreign key columns for the owning entity</a:t>
            </a:r>
          </a:p>
          <a:p>
            <a:pPr lvl="1"/>
            <a:r>
              <a:rPr lang="en-GB" sz="2400" b="1" noProof="0" dirty="0" err="1">
                <a:solidFill>
                  <a:schemeClr val="accent6">
                    <a:lumMod val="75000"/>
                  </a:schemeClr>
                </a:solidFill>
                <a:latin typeface="Courier New" panose="02070309020205020404" pitchFamily="49" charset="0"/>
                <a:cs typeface="Courier New" panose="02070309020205020404" pitchFamily="49" charset="0"/>
              </a:rPr>
              <a:t>inverseJoinColumns</a:t>
            </a:r>
            <a:r>
              <a:rPr lang="en-GB" sz="2400" noProof="0" dirty="0"/>
              <a:t> (Array of @</a:t>
            </a:r>
            <a:r>
              <a:rPr lang="en-GB" sz="2400" noProof="0" dirty="0" err="1"/>
              <a:t>JoinColumn</a:t>
            </a:r>
            <a:r>
              <a:rPr lang="en-GB" sz="2400" noProof="0" dirty="0"/>
              <a:t>): defines foreign key columns for the inverse entity</a:t>
            </a:r>
          </a:p>
        </p:txBody>
      </p:sp>
    </p:spTree>
    <p:extLst>
      <p:ext uri="{BB962C8B-B14F-4D97-AF65-F5344CB8AC3E}">
        <p14:creationId xmlns:p14="http://schemas.microsoft.com/office/powerpoint/2010/main" val="15880653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E962E7-BD82-6F27-5EF6-2ED22BCE53EA}"/>
              </a:ext>
            </a:extLst>
          </p:cNvPr>
          <p:cNvSpPr>
            <a:spLocks noGrp="1"/>
          </p:cNvSpPr>
          <p:nvPr>
            <p:ph type="title"/>
          </p:nvPr>
        </p:nvSpPr>
        <p:spPr/>
        <p:txBody>
          <a:bodyPr>
            <a:normAutofit/>
          </a:bodyPr>
          <a:lstStyle/>
          <a:p>
            <a:r>
              <a:rPr lang="en-GB" sz="3800" noProof="0" dirty="0"/>
              <a:t>Entity – Automatic Schema Creation</a:t>
            </a:r>
          </a:p>
        </p:txBody>
      </p:sp>
      <p:sp>
        <p:nvSpPr>
          <p:cNvPr id="3" name="Segnaposto contenuto 2">
            <a:extLst>
              <a:ext uri="{FF2B5EF4-FFF2-40B4-BE49-F238E27FC236}">
                <a16:creationId xmlns:a16="http://schemas.microsoft.com/office/drawing/2014/main" id="{9A2B6699-1339-AB60-03B3-B54AE64FAE52}"/>
              </a:ext>
            </a:extLst>
          </p:cNvPr>
          <p:cNvSpPr>
            <a:spLocks noGrp="1"/>
          </p:cNvSpPr>
          <p:nvPr>
            <p:ph idx="1"/>
          </p:nvPr>
        </p:nvSpPr>
        <p:spPr/>
        <p:txBody>
          <a:bodyPr>
            <a:normAutofit fontScale="92500" lnSpcReduction="20000"/>
          </a:bodyPr>
          <a:lstStyle/>
          <a:p>
            <a:r>
              <a:rPr lang="en-GB" noProof="0" dirty="0"/>
              <a:t>ORM frameworks provide automatic schema generation policies based on the defined entities</a:t>
            </a:r>
          </a:p>
          <a:p>
            <a:r>
              <a:rPr lang="en-GB" noProof="0" dirty="0"/>
              <a:t>These policies define how the ORM should handle the database schema</a:t>
            </a:r>
          </a:p>
          <a:p>
            <a:r>
              <a:rPr lang="en-GB" noProof="0" dirty="0"/>
              <a:t>Automatic schema creation occurs at application </a:t>
            </a:r>
            <a:r>
              <a:rPr lang="en-GB" noProof="0" dirty="0" err="1"/>
              <a:t>startup</a:t>
            </a:r>
            <a:r>
              <a:rPr lang="en-GB" noProof="0" dirty="0"/>
              <a:t>, based on the defined entities and the selected policy</a:t>
            </a:r>
          </a:p>
          <a:p>
            <a:r>
              <a:rPr lang="en-GB" noProof="0" dirty="0"/>
              <a:t>Not all ORMs support every policy, but we can identify a set of the most common</a:t>
            </a:r>
          </a:p>
        </p:txBody>
      </p:sp>
    </p:spTree>
    <p:extLst>
      <p:ext uri="{BB962C8B-B14F-4D97-AF65-F5344CB8AC3E}">
        <p14:creationId xmlns:p14="http://schemas.microsoft.com/office/powerpoint/2010/main" val="32159166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E3383F-C648-1A12-FB67-EAB83A356A1F}"/>
              </a:ext>
            </a:extLst>
          </p:cNvPr>
          <p:cNvSpPr>
            <a:spLocks noGrp="1"/>
          </p:cNvSpPr>
          <p:nvPr>
            <p:ph type="title"/>
          </p:nvPr>
        </p:nvSpPr>
        <p:spPr/>
        <p:txBody>
          <a:bodyPr/>
          <a:lstStyle/>
          <a:p>
            <a:r>
              <a:rPr lang="en-GB" dirty="0"/>
              <a:t>Querying</a:t>
            </a:r>
          </a:p>
        </p:txBody>
      </p:sp>
      <p:sp>
        <p:nvSpPr>
          <p:cNvPr id="5" name="Text Placeholder 4">
            <a:extLst>
              <a:ext uri="{FF2B5EF4-FFF2-40B4-BE49-F238E27FC236}">
                <a16:creationId xmlns:a16="http://schemas.microsoft.com/office/drawing/2014/main" id="{50321596-EC1C-9F64-ECC2-35DA326F0A43}"/>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7042928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C804A42-85CD-4082-7C5A-86690BF9854D}"/>
              </a:ext>
            </a:extLst>
          </p:cNvPr>
          <p:cNvSpPr>
            <a:spLocks noGrp="1"/>
          </p:cNvSpPr>
          <p:nvPr>
            <p:ph type="title"/>
          </p:nvPr>
        </p:nvSpPr>
        <p:spPr/>
        <p:txBody>
          <a:bodyPr/>
          <a:lstStyle/>
          <a:p>
            <a:r>
              <a:rPr lang="en-GB" noProof="0" dirty="0"/>
              <a:t>Basic querying in ORM</a:t>
            </a:r>
          </a:p>
        </p:txBody>
      </p:sp>
      <p:sp>
        <p:nvSpPr>
          <p:cNvPr id="3" name="Segnaposto contenuto 2">
            <a:extLst>
              <a:ext uri="{FF2B5EF4-FFF2-40B4-BE49-F238E27FC236}">
                <a16:creationId xmlns:a16="http://schemas.microsoft.com/office/drawing/2014/main" id="{D86A6597-6042-1937-2493-A354B1144CE1}"/>
              </a:ext>
            </a:extLst>
          </p:cNvPr>
          <p:cNvSpPr>
            <a:spLocks noGrp="1"/>
          </p:cNvSpPr>
          <p:nvPr>
            <p:ph idx="1"/>
          </p:nvPr>
        </p:nvSpPr>
        <p:spPr>
          <a:xfrm>
            <a:off x="685800" y="1196752"/>
            <a:ext cx="8150225" cy="5373960"/>
          </a:xfrm>
        </p:spPr>
        <p:txBody>
          <a:bodyPr>
            <a:normAutofit fontScale="70000" lnSpcReduction="20000"/>
          </a:bodyPr>
          <a:lstStyle/>
          <a:p>
            <a:r>
              <a:rPr lang="en-GB" noProof="0" dirty="0"/>
              <a:t>ORMs generate SQL automatically based on the structure of the defined entities</a:t>
            </a:r>
          </a:p>
          <a:p>
            <a:r>
              <a:rPr lang="en-GB" noProof="0" dirty="0"/>
              <a:t>Basic queries can be constructed using entity attributes, allowing developers to work at the object level without writing SQL</a:t>
            </a:r>
          </a:p>
          <a:p>
            <a:r>
              <a:rPr lang="en-GB" noProof="0" dirty="0"/>
              <a:t>Simple queries are fully managed by the ORM (e.g., finding by primary key, inserting, updating, deleting)</a:t>
            </a:r>
          </a:p>
          <a:p>
            <a:r>
              <a:rPr lang="en-GB" noProof="0" dirty="0"/>
              <a:t>ORMs optimize queries by dynamically translating object-oriented queries into SQL tailored for the underlying database</a:t>
            </a:r>
          </a:p>
          <a:p>
            <a:r>
              <a:rPr lang="en-GB" noProof="0" dirty="0"/>
              <a:t>Key advantages</a:t>
            </a:r>
          </a:p>
          <a:p>
            <a:pPr lvl="1"/>
            <a:r>
              <a:rPr lang="en-GB" noProof="0" dirty="0"/>
              <a:t>Minimizes direct SQL interaction, reducing complexity</a:t>
            </a:r>
          </a:p>
          <a:p>
            <a:pPr lvl="1"/>
            <a:r>
              <a:rPr lang="en-GB" noProof="0" dirty="0"/>
              <a:t>Ensures consistency by enforcing entity relationships and constraints</a:t>
            </a:r>
          </a:p>
          <a:p>
            <a:pPr lvl="1"/>
            <a:r>
              <a:rPr lang="en-GB" noProof="0" dirty="0"/>
              <a:t>Improves code readability and maintainability by abstracting low-level database interactions</a:t>
            </a:r>
          </a:p>
        </p:txBody>
      </p:sp>
    </p:spTree>
    <p:extLst>
      <p:ext uri="{BB962C8B-B14F-4D97-AF65-F5344CB8AC3E}">
        <p14:creationId xmlns:p14="http://schemas.microsoft.com/office/powerpoint/2010/main" val="130545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88D109-00CD-5D10-C069-5891D47D6047}"/>
              </a:ext>
            </a:extLst>
          </p:cNvPr>
          <p:cNvSpPr>
            <a:spLocks noGrp="1"/>
          </p:cNvSpPr>
          <p:nvPr>
            <p:ph type="title"/>
          </p:nvPr>
        </p:nvSpPr>
        <p:spPr/>
        <p:txBody>
          <a:bodyPr/>
          <a:lstStyle/>
          <a:p>
            <a:r>
              <a:rPr lang="en-GB" noProof="0" dirty="0"/>
              <a:t>Advanced querying in ORM</a:t>
            </a:r>
          </a:p>
        </p:txBody>
      </p:sp>
      <p:sp>
        <p:nvSpPr>
          <p:cNvPr id="3" name="Segnaposto contenuto 2">
            <a:extLst>
              <a:ext uri="{FF2B5EF4-FFF2-40B4-BE49-F238E27FC236}">
                <a16:creationId xmlns:a16="http://schemas.microsoft.com/office/drawing/2014/main" id="{03FB583F-68EC-46A4-4EB7-E92DECEDCE3C}"/>
              </a:ext>
            </a:extLst>
          </p:cNvPr>
          <p:cNvSpPr>
            <a:spLocks noGrp="1"/>
          </p:cNvSpPr>
          <p:nvPr>
            <p:ph idx="1"/>
          </p:nvPr>
        </p:nvSpPr>
        <p:spPr>
          <a:xfrm>
            <a:off x="685800" y="1295400"/>
            <a:ext cx="8150225" cy="5157936"/>
          </a:xfrm>
        </p:spPr>
        <p:txBody>
          <a:bodyPr>
            <a:normAutofit fontScale="77500" lnSpcReduction="20000"/>
          </a:bodyPr>
          <a:lstStyle/>
          <a:p>
            <a:r>
              <a:rPr lang="en-GB" noProof="0" dirty="0"/>
              <a:t>When basic queries are not enough, ORMs offer more advanced techniques:</a:t>
            </a:r>
          </a:p>
          <a:p>
            <a:pPr lvl="1"/>
            <a:r>
              <a:rPr lang="en-GB" noProof="0" dirty="0"/>
              <a:t>Criteria API &amp; Query Builders – Programmatic query construction</a:t>
            </a:r>
          </a:p>
          <a:p>
            <a:pPr lvl="1"/>
            <a:r>
              <a:rPr lang="en-GB" noProof="0" dirty="0"/>
              <a:t>Joins and custom queries – Fetching related data efficiently</a:t>
            </a:r>
          </a:p>
          <a:p>
            <a:pPr lvl="1"/>
            <a:r>
              <a:rPr lang="en-GB" noProof="0" dirty="0"/>
              <a:t>Native SQL queries – Direct SQL execution when necessary</a:t>
            </a:r>
          </a:p>
          <a:p>
            <a:r>
              <a:rPr lang="en-GB" noProof="0" dirty="0"/>
              <a:t>Performance considerations:</a:t>
            </a:r>
          </a:p>
          <a:p>
            <a:pPr lvl="1"/>
            <a:r>
              <a:rPr lang="en-GB" noProof="0" dirty="0"/>
              <a:t>Use pagination and indexing to improve query speed</a:t>
            </a:r>
          </a:p>
          <a:p>
            <a:pPr lvl="1"/>
            <a:r>
              <a:rPr lang="en-GB" noProof="0" dirty="0"/>
              <a:t>Avoid N+1 query problems with proper relationship fetching (e.g., JOIN FETCH, batch fetching)</a:t>
            </a:r>
          </a:p>
          <a:p>
            <a:pPr lvl="1"/>
            <a:r>
              <a:rPr lang="en-GB" noProof="0" dirty="0"/>
              <a:t>Cache frequently accessed data</a:t>
            </a:r>
          </a:p>
        </p:txBody>
      </p:sp>
    </p:spTree>
    <p:extLst>
      <p:ext uri="{BB962C8B-B14F-4D97-AF65-F5344CB8AC3E}">
        <p14:creationId xmlns:p14="http://schemas.microsoft.com/office/powerpoint/2010/main" val="5996078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2571A-39A7-31C6-8980-967CB37A4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CD081-257B-D111-F353-E80B80B292F8}"/>
              </a:ext>
            </a:extLst>
          </p:cNvPr>
          <p:cNvSpPr>
            <a:spLocks noGrp="1"/>
          </p:cNvSpPr>
          <p:nvPr>
            <p:ph type="title"/>
          </p:nvPr>
        </p:nvSpPr>
        <p:spPr/>
        <p:txBody>
          <a:bodyPr/>
          <a:lstStyle/>
          <a:p>
            <a:r>
              <a:rPr lang="en-GB" noProof="0" dirty="0"/>
              <a:t>JPA - Querying Approaches</a:t>
            </a:r>
          </a:p>
        </p:txBody>
      </p:sp>
      <p:sp>
        <p:nvSpPr>
          <p:cNvPr id="3" name="Content Placeholder 2">
            <a:extLst>
              <a:ext uri="{FF2B5EF4-FFF2-40B4-BE49-F238E27FC236}">
                <a16:creationId xmlns:a16="http://schemas.microsoft.com/office/drawing/2014/main" id="{C8DD8E2B-2C35-666E-6513-6770B5DE2FEE}"/>
              </a:ext>
            </a:extLst>
          </p:cNvPr>
          <p:cNvSpPr>
            <a:spLocks noGrp="1"/>
          </p:cNvSpPr>
          <p:nvPr>
            <p:ph idx="1"/>
          </p:nvPr>
        </p:nvSpPr>
        <p:spPr>
          <a:xfrm>
            <a:off x="685800" y="1295400"/>
            <a:ext cx="8150225" cy="4941912"/>
          </a:xfrm>
        </p:spPr>
        <p:txBody>
          <a:bodyPr>
            <a:normAutofit fontScale="62500" lnSpcReduction="20000"/>
          </a:bodyPr>
          <a:lstStyle/>
          <a:p>
            <a:r>
              <a:rPr lang="en-GB" noProof="0" dirty="0"/>
              <a:t>JPA provides multiple ways to query and manipulate data in a relational database:</a:t>
            </a:r>
          </a:p>
          <a:p>
            <a:pPr lvl="1"/>
            <a:r>
              <a:rPr lang="en-GB" noProof="0" dirty="0"/>
              <a:t>JPQL (Java Persistence Query Language): object-oriented query language like SQL but based on JPA entities instead of tables</a:t>
            </a:r>
          </a:p>
          <a:p>
            <a:pPr lvl="1"/>
            <a:r>
              <a:rPr lang="en-GB" noProof="0" dirty="0"/>
              <a:t>Named Queries: precompiled queries defined inside JPA entities for improved performance and reusability</a:t>
            </a:r>
          </a:p>
          <a:p>
            <a:pPr lvl="1"/>
            <a:r>
              <a:rPr lang="en-GB" noProof="0" dirty="0"/>
              <a:t>Criteria API: programmatic approach to dynamically build type-safe queries</a:t>
            </a:r>
          </a:p>
          <a:p>
            <a:pPr lvl="1"/>
            <a:r>
              <a:rPr lang="en-GB" noProof="0" dirty="0"/>
              <a:t>Native Queries: direct execution of raw SQL queries for advanced operations and database-specific optimizations</a:t>
            </a:r>
          </a:p>
          <a:p>
            <a:r>
              <a:rPr lang="en-GB" noProof="0" dirty="0"/>
              <a:t>Each method serves a specific use case:</a:t>
            </a:r>
          </a:p>
          <a:p>
            <a:pPr lvl="1"/>
            <a:r>
              <a:rPr lang="en-GB" noProof="0" dirty="0"/>
              <a:t>JPQL and Named Queries: suitable for structured, static queries</a:t>
            </a:r>
          </a:p>
          <a:p>
            <a:pPr lvl="1"/>
            <a:r>
              <a:rPr lang="en-GB" noProof="0" dirty="0"/>
              <a:t>Criteria API: useful for dynamic queries with runtime conditions</a:t>
            </a:r>
          </a:p>
          <a:p>
            <a:pPr lvl="1"/>
            <a:r>
              <a:rPr lang="en-GB" noProof="0" dirty="0"/>
              <a:t>Native Queries: necessary when JPQL is insufficient or when using database-specific functions</a:t>
            </a:r>
          </a:p>
        </p:txBody>
      </p:sp>
    </p:spTree>
    <p:extLst>
      <p:ext uri="{BB962C8B-B14F-4D97-AF65-F5344CB8AC3E}">
        <p14:creationId xmlns:p14="http://schemas.microsoft.com/office/powerpoint/2010/main" val="25161208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048A7-20DF-1B0C-1F10-D7EAE9142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9C8FD-B617-259E-188B-E54A09792BA6}"/>
              </a:ext>
            </a:extLst>
          </p:cNvPr>
          <p:cNvSpPr>
            <a:spLocks noGrp="1"/>
          </p:cNvSpPr>
          <p:nvPr>
            <p:ph type="title"/>
          </p:nvPr>
        </p:nvSpPr>
        <p:spPr/>
        <p:txBody>
          <a:bodyPr/>
          <a:lstStyle/>
          <a:p>
            <a:r>
              <a:rPr lang="en-GB" noProof="0" dirty="0"/>
              <a:t>Query</a:t>
            </a:r>
          </a:p>
        </p:txBody>
      </p:sp>
      <p:sp>
        <p:nvSpPr>
          <p:cNvPr id="3" name="Content Placeholder 2">
            <a:extLst>
              <a:ext uri="{FF2B5EF4-FFF2-40B4-BE49-F238E27FC236}">
                <a16:creationId xmlns:a16="http://schemas.microsoft.com/office/drawing/2014/main" id="{EFD50919-012F-E615-4E62-5F406F1194B2}"/>
              </a:ext>
            </a:extLst>
          </p:cNvPr>
          <p:cNvSpPr>
            <a:spLocks noGrp="1"/>
          </p:cNvSpPr>
          <p:nvPr>
            <p:ph idx="1"/>
          </p:nvPr>
        </p:nvSpPr>
        <p:spPr>
          <a:xfrm>
            <a:off x="685800" y="1295400"/>
            <a:ext cx="8150225" cy="5229944"/>
          </a:xfrm>
        </p:spPr>
        <p:txBody>
          <a:bodyPr>
            <a:normAutofit lnSpcReduction="10000"/>
          </a:bodyPr>
          <a:lstStyle/>
          <a:p>
            <a:r>
              <a:rPr lang="en-GB" b="1" noProof="0" dirty="0">
                <a:solidFill>
                  <a:schemeClr val="accent6">
                    <a:lumMod val="75000"/>
                  </a:schemeClr>
                </a:solidFill>
                <a:latin typeface="Courier New" panose="02070309020205020404" pitchFamily="49" charset="0"/>
                <a:cs typeface="Courier New" panose="02070309020205020404" pitchFamily="49" charset="0"/>
              </a:rPr>
              <a:t>Query</a:t>
            </a:r>
            <a:r>
              <a:rPr lang="en-GB" noProof="0" dirty="0"/>
              <a:t> is the JPA interface used to execute queries. Its implementation is provided by the JPA provider</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TypedQuery</a:t>
            </a:r>
            <a:r>
              <a:rPr lang="en-GB" b="1" noProof="0" dirty="0">
                <a:solidFill>
                  <a:schemeClr val="accent6">
                    <a:lumMod val="75000"/>
                  </a:schemeClr>
                </a:solidFill>
                <a:latin typeface="Courier New" panose="02070309020205020404" pitchFamily="49" charset="0"/>
                <a:cs typeface="Courier New" panose="02070309020205020404" pitchFamily="49" charset="0"/>
              </a:rPr>
              <a:t>&lt;T&gt;</a:t>
            </a:r>
            <a:r>
              <a:rPr lang="en-GB" noProof="0" dirty="0"/>
              <a:t> is a query subtype, it ensures type safety by specifying the return type </a:t>
            </a:r>
          </a:p>
          <a:p>
            <a:pPr lvl="1"/>
            <a:r>
              <a:rPr lang="en-GB" noProof="0" dirty="0"/>
              <a:t>Created through </a:t>
            </a:r>
            <a:r>
              <a:rPr lang="en-GB" b="1" noProof="0" dirty="0" err="1">
                <a:latin typeface="Courier New" panose="02070309020205020404" pitchFamily="49" charset="0"/>
                <a:cs typeface="Courier New" panose="02070309020205020404" pitchFamily="49" charset="0"/>
              </a:rPr>
              <a:t>EntityManager</a:t>
            </a:r>
            <a:r>
              <a:rPr lang="en-GB" noProof="0" dirty="0"/>
              <a:t>, it represents a compiled query ready for execution</a:t>
            </a:r>
          </a:p>
          <a:p>
            <a:pPr lvl="1"/>
            <a:r>
              <a:rPr lang="en-GB" noProof="0" dirty="0"/>
              <a:t>Supports different query types: JPQL, Named Queries, Native Queries</a:t>
            </a:r>
          </a:p>
        </p:txBody>
      </p:sp>
    </p:spTree>
    <p:extLst>
      <p:ext uri="{BB962C8B-B14F-4D97-AF65-F5344CB8AC3E}">
        <p14:creationId xmlns:p14="http://schemas.microsoft.com/office/powerpoint/2010/main" val="26846080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B4063-C008-6FDB-8B62-E474B69CE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71710-4BA5-A158-F97C-D1C5078727FE}"/>
              </a:ext>
            </a:extLst>
          </p:cNvPr>
          <p:cNvSpPr>
            <a:spLocks noGrp="1"/>
          </p:cNvSpPr>
          <p:nvPr>
            <p:ph type="title"/>
          </p:nvPr>
        </p:nvSpPr>
        <p:spPr/>
        <p:txBody>
          <a:bodyPr>
            <a:normAutofit/>
          </a:bodyPr>
          <a:lstStyle/>
          <a:p>
            <a:r>
              <a:rPr lang="en-GB" noProof="0" dirty="0"/>
              <a:t>Query – Creation</a:t>
            </a:r>
          </a:p>
        </p:txBody>
      </p:sp>
      <p:sp>
        <p:nvSpPr>
          <p:cNvPr id="3" name="Content Placeholder 2">
            <a:extLst>
              <a:ext uri="{FF2B5EF4-FFF2-40B4-BE49-F238E27FC236}">
                <a16:creationId xmlns:a16="http://schemas.microsoft.com/office/drawing/2014/main" id="{8958F01C-50F9-11CE-46AA-07BB5832A8F5}"/>
              </a:ext>
            </a:extLst>
          </p:cNvPr>
          <p:cNvSpPr>
            <a:spLocks noGrp="1"/>
          </p:cNvSpPr>
          <p:nvPr>
            <p:ph idx="1"/>
          </p:nvPr>
        </p:nvSpPr>
        <p:spPr>
          <a:xfrm>
            <a:off x="685800" y="1196752"/>
            <a:ext cx="8150225" cy="5040560"/>
          </a:xfrm>
        </p:spPr>
        <p:txBody>
          <a:bodyPr>
            <a:normAutofit fontScale="85000" lnSpcReduction="20000"/>
          </a:bodyPr>
          <a:lstStyle/>
          <a:p>
            <a:r>
              <a:rPr lang="en-GB" b="1" noProof="0" dirty="0" err="1">
                <a:latin typeface="Courier New" panose="02070309020205020404" pitchFamily="49" charset="0"/>
                <a:cs typeface="Courier New" panose="02070309020205020404" pitchFamily="49" charset="0"/>
              </a:rPr>
              <a:t>EntityManager</a:t>
            </a:r>
            <a:r>
              <a:rPr lang="en-GB" noProof="0" dirty="0"/>
              <a:t> provides methods to create untyped generic query objects. </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createQuery</a:t>
            </a:r>
            <a:r>
              <a:rPr lang="en-GB" b="1" noProof="0" dirty="0">
                <a:latin typeface="Courier New" panose="02070309020205020404" pitchFamily="49" charset="0"/>
                <a:cs typeface="Courier New" panose="02070309020205020404" pitchFamily="49" charset="0"/>
              </a:rPr>
              <a:t>(String </a:t>
            </a:r>
            <a:r>
              <a:rPr lang="en-GB" b="1" noProof="0" dirty="0" err="1">
                <a:latin typeface="Courier New" panose="02070309020205020404" pitchFamily="49" charset="0"/>
                <a:cs typeface="Courier New" panose="02070309020205020404" pitchFamily="49" charset="0"/>
              </a:rPr>
              <a:t>qlString</a:t>
            </a:r>
            <a:r>
              <a:rPr lang="en-GB" b="1" noProof="0" dirty="0">
                <a:latin typeface="Courier New" panose="02070309020205020404" pitchFamily="49" charset="0"/>
                <a:cs typeface="Courier New" panose="02070309020205020404" pitchFamily="49" charset="0"/>
              </a:rPr>
              <a:t>)</a:t>
            </a:r>
            <a:r>
              <a:rPr lang="en-GB" noProof="0" dirty="0"/>
              <a:t>: creates a JPQL query</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createNamedQuery</a:t>
            </a:r>
            <a:r>
              <a:rPr lang="en-GB" b="1" noProof="0" dirty="0">
                <a:latin typeface="Courier New" panose="02070309020205020404" pitchFamily="49" charset="0"/>
                <a:cs typeface="Courier New" panose="02070309020205020404" pitchFamily="49" charset="0"/>
              </a:rPr>
              <a:t>(String name)</a:t>
            </a:r>
            <a:r>
              <a:rPr lang="en-GB" noProof="0" dirty="0"/>
              <a:t>: retrieves a predefined Named Query</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createNativeQuery</a:t>
            </a:r>
            <a:r>
              <a:rPr lang="en-GB" b="1" noProof="0" dirty="0">
                <a:latin typeface="Courier New" panose="02070309020205020404" pitchFamily="49" charset="0"/>
                <a:cs typeface="Courier New" panose="02070309020205020404" pitchFamily="49" charset="0"/>
              </a:rPr>
              <a:t>(String </a:t>
            </a:r>
            <a:r>
              <a:rPr lang="en-GB" b="1" noProof="0" dirty="0" err="1">
                <a:latin typeface="Courier New" panose="02070309020205020404" pitchFamily="49" charset="0"/>
                <a:cs typeface="Courier New" panose="02070309020205020404" pitchFamily="49" charset="0"/>
              </a:rPr>
              <a:t>sqlString</a:t>
            </a:r>
            <a:r>
              <a:rPr lang="en-GB" b="1" noProof="0" dirty="0">
                <a:latin typeface="Courier New" panose="02070309020205020404" pitchFamily="49" charset="0"/>
                <a:cs typeface="Courier New" panose="02070309020205020404" pitchFamily="49" charset="0"/>
              </a:rPr>
              <a:t>)</a:t>
            </a:r>
            <a:r>
              <a:rPr lang="en-GB" noProof="0" dirty="0"/>
              <a:t>: creates a query using raw SQL</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createNativeQuery</a:t>
            </a:r>
            <a:r>
              <a:rPr lang="en-GB" b="1" noProof="0" dirty="0">
                <a:latin typeface="Courier New" panose="02070309020205020404" pitchFamily="49" charset="0"/>
                <a:cs typeface="Courier New" panose="02070309020205020404" pitchFamily="49" charset="0"/>
              </a:rPr>
              <a:t>(String </a:t>
            </a:r>
            <a:r>
              <a:rPr lang="en-GB" b="1" noProof="0" dirty="0" err="1">
                <a:latin typeface="Courier New" panose="02070309020205020404" pitchFamily="49" charset="0"/>
                <a:cs typeface="Courier New" panose="02070309020205020404" pitchFamily="49" charset="0"/>
              </a:rPr>
              <a:t>sqlString</a:t>
            </a:r>
            <a:r>
              <a:rPr lang="en-GB" b="1" noProof="0" dirty="0">
                <a:latin typeface="Courier New" panose="02070309020205020404" pitchFamily="49" charset="0"/>
                <a:cs typeface="Courier New" panose="02070309020205020404" pitchFamily="49" charset="0"/>
              </a:rPr>
              <a:t>, String </a:t>
            </a:r>
            <a:r>
              <a:rPr lang="en-GB" b="1" noProof="0" dirty="0" err="1">
                <a:latin typeface="Courier New" panose="02070309020205020404" pitchFamily="49" charset="0"/>
                <a:cs typeface="Courier New" panose="02070309020205020404" pitchFamily="49" charset="0"/>
              </a:rPr>
              <a:t>resultSetMapping</a:t>
            </a:r>
            <a:r>
              <a:rPr lang="en-GB" b="1" noProof="0" dirty="0">
                <a:latin typeface="Courier New" panose="02070309020205020404" pitchFamily="49" charset="0"/>
                <a:cs typeface="Courier New" panose="02070309020205020404" pitchFamily="49" charset="0"/>
              </a:rPr>
              <a:t>)</a:t>
            </a:r>
            <a:r>
              <a:rPr lang="en-GB" noProof="0" dirty="0"/>
              <a:t>: executes a native query using a custom mapping</a:t>
            </a:r>
          </a:p>
          <a:p>
            <a:pPr lvl="1"/>
            <a:r>
              <a:rPr lang="en-GB" noProof="0" dirty="0"/>
              <a:t>For these Query objects result type is not enforced at compile time, so manual casting may be required</a:t>
            </a:r>
          </a:p>
        </p:txBody>
      </p:sp>
    </p:spTree>
    <p:extLst>
      <p:ext uri="{BB962C8B-B14F-4D97-AF65-F5344CB8AC3E}">
        <p14:creationId xmlns:p14="http://schemas.microsoft.com/office/powerpoint/2010/main" val="22590266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4F00F-E2A6-A300-2CFE-1AFFB7061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2A4A5-909C-0CD8-81EF-FF03B454585A}"/>
              </a:ext>
            </a:extLst>
          </p:cNvPr>
          <p:cNvSpPr>
            <a:spLocks noGrp="1"/>
          </p:cNvSpPr>
          <p:nvPr>
            <p:ph type="title"/>
          </p:nvPr>
        </p:nvSpPr>
        <p:spPr/>
        <p:txBody>
          <a:bodyPr>
            <a:normAutofit/>
          </a:bodyPr>
          <a:lstStyle/>
          <a:p>
            <a:r>
              <a:rPr lang="en-GB" noProof="0" dirty="0" err="1"/>
              <a:t>TypedQuery</a:t>
            </a:r>
            <a:r>
              <a:rPr lang="en-GB" noProof="0" dirty="0"/>
              <a:t> – Creation</a:t>
            </a:r>
          </a:p>
        </p:txBody>
      </p:sp>
      <p:sp>
        <p:nvSpPr>
          <p:cNvPr id="3" name="Content Placeholder 2">
            <a:extLst>
              <a:ext uri="{FF2B5EF4-FFF2-40B4-BE49-F238E27FC236}">
                <a16:creationId xmlns:a16="http://schemas.microsoft.com/office/drawing/2014/main" id="{E19CA958-DB37-4FE3-F477-1A009F975515}"/>
              </a:ext>
            </a:extLst>
          </p:cNvPr>
          <p:cNvSpPr>
            <a:spLocks noGrp="1"/>
          </p:cNvSpPr>
          <p:nvPr>
            <p:ph idx="1"/>
          </p:nvPr>
        </p:nvSpPr>
        <p:spPr>
          <a:xfrm>
            <a:off x="685800" y="1196752"/>
            <a:ext cx="8150225" cy="5040560"/>
          </a:xfrm>
        </p:spPr>
        <p:txBody>
          <a:bodyPr>
            <a:normAutofit fontScale="85000" lnSpcReduction="20000"/>
          </a:bodyPr>
          <a:lstStyle/>
          <a:p>
            <a:r>
              <a:rPr lang="en-GB" b="1" noProof="0" dirty="0" err="1">
                <a:latin typeface="Courier New" panose="02070309020205020404" pitchFamily="49" charset="0"/>
                <a:cs typeface="Courier New" panose="02070309020205020404" pitchFamily="49" charset="0"/>
              </a:rPr>
              <a:t>EntityManager</a:t>
            </a:r>
            <a:r>
              <a:rPr lang="en-GB" noProof="0" dirty="0"/>
              <a:t> also provides methods to create </a:t>
            </a:r>
            <a:r>
              <a:rPr lang="en-GB" b="1" noProof="0" dirty="0" err="1">
                <a:latin typeface="Courier New" panose="02070309020205020404" pitchFamily="49" charset="0"/>
                <a:cs typeface="Courier New" panose="02070309020205020404" pitchFamily="49" charset="0"/>
              </a:rPr>
              <a:t>TypedQuery</a:t>
            </a:r>
            <a:r>
              <a:rPr lang="en-GB" b="1" noProof="0" dirty="0">
                <a:latin typeface="Courier New" panose="02070309020205020404" pitchFamily="49" charset="0"/>
                <a:cs typeface="Courier New" panose="02070309020205020404" pitchFamily="49" charset="0"/>
              </a:rPr>
              <a:t>&lt;T&gt;</a:t>
            </a:r>
            <a:r>
              <a:rPr lang="en-GB" noProof="0" dirty="0"/>
              <a:t> objects.</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createQuery</a:t>
            </a:r>
            <a:r>
              <a:rPr lang="en-GB" b="1" noProof="0" dirty="0">
                <a:latin typeface="Courier New" panose="02070309020205020404" pitchFamily="49" charset="0"/>
                <a:cs typeface="Courier New" panose="02070309020205020404" pitchFamily="49" charset="0"/>
              </a:rPr>
              <a:t>(String </a:t>
            </a:r>
            <a:r>
              <a:rPr lang="en-GB" b="1" noProof="0" dirty="0" err="1">
                <a:latin typeface="Courier New" panose="02070309020205020404" pitchFamily="49" charset="0"/>
                <a:cs typeface="Courier New" panose="02070309020205020404" pitchFamily="49" charset="0"/>
              </a:rPr>
              <a:t>qlString</a:t>
            </a:r>
            <a:r>
              <a:rPr lang="en-GB" b="1" noProof="0" dirty="0">
                <a:latin typeface="Courier New" panose="02070309020205020404" pitchFamily="49" charset="0"/>
                <a:cs typeface="Courier New" panose="02070309020205020404" pitchFamily="49" charset="0"/>
              </a:rPr>
              <a:t>, Class&lt;T&gt;)</a:t>
            </a:r>
            <a:r>
              <a:rPr lang="en-GB" noProof="0" dirty="0"/>
              <a:t>: creates a typed JPQL query and maps results to entities</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createNativeQuery</a:t>
            </a:r>
            <a:r>
              <a:rPr lang="en-GB" b="1" noProof="0" dirty="0">
                <a:latin typeface="Courier New" panose="02070309020205020404" pitchFamily="49" charset="0"/>
                <a:cs typeface="Courier New" panose="02070309020205020404" pitchFamily="49" charset="0"/>
              </a:rPr>
              <a:t>(String </a:t>
            </a:r>
            <a:r>
              <a:rPr lang="en-GB" b="1" noProof="0" dirty="0" err="1">
                <a:latin typeface="Courier New" panose="02070309020205020404" pitchFamily="49" charset="0"/>
                <a:cs typeface="Courier New" panose="02070309020205020404" pitchFamily="49" charset="0"/>
              </a:rPr>
              <a:t>sqlString</a:t>
            </a:r>
            <a:r>
              <a:rPr lang="en-GB" b="1" noProof="0" dirty="0">
                <a:latin typeface="Courier New" panose="02070309020205020404" pitchFamily="49" charset="0"/>
                <a:cs typeface="Courier New" panose="02070309020205020404" pitchFamily="49" charset="0"/>
              </a:rPr>
              <a:t>, Class&lt;T&gt;)</a:t>
            </a:r>
            <a:r>
              <a:rPr lang="en-GB" noProof="0" dirty="0"/>
              <a:t>: creates a typed native query and maps results to entities</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createNamedQuery</a:t>
            </a:r>
            <a:r>
              <a:rPr lang="en-GB" b="1" noProof="0" dirty="0">
                <a:latin typeface="Courier New" panose="02070309020205020404" pitchFamily="49" charset="0"/>
                <a:cs typeface="Courier New" panose="02070309020205020404" pitchFamily="49" charset="0"/>
              </a:rPr>
              <a:t>(String name, Class&lt;T&gt;)</a:t>
            </a:r>
            <a:r>
              <a:rPr lang="en-GB" noProof="0" dirty="0"/>
              <a:t>: retrieves a predefined Named Query and maps results to entities</a:t>
            </a:r>
          </a:p>
          <a:p>
            <a:pPr lvl="1"/>
            <a:r>
              <a:rPr lang="en-GB" noProof="0" dirty="0"/>
              <a:t>These allow the query to return the specified object when executed, ensures type safety, reducing the need for manual casting</a:t>
            </a:r>
          </a:p>
          <a:p>
            <a:pPr lvl="1"/>
            <a:endParaRPr lang="en-GB" noProof="0" dirty="0"/>
          </a:p>
        </p:txBody>
      </p:sp>
    </p:spTree>
    <p:extLst>
      <p:ext uri="{BB962C8B-B14F-4D97-AF65-F5344CB8AC3E}">
        <p14:creationId xmlns:p14="http://schemas.microsoft.com/office/powerpoint/2010/main" val="36768208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16C98-0F15-849A-84BB-D15540271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29706-6068-A97A-DF02-6A5AC2ACBA99}"/>
              </a:ext>
            </a:extLst>
          </p:cNvPr>
          <p:cNvSpPr>
            <a:spLocks noGrp="1"/>
          </p:cNvSpPr>
          <p:nvPr>
            <p:ph type="title"/>
          </p:nvPr>
        </p:nvSpPr>
        <p:spPr/>
        <p:txBody>
          <a:bodyPr/>
          <a:lstStyle/>
          <a:p>
            <a:r>
              <a:rPr lang="en-GB" noProof="0" dirty="0"/>
              <a:t>Query – Configuration</a:t>
            </a:r>
          </a:p>
        </p:txBody>
      </p:sp>
      <p:sp>
        <p:nvSpPr>
          <p:cNvPr id="3" name="Content Placeholder 2">
            <a:extLst>
              <a:ext uri="{FF2B5EF4-FFF2-40B4-BE49-F238E27FC236}">
                <a16:creationId xmlns:a16="http://schemas.microsoft.com/office/drawing/2014/main" id="{1A0F977E-DA21-21E1-A462-F918EA114E93}"/>
              </a:ext>
            </a:extLst>
          </p:cNvPr>
          <p:cNvSpPr>
            <a:spLocks noGrp="1"/>
          </p:cNvSpPr>
          <p:nvPr>
            <p:ph idx="1"/>
          </p:nvPr>
        </p:nvSpPr>
        <p:spPr>
          <a:xfrm>
            <a:off x="685800" y="1295400"/>
            <a:ext cx="8150225" cy="4941912"/>
          </a:xfrm>
        </p:spPr>
        <p:txBody>
          <a:bodyPr>
            <a:normAutofit fontScale="70000" lnSpcReduction="20000"/>
          </a:bodyPr>
          <a:lstStyle/>
          <a:p>
            <a:r>
              <a:rPr lang="en-GB" noProof="0" dirty="0"/>
              <a:t>The Query interface provides methods to configure and customize queries before execution</a:t>
            </a:r>
          </a:p>
          <a:p>
            <a:r>
              <a:rPr lang="en-GB" noProof="0" dirty="0"/>
              <a:t>Parameters can be assigned using named or positional parameters</a:t>
            </a:r>
          </a:p>
          <a:p>
            <a:pPr lvl="1"/>
            <a:r>
              <a:rPr lang="en-GB" b="1" dirty="0" err="1">
                <a:solidFill>
                  <a:schemeClr val="accent6">
                    <a:lumMod val="75000"/>
                  </a:schemeClr>
                </a:solidFill>
                <a:latin typeface="Courier New" panose="02070309020205020404" pitchFamily="49" charset="0"/>
                <a:cs typeface="Courier New" panose="02070309020205020404" pitchFamily="49" charset="0"/>
              </a:rPr>
              <a:t>setParameter</a:t>
            </a:r>
            <a:r>
              <a:rPr lang="en-GB" b="1" dirty="0">
                <a:latin typeface="Courier New" panose="02070309020205020404" pitchFamily="49" charset="0"/>
                <a:cs typeface="Courier New" panose="02070309020205020404" pitchFamily="49" charset="0"/>
              </a:rPr>
              <a:t>(String name, Object value)</a:t>
            </a:r>
            <a:r>
              <a:rPr lang="en-GB" dirty="0"/>
              <a:t>: assigns a value to a named parameter</a:t>
            </a:r>
          </a:p>
          <a:p>
            <a:pPr lvl="1"/>
            <a:r>
              <a:rPr lang="en-GB" b="1" dirty="0" err="1">
                <a:solidFill>
                  <a:schemeClr val="accent6">
                    <a:lumMod val="75000"/>
                  </a:schemeClr>
                </a:solidFill>
                <a:latin typeface="Courier New" panose="02070309020205020404" pitchFamily="49" charset="0"/>
                <a:cs typeface="Courier New" panose="02070309020205020404" pitchFamily="49" charset="0"/>
              </a:rPr>
              <a:t>setParameter</a:t>
            </a:r>
            <a:r>
              <a:rPr lang="en-GB" b="1" dirty="0">
                <a:latin typeface="Courier New" panose="02070309020205020404" pitchFamily="49" charset="0"/>
                <a:cs typeface="Courier New" panose="02070309020205020404" pitchFamily="49" charset="0"/>
              </a:rPr>
              <a:t>(int position, Object value)</a:t>
            </a:r>
            <a:r>
              <a:rPr lang="en-GB" dirty="0"/>
              <a:t>: assigns a value to a positional parameter</a:t>
            </a:r>
          </a:p>
          <a:p>
            <a:pPr lvl="1"/>
            <a:r>
              <a:rPr lang="en-GB" b="1" dirty="0" err="1">
                <a:solidFill>
                  <a:schemeClr val="accent6">
                    <a:lumMod val="75000"/>
                  </a:schemeClr>
                </a:solidFill>
                <a:latin typeface="Courier New" panose="02070309020205020404" pitchFamily="49" charset="0"/>
                <a:cs typeface="Courier New" panose="02070309020205020404" pitchFamily="49" charset="0"/>
              </a:rPr>
              <a:t>setParameter</a:t>
            </a:r>
            <a:r>
              <a:rPr lang="en-GB" b="1" dirty="0">
                <a:latin typeface="Courier New" panose="02070309020205020404" pitchFamily="49" charset="0"/>
                <a:cs typeface="Courier New" panose="02070309020205020404" pitchFamily="49" charset="0"/>
              </a:rPr>
              <a:t>(String name, Date value, </a:t>
            </a:r>
            <a:r>
              <a:rPr lang="en-GB" b="1" dirty="0" err="1">
                <a:latin typeface="Courier New" panose="02070309020205020404" pitchFamily="49" charset="0"/>
                <a:cs typeface="Courier New" panose="02070309020205020404" pitchFamily="49" charset="0"/>
              </a:rPr>
              <a:t>TemporalType</a:t>
            </a:r>
            <a:r>
              <a:rPr lang="en-GB" b="1" dirty="0">
                <a:latin typeface="Courier New" panose="02070309020205020404" pitchFamily="49" charset="0"/>
                <a:cs typeface="Courier New" panose="02070309020205020404" pitchFamily="49" charset="0"/>
              </a:rPr>
              <a:t> </a:t>
            </a:r>
            <a:r>
              <a:rPr lang="en-GB" b="1" dirty="0" err="1">
                <a:latin typeface="Courier New" panose="02070309020205020404" pitchFamily="49" charset="0"/>
                <a:cs typeface="Courier New" panose="02070309020205020404" pitchFamily="49" charset="0"/>
              </a:rPr>
              <a:t>temporalType</a:t>
            </a:r>
            <a:r>
              <a:rPr lang="en-GB" b="1" dirty="0">
                <a:latin typeface="Courier New" panose="02070309020205020404" pitchFamily="49" charset="0"/>
                <a:cs typeface="Courier New" panose="02070309020205020404" pitchFamily="49" charset="0"/>
              </a:rPr>
              <a:t>)</a:t>
            </a:r>
            <a:r>
              <a:rPr lang="en-GB" dirty="0"/>
              <a:t>: assigns a date/time parameter with a specific </a:t>
            </a:r>
            <a:r>
              <a:rPr lang="en-GB" dirty="0" err="1"/>
              <a:t>TemporalType</a:t>
            </a:r>
            <a:endParaRPr lang="en-GB" dirty="0"/>
          </a:p>
          <a:p>
            <a:pPr lvl="1"/>
            <a:r>
              <a:rPr lang="en-GB" b="1" dirty="0" err="1">
                <a:solidFill>
                  <a:schemeClr val="accent6">
                    <a:lumMod val="75000"/>
                  </a:schemeClr>
                </a:solidFill>
                <a:latin typeface="Courier New" panose="02070309020205020404" pitchFamily="49" charset="0"/>
                <a:cs typeface="Courier New" panose="02070309020205020404" pitchFamily="49" charset="0"/>
              </a:rPr>
              <a:t>setParameter</a:t>
            </a:r>
            <a:r>
              <a:rPr lang="en-GB" b="1" dirty="0">
                <a:latin typeface="Courier New" panose="02070309020205020404" pitchFamily="49" charset="0"/>
                <a:cs typeface="Courier New" panose="02070309020205020404" pitchFamily="49" charset="0"/>
              </a:rPr>
              <a:t>(int position, Date value, </a:t>
            </a:r>
            <a:r>
              <a:rPr lang="en-GB" b="1" dirty="0" err="1">
                <a:latin typeface="Courier New" panose="02070309020205020404" pitchFamily="49" charset="0"/>
                <a:cs typeface="Courier New" panose="02070309020205020404" pitchFamily="49" charset="0"/>
              </a:rPr>
              <a:t>TemporalType</a:t>
            </a:r>
            <a:r>
              <a:rPr lang="en-GB" b="1" dirty="0">
                <a:latin typeface="Courier New" panose="02070309020205020404" pitchFamily="49" charset="0"/>
                <a:cs typeface="Courier New" panose="02070309020205020404" pitchFamily="49" charset="0"/>
              </a:rPr>
              <a:t> </a:t>
            </a:r>
            <a:r>
              <a:rPr lang="en-GB" b="1" dirty="0" err="1">
                <a:latin typeface="Courier New" panose="02070309020205020404" pitchFamily="49" charset="0"/>
                <a:cs typeface="Courier New" panose="02070309020205020404" pitchFamily="49" charset="0"/>
              </a:rPr>
              <a:t>temporalType</a:t>
            </a:r>
            <a:r>
              <a:rPr lang="en-GB" b="1" dirty="0">
                <a:latin typeface="Courier New" panose="02070309020205020404" pitchFamily="49" charset="0"/>
                <a:cs typeface="Courier New" panose="02070309020205020404" pitchFamily="49" charset="0"/>
              </a:rPr>
              <a:t>)</a:t>
            </a:r>
            <a:r>
              <a:rPr lang="en-GB" dirty="0"/>
              <a:t>: same as above, but for positional parameters</a:t>
            </a:r>
          </a:p>
          <a:p>
            <a:r>
              <a:rPr lang="en-GB" noProof="0" dirty="0"/>
              <a:t>Date and time values require a </a:t>
            </a:r>
            <a:r>
              <a:rPr lang="en-GB" noProof="0" dirty="0" err="1"/>
              <a:t>TemporalType</a:t>
            </a:r>
            <a:r>
              <a:rPr lang="en-GB" noProof="0" dirty="0"/>
              <a:t> to specify their granularity</a:t>
            </a:r>
          </a:p>
        </p:txBody>
      </p:sp>
    </p:spTree>
    <p:extLst>
      <p:ext uri="{BB962C8B-B14F-4D97-AF65-F5344CB8AC3E}">
        <p14:creationId xmlns:p14="http://schemas.microsoft.com/office/powerpoint/2010/main" val="10948983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7FB81-6291-EFB4-B619-478A6ACA8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DCE21-A135-20EA-4429-0E23E2BD9CB4}"/>
              </a:ext>
            </a:extLst>
          </p:cNvPr>
          <p:cNvSpPr>
            <a:spLocks noGrp="1"/>
          </p:cNvSpPr>
          <p:nvPr>
            <p:ph type="title"/>
          </p:nvPr>
        </p:nvSpPr>
        <p:spPr/>
        <p:txBody>
          <a:bodyPr/>
          <a:lstStyle/>
          <a:p>
            <a:r>
              <a:rPr lang="en-GB" noProof="0" dirty="0"/>
              <a:t>Query – Execution</a:t>
            </a:r>
          </a:p>
        </p:txBody>
      </p:sp>
      <p:sp>
        <p:nvSpPr>
          <p:cNvPr id="3" name="Content Placeholder 2">
            <a:extLst>
              <a:ext uri="{FF2B5EF4-FFF2-40B4-BE49-F238E27FC236}">
                <a16:creationId xmlns:a16="http://schemas.microsoft.com/office/drawing/2014/main" id="{C2F1F4FD-81EC-CE9B-2890-DBD6EE34DD35}"/>
              </a:ext>
            </a:extLst>
          </p:cNvPr>
          <p:cNvSpPr>
            <a:spLocks noGrp="1"/>
          </p:cNvSpPr>
          <p:nvPr>
            <p:ph idx="1"/>
          </p:nvPr>
        </p:nvSpPr>
        <p:spPr>
          <a:xfrm>
            <a:off x="674290" y="1196752"/>
            <a:ext cx="8150225" cy="5229944"/>
          </a:xfrm>
        </p:spPr>
        <p:txBody>
          <a:bodyPr>
            <a:normAutofit fontScale="85000" lnSpcReduction="20000"/>
          </a:bodyPr>
          <a:lstStyle/>
          <a:p>
            <a:r>
              <a:rPr lang="en-GB" noProof="0" dirty="0"/>
              <a:t>Once a query is configured, it must be executed to retrieve results</a:t>
            </a:r>
          </a:p>
          <a:p>
            <a:r>
              <a:rPr lang="en-GB" noProof="0" dirty="0"/>
              <a:t>These are the most common method that execute a query and get the results</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getResultList</a:t>
            </a:r>
            <a:r>
              <a:rPr lang="en-GB" b="1" noProof="0" dirty="0">
                <a:latin typeface="Courier New" panose="02070309020205020404" pitchFamily="49" charset="0"/>
                <a:cs typeface="Courier New" panose="02070309020205020404" pitchFamily="49" charset="0"/>
              </a:rPr>
              <a:t>()</a:t>
            </a:r>
            <a:r>
              <a:rPr lang="en-GB" noProof="0" dirty="0"/>
              <a:t>: retrieves multiple results; return type depends on the query type and operation:</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getResultStream</a:t>
            </a:r>
            <a:r>
              <a:rPr lang="en-GB" b="1" noProof="0" dirty="0">
                <a:latin typeface="Courier New" panose="02070309020205020404" pitchFamily="49" charset="0"/>
                <a:cs typeface="Courier New" panose="02070309020205020404" pitchFamily="49" charset="0"/>
              </a:rPr>
              <a:t>()</a:t>
            </a:r>
            <a:r>
              <a:rPr lang="en-GB" noProof="0" dirty="0"/>
              <a:t>: similar to the previous, but it returns a Stream instead of a List</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getSingleResult</a:t>
            </a:r>
            <a:r>
              <a:rPr lang="en-GB" b="1" noProof="0" dirty="0">
                <a:latin typeface="Courier New" panose="02070309020205020404" pitchFamily="49" charset="0"/>
                <a:cs typeface="Courier New" panose="02070309020205020404" pitchFamily="49" charset="0"/>
              </a:rPr>
              <a:t>()</a:t>
            </a:r>
            <a:r>
              <a:rPr lang="en-GB" noProof="0" dirty="0"/>
              <a:t>: retrieves a single result; return type depends on the query type and operation:</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executeUpdate</a:t>
            </a:r>
            <a:r>
              <a:rPr lang="en-GB" b="1" noProof="0" dirty="0">
                <a:latin typeface="Courier New" panose="02070309020205020404" pitchFamily="49" charset="0"/>
                <a:cs typeface="Courier New" panose="02070309020205020404" pitchFamily="49" charset="0"/>
              </a:rPr>
              <a:t>()</a:t>
            </a:r>
            <a:r>
              <a:rPr lang="en-GB" noProof="0" dirty="0"/>
              <a:t>: executes UPDATE or DELETE queries; returns the number of affected rows</a:t>
            </a:r>
          </a:p>
        </p:txBody>
      </p:sp>
    </p:spTree>
    <p:extLst>
      <p:ext uri="{BB962C8B-B14F-4D97-AF65-F5344CB8AC3E}">
        <p14:creationId xmlns:p14="http://schemas.microsoft.com/office/powerpoint/2010/main" val="10015474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B6675-B3C1-98BD-F3AD-33B7DFFF6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547A6-D083-27D4-D828-75EEA84C73EC}"/>
              </a:ext>
            </a:extLst>
          </p:cNvPr>
          <p:cNvSpPr>
            <a:spLocks noGrp="1"/>
          </p:cNvSpPr>
          <p:nvPr>
            <p:ph type="title"/>
          </p:nvPr>
        </p:nvSpPr>
        <p:spPr/>
        <p:txBody>
          <a:bodyPr/>
          <a:lstStyle/>
          <a:p>
            <a:r>
              <a:rPr lang="en-GB" noProof="0" dirty="0"/>
              <a:t>Query – Results</a:t>
            </a:r>
          </a:p>
        </p:txBody>
      </p:sp>
      <p:sp>
        <p:nvSpPr>
          <p:cNvPr id="3" name="Content Placeholder 2">
            <a:extLst>
              <a:ext uri="{FF2B5EF4-FFF2-40B4-BE49-F238E27FC236}">
                <a16:creationId xmlns:a16="http://schemas.microsoft.com/office/drawing/2014/main" id="{86A33096-0C0C-88C4-2F5B-082CC8F50A0D}"/>
              </a:ext>
            </a:extLst>
          </p:cNvPr>
          <p:cNvSpPr>
            <a:spLocks noGrp="1"/>
          </p:cNvSpPr>
          <p:nvPr>
            <p:ph idx="1"/>
          </p:nvPr>
        </p:nvSpPr>
        <p:spPr>
          <a:xfrm>
            <a:off x="674290" y="1196752"/>
            <a:ext cx="8150225" cy="4896544"/>
          </a:xfrm>
        </p:spPr>
        <p:txBody>
          <a:bodyPr>
            <a:normAutofit fontScale="85000" lnSpcReduction="20000"/>
          </a:bodyPr>
          <a:lstStyle/>
          <a:p>
            <a:r>
              <a:rPr lang="en-GB" noProof="0" dirty="0"/>
              <a:t>The result type depends on the query type and on the selection it performs </a:t>
            </a:r>
          </a:p>
          <a:p>
            <a:pPr lvl="1"/>
            <a:r>
              <a:rPr lang="en-GB" b="1" noProof="0" dirty="0" err="1">
                <a:latin typeface="Courier New" panose="02070309020205020404" pitchFamily="49" charset="0"/>
                <a:cs typeface="Courier New" panose="02070309020205020404" pitchFamily="49" charset="0"/>
              </a:rPr>
              <a:t>TypedQuery</a:t>
            </a:r>
            <a:r>
              <a:rPr lang="en-GB" b="1" noProof="0" dirty="0">
                <a:latin typeface="Courier New" panose="02070309020205020404" pitchFamily="49" charset="0"/>
                <a:cs typeface="Courier New" panose="02070309020205020404" pitchFamily="49" charset="0"/>
              </a:rPr>
              <a:t>&lt;T&gt;</a:t>
            </a:r>
            <a:r>
              <a:rPr lang="en-GB" noProof="0" dirty="0"/>
              <a:t> returns objects of type </a:t>
            </a:r>
            <a:r>
              <a:rPr lang="en-GB" b="1" noProof="0" dirty="0">
                <a:latin typeface="Courier New" panose="02070309020205020404" pitchFamily="49" charset="0"/>
                <a:cs typeface="Courier New" panose="02070309020205020404" pitchFamily="49" charset="0"/>
              </a:rPr>
              <a:t>T</a:t>
            </a:r>
          </a:p>
          <a:p>
            <a:pPr lvl="1"/>
            <a:r>
              <a:rPr lang="en-GB" noProof="0" dirty="0"/>
              <a:t>Standard Query returns </a:t>
            </a:r>
            <a:r>
              <a:rPr lang="en-GB" b="1" noProof="0" dirty="0">
                <a:latin typeface="Courier New" panose="02070309020205020404" pitchFamily="49" charset="0"/>
                <a:cs typeface="Courier New" panose="02070309020205020404" pitchFamily="49" charset="0"/>
              </a:rPr>
              <a:t>Object</a:t>
            </a:r>
            <a:r>
              <a:rPr lang="en-GB" noProof="0" dirty="0"/>
              <a:t> or </a:t>
            </a:r>
            <a:r>
              <a:rPr lang="en-GB" b="1" noProof="0" dirty="0">
                <a:latin typeface="Courier New" panose="02070309020205020404" pitchFamily="49" charset="0"/>
                <a:cs typeface="Courier New" panose="02070309020205020404" pitchFamily="49" charset="0"/>
              </a:rPr>
              <a:t>Object[]</a:t>
            </a:r>
            <a:r>
              <a:rPr lang="en-GB" noProof="0" dirty="0"/>
              <a:t> when selecting multiple fields</a:t>
            </a:r>
          </a:p>
          <a:p>
            <a:pPr lvl="1"/>
            <a:r>
              <a:rPr lang="en-GB" noProof="0" dirty="0"/>
              <a:t>Partial field projections return </a:t>
            </a:r>
            <a:r>
              <a:rPr lang="en-GB" b="1" noProof="0" dirty="0">
                <a:latin typeface="Courier New" panose="02070309020205020404" pitchFamily="49" charset="0"/>
                <a:cs typeface="Courier New" panose="02070309020205020404" pitchFamily="49" charset="0"/>
              </a:rPr>
              <a:t>Object[] </a:t>
            </a:r>
            <a:r>
              <a:rPr lang="en-GB" noProof="0" dirty="0"/>
              <a:t>(each element corresponds to a selected field)</a:t>
            </a:r>
          </a:p>
          <a:p>
            <a:pPr lvl="1"/>
            <a:r>
              <a:rPr lang="en-GB" noProof="0" dirty="0"/>
              <a:t>Aggregates (SUM, COUNT, etc.) return a </a:t>
            </a:r>
            <a:r>
              <a:rPr lang="en-GB" b="1" noProof="0" dirty="0">
                <a:latin typeface="Courier New" panose="02070309020205020404" pitchFamily="49" charset="0"/>
                <a:cs typeface="Courier New" panose="02070309020205020404" pitchFamily="49" charset="0"/>
              </a:rPr>
              <a:t>Number</a:t>
            </a:r>
            <a:r>
              <a:rPr lang="en-GB" noProof="0" dirty="0"/>
              <a:t>, but the actual type depends on the database. Explicit casting is required</a:t>
            </a:r>
          </a:p>
          <a:p>
            <a:r>
              <a:rPr lang="en-GB" noProof="0" dirty="0"/>
              <a:t>The execution method (</a:t>
            </a:r>
            <a:r>
              <a:rPr lang="en-GB" b="1" noProof="0" dirty="0" err="1">
                <a:latin typeface="Courier New" panose="02070309020205020404" pitchFamily="49" charset="0"/>
                <a:cs typeface="Courier New" panose="02070309020205020404" pitchFamily="49" charset="0"/>
              </a:rPr>
              <a:t>getSingleResult</a:t>
            </a:r>
            <a:r>
              <a:rPr lang="en-GB" b="1" noProof="0" dirty="0">
                <a:latin typeface="Courier New" panose="02070309020205020404" pitchFamily="49" charset="0"/>
                <a:cs typeface="Courier New" panose="02070309020205020404" pitchFamily="49" charset="0"/>
              </a:rPr>
              <a:t>()</a:t>
            </a:r>
            <a:r>
              <a:rPr lang="en-GB" noProof="0" dirty="0"/>
              <a:t>, </a:t>
            </a:r>
            <a:r>
              <a:rPr lang="en-GB" b="1" noProof="0" dirty="0" err="1">
                <a:latin typeface="Courier New" panose="02070309020205020404" pitchFamily="49" charset="0"/>
                <a:cs typeface="Courier New" panose="02070309020205020404" pitchFamily="49" charset="0"/>
              </a:rPr>
              <a:t>getResultList</a:t>
            </a:r>
            <a:r>
              <a:rPr lang="en-GB" b="1" noProof="0" dirty="0">
                <a:latin typeface="Courier New" panose="02070309020205020404" pitchFamily="49" charset="0"/>
                <a:cs typeface="Courier New" panose="02070309020205020404" pitchFamily="49" charset="0"/>
              </a:rPr>
              <a:t>()</a:t>
            </a:r>
            <a:r>
              <a:rPr lang="en-GB" noProof="0" dirty="0"/>
              <a:t>, …) determines if the result is a single item or a collection of items</a:t>
            </a:r>
          </a:p>
        </p:txBody>
      </p:sp>
    </p:spTree>
    <p:extLst>
      <p:ext uri="{BB962C8B-B14F-4D97-AF65-F5344CB8AC3E}">
        <p14:creationId xmlns:p14="http://schemas.microsoft.com/office/powerpoint/2010/main" val="30333518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9B4E7F2-F13B-BF39-E276-EE64EEF8D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A93E4-EB31-C089-F191-549E1DD79DAE}"/>
              </a:ext>
            </a:extLst>
          </p:cNvPr>
          <p:cNvSpPr>
            <a:spLocks noGrp="1"/>
          </p:cNvSpPr>
          <p:nvPr>
            <p:ph type="title"/>
          </p:nvPr>
        </p:nvSpPr>
        <p:spPr/>
        <p:txBody>
          <a:bodyPr/>
          <a:lstStyle/>
          <a:p>
            <a:r>
              <a:rPr lang="en-GB" noProof="0" dirty="0"/>
              <a:t>Query – Pagination</a:t>
            </a:r>
          </a:p>
        </p:txBody>
      </p:sp>
      <p:sp>
        <p:nvSpPr>
          <p:cNvPr id="3" name="Content Placeholder 2">
            <a:extLst>
              <a:ext uri="{FF2B5EF4-FFF2-40B4-BE49-F238E27FC236}">
                <a16:creationId xmlns:a16="http://schemas.microsoft.com/office/drawing/2014/main" id="{CA50A6ED-B4EC-7CAE-DB2D-75D633AE2EA6}"/>
              </a:ext>
            </a:extLst>
          </p:cNvPr>
          <p:cNvSpPr>
            <a:spLocks noGrp="1"/>
          </p:cNvSpPr>
          <p:nvPr>
            <p:ph idx="1"/>
          </p:nvPr>
        </p:nvSpPr>
        <p:spPr>
          <a:xfrm>
            <a:off x="685800" y="1295400"/>
            <a:ext cx="8150225" cy="4941912"/>
          </a:xfrm>
        </p:spPr>
        <p:txBody>
          <a:bodyPr>
            <a:normAutofit/>
          </a:bodyPr>
          <a:lstStyle/>
          <a:p>
            <a:r>
              <a:rPr lang="en-GB" sz="2800" noProof="0" dirty="0"/>
              <a:t>Pagination allows limiting the number of results and setting an offset</a:t>
            </a:r>
          </a:p>
          <a:p>
            <a:pPr lvl="1"/>
            <a:r>
              <a:rPr lang="en-GB" sz="2400" b="1" noProof="0" dirty="0" err="1">
                <a:solidFill>
                  <a:schemeClr val="accent6">
                    <a:lumMod val="75000"/>
                  </a:schemeClr>
                </a:solidFill>
                <a:latin typeface="Courier New" panose="02070309020205020404" pitchFamily="49" charset="0"/>
                <a:cs typeface="Courier New" panose="02070309020205020404" pitchFamily="49" charset="0"/>
              </a:rPr>
              <a:t>setMaxResults</a:t>
            </a:r>
            <a:r>
              <a:rPr lang="en-GB" sz="2400" b="1" noProof="0" dirty="0">
                <a:latin typeface="Courier New" panose="02070309020205020404" pitchFamily="49" charset="0"/>
                <a:cs typeface="Courier New" panose="02070309020205020404" pitchFamily="49" charset="0"/>
              </a:rPr>
              <a:t>(int </a:t>
            </a:r>
            <a:r>
              <a:rPr lang="en-GB" sz="2400" b="1" noProof="0" dirty="0" err="1">
                <a:latin typeface="Courier New" panose="02070309020205020404" pitchFamily="49" charset="0"/>
                <a:cs typeface="Courier New" panose="02070309020205020404" pitchFamily="49" charset="0"/>
              </a:rPr>
              <a:t>maxResults</a:t>
            </a:r>
            <a:r>
              <a:rPr lang="en-GB" sz="2400" b="1" noProof="0" dirty="0">
                <a:latin typeface="Courier New" panose="02070309020205020404" pitchFamily="49" charset="0"/>
                <a:cs typeface="Courier New" panose="02070309020205020404" pitchFamily="49" charset="0"/>
              </a:rPr>
              <a:t>)</a:t>
            </a:r>
            <a:r>
              <a:rPr lang="en-GB" sz="2400" noProof="0" dirty="0"/>
              <a:t>: limits the number of results</a:t>
            </a:r>
          </a:p>
          <a:p>
            <a:pPr lvl="1"/>
            <a:r>
              <a:rPr lang="en-GB" sz="2400" b="1" noProof="0" dirty="0" err="1">
                <a:solidFill>
                  <a:schemeClr val="accent6">
                    <a:lumMod val="75000"/>
                  </a:schemeClr>
                </a:solidFill>
                <a:latin typeface="Courier New" panose="02070309020205020404" pitchFamily="49" charset="0"/>
                <a:cs typeface="Courier New" panose="02070309020205020404" pitchFamily="49" charset="0"/>
              </a:rPr>
              <a:t>setFirstResult</a:t>
            </a:r>
            <a:r>
              <a:rPr lang="en-GB" sz="2400" b="1" noProof="0" dirty="0">
                <a:latin typeface="Courier New" panose="02070309020205020404" pitchFamily="49" charset="0"/>
                <a:cs typeface="Courier New" panose="02070309020205020404" pitchFamily="49" charset="0"/>
              </a:rPr>
              <a:t>(int </a:t>
            </a:r>
            <a:r>
              <a:rPr lang="en-GB" sz="2400" b="1" noProof="0" dirty="0" err="1">
                <a:latin typeface="Courier New" panose="02070309020205020404" pitchFamily="49" charset="0"/>
                <a:cs typeface="Courier New" panose="02070309020205020404" pitchFamily="49" charset="0"/>
              </a:rPr>
              <a:t>startPosition</a:t>
            </a:r>
            <a:r>
              <a:rPr lang="en-GB" sz="2400" b="1" noProof="0" dirty="0">
                <a:latin typeface="Courier New" panose="02070309020205020404" pitchFamily="49" charset="0"/>
                <a:cs typeface="Courier New" panose="02070309020205020404" pitchFamily="49" charset="0"/>
              </a:rPr>
              <a:t>)</a:t>
            </a:r>
            <a:r>
              <a:rPr lang="en-GB" sz="2400" noProof="0" dirty="0"/>
              <a:t>: sets the offset for pagination</a:t>
            </a:r>
          </a:p>
        </p:txBody>
      </p:sp>
    </p:spTree>
    <p:extLst>
      <p:ext uri="{BB962C8B-B14F-4D97-AF65-F5344CB8AC3E}">
        <p14:creationId xmlns:p14="http://schemas.microsoft.com/office/powerpoint/2010/main" val="23553338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FF527-7DD7-C70B-B8B5-CF968DC6C64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942A0F9-CDBC-6E20-1D1E-DF8190B870C1}"/>
              </a:ext>
            </a:extLst>
          </p:cNvPr>
          <p:cNvSpPr>
            <a:spLocks noGrp="1"/>
          </p:cNvSpPr>
          <p:nvPr>
            <p:ph type="title"/>
          </p:nvPr>
        </p:nvSpPr>
        <p:spPr/>
        <p:txBody>
          <a:bodyPr/>
          <a:lstStyle/>
          <a:p>
            <a:r>
              <a:rPr lang="en-GB" noProof="0" dirty="0"/>
              <a:t>JPQL</a:t>
            </a:r>
          </a:p>
        </p:txBody>
      </p:sp>
      <p:sp>
        <p:nvSpPr>
          <p:cNvPr id="3" name="Segnaposto contenuto 2">
            <a:extLst>
              <a:ext uri="{FF2B5EF4-FFF2-40B4-BE49-F238E27FC236}">
                <a16:creationId xmlns:a16="http://schemas.microsoft.com/office/drawing/2014/main" id="{43D1CB05-247E-8344-7B6E-AC74C349258D}"/>
              </a:ext>
            </a:extLst>
          </p:cNvPr>
          <p:cNvSpPr>
            <a:spLocks noGrp="1"/>
          </p:cNvSpPr>
          <p:nvPr>
            <p:ph idx="1"/>
          </p:nvPr>
        </p:nvSpPr>
        <p:spPr/>
        <p:txBody>
          <a:bodyPr>
            <a:normAutofit fontScale="70000" lnSpcReduction="20000"/>
          </a:bodyPr>
          <a:lstStyle/>
          <a:p>
            <a:r>
              <a:rPr lang="en-GB" noProof="0" dirty="0"/>
              <a:t>JPQL (Java Persistence Query Language) is the query language defined by JPA to retrieve and manipulate entity data</a:t>
            </a:r>
          </a:p>
          <a:p>
            <a:r>
              <a:rPr lang="en-GB" noProof="0" dirty="0"/>
              <a:t>It is similar to SQL, but operates on JPA entities and their attributes instead of database tables and columns</a:t>
            </a:r>
          </a:p>
          <a:p>
            <a:r>
              <a:rPr lang="en-GB" noProof="0" dirty="0"/>
              <a:t>JPQL queries are translated into SQL by the JPA provider, making them database-independent</a:t>
            </a:r>
          </a:p>
          <a:p>
            <a:r>
              <a:rPr lang="en-GB" noProof="0" dirty="0"/>
              <a:t>Supports SELECT, UPDATE, DELETE operations, but does not allow INSERT statements</a:t>
            </a:r>
          </a:p>
          <a:p>
            <a:pPr lvl="1"/>
            <a:r>
              <a:rPr lang="en-GB" noProof="0" dirty="0"/>
              <a:t>entities are persisted using </a:t>
            </a:r>
            <a:r>
              <a:rPr lang="en-GB" noProof="0" dirty="0" err="1"/>
              <a:t>EntityManager.persist</a:t>
            </a:r>
            <a:r>
              <a:rPr lang="en-GB" noProof="0" dirty="0"/>
              <a:t>()</a:t>
            </a:r>
          </a:p>
          <a:p>
            <a:r>
              <a:rPr lang="en-GB" noProof="0" dirty="0"/>
              <a:t>JPQL enables navigating entity relationships using JOIN, FETCH, and path expressions</a:t>
            </a:r>
          </a:p>
          <a:p>
            <a:r>
              <a:rPr lang="en-GB" noProof="0" dirty="0"/>
              <a:t>Queries can be statically defined (Named Queries) or dynamically created at runtime</a:t>
            </a:r>
          </a:p>
        </p:txBody>
      </p:sp>
    </p:spTree>
    <p:extLst>
      <p:ext uri="{BB962C8B-B14F-4D97-AF65-F5344CB8AC3E}">
        <p14:creationId xmlns:p14="http://schemas.microsoft.com/office/powerpoint/2010/main" val="29271372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50948-F299-0D5D-0060-DBE87D42152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EBBB6D9-C18F-8F66-D0A0-B9AFEC34AB32}"/>
              </a:ext>
            </a:extLst>
          </p:cNvPr>
          <p:cNvSpPr>
            <a:spLocks noGrp="1"/>
          </p:cNvSpPr>
          <p:nvPr>
            <p:ph type="title"/>
          </p:nvPr>
        </p:nvSpPr>
        <p:spPr/>
        <p:txBody>
          <a:bodyPr/>
          <a:lstStyle/>
          <a:p>
            <a:r>
              <a:rPr lang="en-GB" noProof="0" dirty="0"/>
              <a:t>JPQL – Query Structure</a:t>
            </a:r>
          </a:p>
        </p:txBody>
      </p:sp>
      <p:sp>
        <p:nvSpPr>
          <p:cNvPr id="3" name="Segnaposto contenuto 2">
            <a:extLst>
              <a:ext uri="{FF2B5EF4-FFF2-40B4-BE49-F238E27FC236}">
                <a16:creationId xmlns:a16="http://schemas.microsoft.com/office/drawing/2014/main" id="{9C46A485-6146-4EBB-BE57-914C6F4DA02D}"/>
              </a:ext>
            </a:extLst>
          </p:cNvPr>
          <p:cNvSpPr>
            <a:spLocks noGrp="1"/>
          </p:cNvSpPr>
          <p:nvPr>
            <p:ph idx="1"/>
          </p:nvPr>
        </p:nvSpPr>
        <p:spPr/>
        <p:txBody>
          <a:bodyPr>
            <a:normAutofit lnSpcReduction="10000"/>
          </a:bodyPr>
          <a:lstStyle/>
          <a:p>
            <a:r>
              <a:rPr lang="en-GB" noProof="0" dirty="0"/>
              <a:t>Queries must use entity class names and field names, not database-specific identifiers </a:t>
            </a:r>
          </a:p>
          <a:p>
            <a:r>
              <a:rPr lang="en-GB" noProof="0" dirty="0"/>
              <a:t>The alias is required when using conditions or sorting</a:t>
            </a:r>
          </a:p>
          <a:p>
            <a:r>
              <a:rPr lang="en-GB" noProof="0" dirty="0"/>
              <a:t>Joins are based on entity relationships instead of foreign keys</a:t>
            </a:r>
          </a:p>
          <a:p>
            <a:r>
              <a:rPr lang="en-GB" noProof="0" dirty="0"/>
              <a:t>Type-safe navigation through associations</a:t>
            </a:r>
          </a:p>
        </p:txBody>
      </p:sp>
    </p:spTree>
    <p:extLst>
      <p:ext uri="{BB962C8B-B14F-4D97-AF65-F5344CB8AC3E}">
        <p14:creationId xmlns:p14="http://schemas.microsoft.com/office/powerpoint/2010/main" val="42779314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0FDC2-E860-B33D-A10D-4C37A95F20D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5CECE5C-ADC4-5D2B-711D-ADAB7D7415AF}"/>
              </a:ext>
            </a:extLst>
          </p:cNvPr>
          <p:cNvSpPr>
            <a:spLocks noGrp="1"/>
          </p:cNvSpPr>
          <p:nvPr>
            <p:ph type="title"/>
          </p:nvPr>
        </p:nvSpPr>
        <p:spPr/>
        <p:txBody>
          <a:bodyPr/>
          <a:lstStyle/>
          <a:p>
            <a:r>
              <a:rPr lang="en-GB" noProof="0" dirty="0"/>
              <a:t>JPQL – Query Example</a:t>
            </a:r>
          </a:p>
        </p:txBody>
      </p:sp>
      <p:sp>
        <p:nvSpPr>
          <p:cNvPr id="3" name="Segnaposto contenuto 2">
            <a:extLst>
              <a:ext uri="{FF2B5EF4-FFF2-40B4-BE49-F238E27FC236}">
                <a16:creationId xmlns:a16="http://schemas.microsoft.com/office/drawing/2014/main" id="{9CBF2ABB-554B-6A2B-210D-9412C1A1EBCE}"/>
              </a:ext>
            </a:extLst>
          </p:cNvPr>
          <p:cNvSpPr>
            <a:spLocks noGrp="1"/>
          </p:cNvSpPr>
          <p:nvPr>
            <p:ph idx="1"/>
          </p:nvPr>
        </p:nvSpPr>
        <p:spPr>
          <a:xfrm>
            <a:off x="4427985" y="1218822"/>
            <a:ext cx="4608512" cy="4724400"/>
          </a:xfrm>
        </p:spPr>
        <p:txBody>
          <a:bodyPr>
            <a:normAutofit/>
          </a:bodyPr>
          <a:lstStyle/>
          <a:p>
            <a:pPr marL="0" indent="0">
              <a:buNone/>
            </a:pPr>
            <a:r>
              <a:rPr lang="en-GB" sz="2400" b="1" noProof="0" dirty="0">
                <a:latin typeface="Courier New" panose="02070309020205020404" pitchFamily="49" charset="0"/>
                <a:cs typeface="Courier New" panose="02070309020205020404" pitchFamily="49" charset="0"/>
              </a:rPr>
              <a:t>SELECT u </a:t>
            </a:r>
          </a:p>
          <a:p>
            <a:pPr marL="0" indent="0">
              <a:buNone/>
            </a:pPr>
            <a:r>
              <a:rPr lang="en-GB" sz="2400" b="1" noProof="0" dirty="0">
                <a:latin typeface="Courier New" panose="02070309020205020404" pitchFamily="49" charset="0"/>
                <a:cs typeface="Courier New" panose="02070309020205020404" pitchFamily="49" charset="0"/>
              </a:rPr>
              <a:t>FROM </a:t>
            </a:r>
            <a:r>
              <a:rPr lang="en-GB" sz="2400" b="1" noProof="0" dirty="0">
                <a:solidFill>
                  <a:schemeClr val="tx1"/>
                </a:solidFill>
                <a:latin typeface="Courier New" panose="02070309020205020404" pitchFamily="49" charset="0"/>
                <a:cs typeface="Courier New" panose="02070309020205020404" pitchFamily="49" charset="0"/>
              </a:rPr>
              <a:t>User</a:t>
            </a:r>
            <a:r>
              <a:rPr lang="en-GB" sz="2400" b="1" noProof="0" dirty="0">
                <a:latin typeface="Courier New" panose="02070309020205020404" pitchFamily="49" charset="0"/>
                <a:cs typeface="Courier New" panose="02070309020205020404" pitchFamily="49" charset="0"/>
              </a:rPr>
              <a:t> u </a:t>
            </a:r>
          </a:p>
          <a:p>
            <a:pPr marL="0" indent="0">
              <a:buNone/>
            </a:pPr>
            <a:r>
              <a:rPr lang="en-GB" sz="2400" b="1" noProof="0" dirty="0">
                <a:latin typeface="Courier New" panose="02070309020205020404" pitchFamily="49" charset="0"/>
                <a:cs typeface="Courier New" panose="02070309020205020404" pitchFamily="49" charset="0"/>
              </a:rPr>
              <a:t>JOIN </a:t>
            </a:r>
            <a:r>
              <a:rPr lang="en-GB" sz="2400" b="1" noProof="0" dirty="0" err="1">
                <a:latin typeface="Courier New" panose="02070309020205020404" pitchFamily="49" charset="0"/>
                <a:cs typeface="Courier New" panose="02070309020205020404" pitchFamily="49" charset="0"/>
              </a:rPr>
              <a:t>u.</a:t>
            </a:r>
            <a:r>
              <a:rPr lang="en-GB" sz="2400" b="1" noProof="0" dirty="0" err="1">
                <a:solidFill>
                  <a:schemeClr val="tx1"/>
                </a:solidFill>
                <a:latin typeface="Courier New" panose="02070309020205020404" pitchFamily="49" charset="0"/>
                <a:cs typeface="Courier New" panose="02070309020205020404" pitchFamily="49" charset="0"/>
              </a:rPr>
              <a:t>orders</a:t>
            </a:r>
            <a:r>
              <a:rPr lang="en-GB" sz="2400" b="1" noProof="0" dirty="0">
                <a:latin typeface="Courier New" panose="02070309020205020404" pitchFamily="49" charset="0"/>
                <a:cs typeface="Courier New" panose="02070309020205020404" pitchFamily="49" charset="0"/>
              </a:rPr>
              <a:t> o </a:t>
            </a:r>
          </a:p>
          <a:p>
            <a:pPr marL="0" indent="0">
              <a:buNone/>
            </a:pPr>
            <a:r>
              <a:rPr lang="en-GB" sz="2400" b="1" noProof="0" dirty="0">
                <a:latin typeface="Courier New" panose="02070309020205020404" pitchFamily="49" charset="0"/>
                <a:cs typeface="Courier New" panose="02070309020205020404" pitchFamily="49" charset="0"/>
              </a:rPr>
              <a:t>WHERE </a:t>
            </a:r>
            <a:r>
              <a:rPr lang="en-GB" sz="2400" b="1" noProof="0" dirty="0" err="1">
                <a:latin typeface="Courier New" panose="02070309020205020404" pitchFamily="49" charset="0"/>
                <a:cs typeface="Courier New" panose="02070309020205020404" pitchFamily="49" charset="0"/>
              </a:rPr>
              <a:t>o.status</a:t>
            </a:r>
            <a:r>
              <a:rPr lang="en-GB" sz="2400" b="1" noProof="0" dirty="0">
                <a:latin typeface="Courier New" panose="02070309020205020404" pitchFamily="49" charset="0"/>
                <a:cs typeface="Courier New" panose="02070309020205020404" pitchFamily="49" charset="0"/>
              </a:rPr>
              <a:t>='SHIPPED’ </a:t>
            </a:r>
          </a:p>
          <a:p>
            <a:pPr marL="0" indent="0">
              <a:buNone/>
            </a:pPr>
            <a:r>
              <a:rPr lang="en-GB" sz="2400" b="1" noProof="0" dirty="0">
                <a:latin typeface="Courier New" panose="02070309020205020404" pitchFamily="49" charset="0"/>
                <a:cs typeface="Courier New" panose="02070309020205020404" pitchFamily="49" charset="0"/>
              </a:rPr>
              <a:t>ORDER BY </a:t>
            </a:r>
            <a:r>
              <a:rPr lang="en-GB" sz="2400" b="1" noProof="0" dirty="0" err="1">
                <a:latin typeface="Courier New" panose="02070309020205020404" pitchFamily="49" charset="0"/>
                <a:cs typeface="Courier New" panose="02070309020205020404" pitchFamily="49" charset="0"/>
              </a:rPr>
              <a:t>u.name</a:t>
            </a:r>
            <a:r>
              <a:rPr lang="en-GB" sz="2400" b="1" noProof="0" dirty="0">
                <a:latin typeface="Courier New" panose="02070309020205020404" pitchFamily="49" charset="0"/>
                <a:cs typeface="Courier New" panose="02070309020205020404" pitchFamily="49" charset="0"/>
              </a:rPr>
              <a:t> ASC</a:t>
            </a:r>
          </a:p>
          <a:p>
            <a:pPr marL="0" indent="0">
              <a:buNone/>
            </a:pPr>
            <a:endParaRPr lang="en-GB" noProof="0" dirty="0"/>
          </a:p>
        </p:txBody>
      </p:sp>
      <p:sp>
        <p:nvSpPr>
          <p:cNvPr id="6" name="Segnaposto contenuto 2">
            <a:extLst>
              <a:ext uri="{FF2B5EF4-FFF2-40B4-BE49-F238E27FC236}">
                <a16:creationId xmlns:a16="http://schemas.microsoft.com/office/drawing/2014/main" id="{138BE91B-6039-7E51-F5AB-92BBD3E0E81F}"/>
              </a:ext>
            </a:extLst>
          </p:cNvPr>
          <p:cNvSpPr txBox="1">
            <a:spLocks/>
          </p:cNvSpPr>
          <p:nvPr/>
        </p:nvSpPr>
        <p:spPr bwMode="auto">
          <a:xfrm>
            <a:off x="611560" y="1218822"/>
            <a:ext cx="3582614" cy="52345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normAutofit fontScale="40000" lnSpcReduction="20000"/>
          </a:bodyPr>
          <a:lstStyle>
            <a:lvl1pPr marL="341313" indent="-341313" algn="l" defTabSz="457200" rtl="0" eaLnBrk="0" fontAlgn="base" hangingPunct="0">
              <a:lnSpc>
                <a:spcPct val="101000"/>
              </a:lnSpc>
              <a:spcBef>
                <a:spcPts val="800"/>
              </a:spcBef>
              <a:spcAft>
                <a:spcPct val="0"/>
              </a:spcAft>
              <a:buClr>
                <a:srgbClr val="000000"/>
              </a:buClr>
              <a:buSzPct val="100000"/>
              <a:buFont typeface="Wingdings" charset="0"/>
              <a:buChar char=""/>
              <a:defRPr sz="3200">
                <a:solidFill>
                  <a:srgbClr val="000000"/>
                </a:solidFill>
                <a:latin typeface="+mn-lt"/>
                <a:ea typeface="ＭＳ Ｐゴシック" charset="0"/>
                <a:cs typeface="+mn-cs"/>
              </a:defRPr>
            </a:lvl1pPr>
            <a:lvl2pPr marL="741363" indent="-284163" algn="l" defTabSz="457200" rtl="0" eaLnBrk="0" fontAlgn="base" hangingPunct="0">
              <a:lnSpc>
                <a:spcPct val="101000"/>
              </a:lnSpc>
              <a:spcBef>
                <a:spcPts val="700"/>
              </a:spcBef>
              <a:spcAft>
                <a:spcPct val="0"/>
              </a:spcAft>
              <a:buClr>
                <a:srgbClr val="000000"/>
              </a:buClr>
              <a:buSzPct val="80000"/>
              <a:buFont typeface="Symbol" charset="0"/>
              <a:buChar char=""/>
              <a:defRPr sz="2800">
                <a:solidFill>
                  <a:srgbClr val="000000"/>
                </a:solidFill>
                <a:latin typeface="+mn-lt"/>
                <a:ea typeface="Lucida Sans Unicode" pitchFamily="-110" charset="-52"/>
                <a:cs typeface="+mn-cs"/>
              </a:defRPr>
            </a:lvl2pPr>
            <a:lvl3pPr marL="1143000" indent="-228600" algn="l" defTabSz="457200" rtl="0" eaLnBrk="0" fontAlgn="base" hangingPunct="0">
              <a:lnSpc>
                <a:spcPct val="101000"/>
              </a:lnSpc>
              <a:spcBef>
                <a:spcPts val="600"/>
              </a:spcBef>
              <a:spcAft>
                <a:spcPct val="0"/>
              </a:spcAft>
              <a:buClr>
                <a:srgbClr val="000000"/>
              </a:buClr>
              <a:buSzPct val="100000"/>
              <a:buFont typeface="Symbol" charset="0"/>
              <a:buChar char=""/>
              <a:defRPr sz="2400">
                <a:solidFill>
                  <a:srgbClr val="000000"/>
                </a:solidFill>
                <a:latin typeface="+mn-lt"/>
                <a:ea typeface="Lucida Sans Unicode" pitchFamily="-110" charset="-52"/>
                <a:cs typeface="+mn-cs"/>
              </a:defRPr>
            </a:lvl3pPr>
            <a:lvl4pPr marL="16002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4pPr>
            <a:lvl5pPr marL="20574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5pPr>
            <a:lvl6pPr marL="25146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6pPr>
            <a:lvl7pPr marL="29718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7pPr>
            <a:lvl8pPr marL="34290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8pPr>
            <a:lvl9pPr marL="38862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9pPr>
          </a:lstStyle>
          <a:p>
            <a:pPr marL="0" indent="0">
              <a:buFont typeface="Wingdings" charset="0"/>
              <a:buNone/>
            </a:pPr>
            <a:r>
              <a:rPr lang="en-US" b="1" kern="0" dirty="0">
                <a:latin typeface="Courier New" panose="02070309020205020404" pitchFamily="49" charset="0"/>
                <a:cs typeface="Courier New" panose="02070309020205020404" pitchFamily="49" charset="0"/>
              </a:rPr>
              <a:t>@Entity</a:t>
            </a:r>
          </a:p>
          <a:p>
            <a:pPr marL="0" indent="0">
              <a:buFont typeface="Wingdings" charset="0"/>
              <a:buNone/>
            </a:pPr>
            <a:r>
              <a:rPr lang="en-US" b="1" kern="0" dirty="0">
                <a:latin typeface="Courier New" panose="02070309020205020404" pitchFamily="49" charset="0"/>
                <a:cs typeface="Courier New" panose="02070309020205020404" pitchFamily="49" charset="0"/>
              </a:rPr>
              <a:t>public class </a:t>
            </a:r>
            <a:r>
              <a:rPr lang="en-US" b="1" kern="0" dirty="0">
                <a:solidFill>
                  <a:schemeClr val="tx1"/>
                </a:solidFill>
                <a:latin typeface="Courier New" panose="02070309020205020404" pitchFamily="49" charset="0"/>
                <a:cs typeface="Courier New" panose="02070309020205020404" pitchFamily="49" charset="0"/>
              </a:rPr>
              <a:t>User</a:t>
            </a:r>
            <a:r>
              <a:rPr lang="en-US" b="1" kern="0" dirty="0">
                <a:latin typeface="Courier New" panose="02070309020205020404" pitchFamily="49" charset="0"/>
                <a:cs typeface="Courier New" panose="02070309020205020404" pitchFamily="49" charset="0"/>
              </a:rPr>
              <a:t> {</a:t>
            </a:r>
          </a:p>
          <a:p>
            <a:pPr marL="0" indent="0">
              <a:buFont typeface="Wingdings" charset="0"/>
              <a:buNone/>
            </a:pPr>
            <a:r>
              <a:rPr lang="en-US" b="1" kern="0" dirty="0">
                <a:latin typeface="Courier New" panose="02070309020205020404" pitchFamily="49" charset="0"/>
                <a:cs typeface="Courier New" panose="02070309020205020404" pitchFamily="49" charset="0"/>
              </a:rPr>
              <a:t>    @Id private Long id;</a:t>
            </a:r>
          </a:p>
          <a:p>
            <a:pPr marL="0" indent="0">
              <a:buFont typeface="Wingdings" charset="0"/>
              <a:buNone/>
            </a:pPr>
            <a:r>
              <a:rPr lang="en-US" b="1" kern="0" dirty="0">
                <a:latin typeface="Courier New" panose="02070309020205020404" pitchFamily="49" charset="0"/>
                <a:cs typeface="Courier New" panose="02070309020205020404" pitchFamily="49" charset="0"/>
              </a:rPr>
              <a:t>    private String name;</a:t>
            </a:r>
          </a:p>
          <a:p>
            <a:pPr marL="0" indent="0">
              <a:buFont typeface="Wingdings" charset="0"/>
              <a:buNone/>
            </a:pPr>
            <a:r>
              <a:rPr lang="en-US" b="1" kern="0" dirty="0">
                <a:latin typeface="Courier New" panose="02070309020205020404" pitchFamily="49" charset="0"/>
                <a:cs typeface="Courier New" panose="02070309020205020404" pitchFamily="49" charset="0"/>
              </a:rPr>
              <a:t>    private int age;</a:t>
            </a:r>
          </a:p>
          <a:p>
            <a:pPr marL="0" indent="0">
              <a:buFont typeface="Wingdings" charset="0"/>
              <a:buNone/>
            </a:pPr>
            <a:r>
              <a:rPr lang="en-US" b="1" kern="0" dirty="0">
                <a:latin typeface="Courier New" panose="02070309020205020404" pitchFamily="49" charset="0"/>
                <a:cs typeface="Courier New" panose="02070309020205020404" pitchFamily="49" charset="0"/>
              </a:rPr>
              <a:t>    </a:t>
            </a:r>
          </a:p>
          <a:p>
            <a:pPr marL="0" indent="0">
              <a:buFont typeface="Wingdings" charset="0"/>
              <a:buNone/>
            </a:pPr>
            <a:r>
              <a:rPr lang="en-US" b="1" kern="0" dirty="0">
                <a:latin typeface="Courier New" panose="02070309020205020404" pitchFamily="49" charset="0"/>
                <a:cs typeface="Courier New" panose="02070309020205020404" pitchFamily="49" charset="0"/>
              </a:rPr>
              <a:t>    @OneToMany(mappedBy = "user")</a:t>
            </a:r>
          </a:p>
          <a:p>
            <a:pPr marL="0" indent="0">
              <a:buFont typeface="Wingdings" charset="0"/>
              <a:buNone/>
            </a:pPr>
            <a:r>
              <a:rPr lang="en-US" b="1" kern="0" dirty="0">
                <a:latin typeface="Courier New" panose="02070309020205020404" pitchFamily="49" charset="0"/>
                <a:cs typeface="Courier New" panose="02070309020205020404" pitchFamily="49" charset="0"/>
              </a:rPr>
              <a:t>    private List&lt;Order&gt; </a:t>
            </a:r>
            <a:r>
              <a:rPr lang="en-US" b="1" kern="0" dirty="0">
                <a:solidFill>
                  <a:schemeClr val="tx1"/>
                </a:solidFill>
                <a:latin typeface="Courier New" panose="02070309020205020404" pitchFamily="49" charset="0"/>
                <a:cs typeface="Courier New" panose="02070309020205020404" pitchFamily="49" charset="0"/>
              </a:rPr>
              <a:t>orders</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@Entity</a:t>
            </a:r>
          </a:p>
          <a:p>
            <a:pPr marL="0" indent="0">
              <a:buFont typeface="Wingdings" charset="0"/>
              <a:buNone/>
            </a:pPr>
            <a:r>
              <a:rPr lang="en-US" b="1" kern="0" dirty="0">
                <a:latin typeface="Courier New" panose="02070309020205020404" pitchFamily="49" charset="0"/>
                <a:cs typeface="Courier New" panose="02070309020205020404" pitchFamily="49" charset="0"/>
              </a:rPr>
              <a:t>public class Order {</a:t>
            </a:r>
          </a:p>
          <a:p>
            <a:pPr marL="0" indent="0">
              <a:buFont typeface="Wingdings" charset="0"/>
              <a:buNone/>
            </a:pPr>
            <a:r>
              <a:rPr lang="en-US" b="1" kern="0" dirty="0">
                <a:latin typeface="Courier New" panose="02070309020205020404" pitchFamily="49" charset="0"/>
                <a:cs typeface="Courier New" panose="02070309020205020404" pitchFamily="49" charset="0"/>
              </a:rPr>
              <a:t>    @Id </a:t>
            </a:r>
          </a:p>
          <a:p>
            <a:pPr marL="0" indent="0">
              <a:buFont typeface="Wingdings" charset="0"/>
              <a:buNone/>
            </a:pPr>
            <a:r>
              <a:rPr lang="en-US" b="1" kern="0" dirty="0">
                <a:latin typeface="Courier New" panose="02070309020205020404" pitchFamily="49" charset="0"/>
                <a:cs typeface="Courier New" panose="02070309020205020404" pitchFamily="49" charset="0"/>
              </a:rPr>
              <a:t>    private Long id;</a:t>
            </a:r>
          </a:p>
          <a:p>
            <a:pPr marL="0" indent="0">
              <a:buFont typeface="Wingdings" charset="0"/>
              <a:buNone/>
            </a:pPr>
            <a:r>
              <a:rPr lang="en-US" b="1" kern="0" dirty="0">
                <a:latin typeface="Courier New" panose="02070309020205020404" pitchFamily="49" charset="0"/>
                <a:cs typeface="Courier New" panose="02070309020205020404" pitchFamily="49" charset="0"/>
              </a:rPr>
              <a:t>    private String status;</a:t>
            </a:r>
          </a:p>
          <a:p>
            <a:pPr marL="0" indent="0">
              <a:buFont typeface="Wingdings" charset="0"/>
              <a:buNone/>
            </a:pPr>
            <a:r>
              <a:rPr lang="en-US" b="1" kern="0" dirty="0">
                <a:latin typeface="Courier New" panose="02070309020205020404" pitchFamily="49" charset="0"/>
                <a:cs typeface="Courier New" panose="02070309020205020404" pitchFamily="49" charset="0"/>
              </a:rPr>
              <a:t>    </a:t>
            </a:r>
          </a:p>
          <a:p>
            <a:pPr marL="0" indent="0">
              <a:buFont typeface="Wingdings" charset="0"/>
              <a:buNone/>
            </a:pPr>
            <a:r>
              <a:rPr lang="en-US" b="1" kern="0" dirty="0">
                <a:latin typeface="Courier New" panose="02070309020205020404" pitchFamily="49" charset="0"/>
                <a:cs typeface="Courier New" panose="02070309020205020404" pitchFamily="49" charset="0"/>
              </a:rPr>
              <a:t>    @ManyToOne</a:t>
            </a:r>
          </a:p>
          <a:p>
            <a:pPr marL="0" indent="0">
              <a:buFont typeface="Wingdings" charset="0"/>
              <a:buNone/>
            </a:pPr>
            <a:r>
              <a:rPr lang="en-US" b="1" kern="0" dirty="0">
                <a:latin typeface="Courier New" panose="02070309020205020404" pitchFamily="49" charset="0"/>
                <a:cs typeface="Courier New" panose="02070309020205020404" pitchFamily="49" charset="0"/>
              </a:rPr>
              <a:t>    @JoinColumn(name = "</a:t>
            </a:r>
            <a:r>
              <a:rPr lang="en-US" b="1" kern="0" dirty="0" err="1">
                <a:latin typeface="Courier New" panose="02070309020205020404" pitchFamily="49" charset="0"/>
                <a:cs typeface="Courier New" panose="02070309020205020404" pitchFamily="49" charset="0"/>
              </a:rPr>
              <a:t>user_id</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    private User </a:t>
            </a:r>
            <a:r>
              <a:rPr lang="en-US" b="1" kern="0" dirty="0" err="1">
                <a:latin typeface="Courier New" panose="02070309020205020404" pitchFamily="49" charset="0"/>
                <a:cs typeface="Courier New" panose="02070309020205020404" pitchFamily="49" charset="0"/>
              </a:rPr>
              <a:t>user</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a:t>
            </a:r>
            <a:endParaRPr lang="en-US" b="1" kern="0" dirty="0"/>
          </a:p>
        </p:txBody>
      </p:sp>
      <p:cxnSp>
        <p:nvCxnSpPr>
          <p:cNvPr id="8" name="Connettore diritto 7">
            <a:extLst>
              <a:ext uri="{FF2B5EF4-FFF2-40B4-BE49-F238E27FC236}">
                <a16:creationId xmlns:a16="http://schemas.microsoft.com/office/drawing/2014/main" id="{51BD8C9C-B44D-9F3F-17FE-D5C3D139A0F6}"/>
              </a:ext>
            </a:extLst>
          </p:cNvPr>
          <p:cNvCxnSpPr>
            <a:cxnSpLocks/>
          </p:cNvCxnSpPr>
          <p:nvPr/>
        </p:nvCxnSpPr>
        <p:spPr bwMode="auto">
          <a:xfrm>
            <a:off x="4353322" y="989013"/>
            <a:ext cx="39687" cy="5464323"/>
          </a:xfrm>
          <a:prstGeom prst="line">
            <a:avLst/>
          </a:prstGeom>
          <a:solidFill>
            <a:srgbClr val="00B8FF"/>
          </a:solidFill>
          <a:ln w="12700" cap="flat" cmpd="sng" algn="ctr">
            <a:solidFill>
              <a:schemeClr val="accent6">
                <a:lumMod val="75000"/>
              </a:schemeClr>
            </a:solidFill>
            <a:prstDash val="solid"/>
            <a:round/>
            <a:headEnd type="none" w="med" len="med"/>
            <a:tailEnd type="none" w="med" len="med"/>
          </a:ln>
          <a:effectLst/>
        </p:spPr>
      </p:cxnSp>
    </p:spTree>
    <p:extLst>
      <p:ext uri="{BB962C8B-B14F-4D97-AF65-F5344CB8AC3E}">
        <p14:creationId xmlns:p14="http://schemas.microsoft.com/office/powerpoint/2010/main" val="2005339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72F2DB1-1162-0483-F26E-4F252249587A}"/>
              </a:ext>
            </a:extLst>
          </p:cNvPr>
          <p:cNvSpPr>
            <a:spLocks noGrp="1"/>
          </p:cNvSpPr>
          <p:nvPr>
            <p:ph type="title"/>
          </p:nvPr>
        </p:nvSpPr>
        <p:spPr/>
        <p:txBody>
          <a:bodyPr/>
          <a:lstStyle/>
          <a:p>
            <a:r>
              <a:rPr lang="en-GB" noProof="0" dirty="0"/>
              <a:t>JPQL – Supported Operators</a:t>
            </a:r>
          </a:p>
        </p:txBody>
      </p:sp>
      <p:sp>
        <p:nvSpPr>
          <p:cNvPr id="3" name="Segnaposto contenuto 2">
            <a:extLst>
              <a:ext uri="{FF2B5EF4-FFF2-40B4-BE49-F238E27FC236}">
                <a16:creationId xmlns:a16="http://schemas.microsoft.com/office/drawing/2014/main" id="{9ACBBC95-CAA8-21F3-6AF9-F7A40FB08EFA}"/>
              </a:ext>
            </a:extLst>
          </p:cNvPr>
          <p:cNvSpPr>
            <a:spLocks noGrp="1"/>
          </p:cNvSpPr>
          <p:nvPr>
            <p:ph idx="1"/>
          </p:nvPr>
        </p:nvSpPr>
        <p:spPr/>
        <p:txBody>
          <a:bodyPr>
            <a:normAutofit/>
          </a:bodyPr>
          <a:lstStyle/>
          <a:p>
            <a:r>
              <a:rPr lang="en-GB" sz="2800" noProof="0" dirty="0"/>
              <a:t>Comparison operators: </a:t>
            </a:r>
            <a:r>
              <a:rPr lang="en-GB" sz="2800" b="1" noProof="0" dirty="0">
                <a:latin typeface="Courier New" panose="02070309020205020404" pitchFamily="49" charset="0"/>
                <a:cs typeface="Courier New" panose="02070309020205020404" pitchFamily="49" charset="0"/>
              </a:rPr>
              <a:t>=</a:t>
            </a:r>
            <a:r>
              <a:rPr lang="en-GB" sz="2800" noProof="0" dirty="0"/>
              <a:t>, </a:t>
            </a:r>
            <a:r>
              <a:rPr lang="en-GB" sz="2800" b="1" noProof="0" dirty="0">
                <a:latin typeface="Courier New" panose="02070309020205020404" pitchFamily="49" charset="0"/>
                <a:cs typeface="Courier New" panose="02070309020205020404" pitchFamily="49" charset="0"/>
              </a:rPr>
              <a:t>&lt;&gt;</a:t>
            </a:r>
            <a:r>
              <a:rPr lang="en-GB" sz="2800" noProof="0" dirty="0"/>
              <a:t>, </a:t>
            </a:r>
            <a:r>
              <a:rPr lang="en-GB" sz="2800" b="1" dirty="0">
                <a:latin typeface="Courier New" panose="02070309020205020404" pitchFamily="49" charset="0"/>
                <a:cs typeface="Courier New" panose="02070309020205020404" pitchFamily="49" charset="0"/>
              </a:rPr>
              <a:t>&lt;</a:t>
            </a:r>
            <a:r>
              <a:rPr lang="en-GB" sz="2800" noProof="0" dirty="0"/>
              <a:t>, </a:t>
            </a:r>
            <a:r>
              <a:rPr lang="en-GB" sz="2800" b="1" dirty="0">
                <a:latin typeface="Courier New" panose="02070309020205020404" pitchFamily="49" charset="0"/>
                <a:cs typeface="Courier New" panose="02070309020205020404" pitchFamily="49" charset="0"/>
              </a:rPr>
              <a:t>&gt;</a:t>
            </a:r>
            <a:r>
              <a:rPr lang="en-GB" sz="2800" noProof="0" dirty="0"/>
              <a:t>, </a:t>
            </a:r>
            <a:r>
              <a:rPr lang="en-GB" sz="2800" b="1" dirty="0">
                <a:latin typeface="Courier New" panose="02070309020205020404" pitchFamily="49" charset="0"/>
                <a:cs typeface="Courier New" panose="02070309020205020404" pitchFamily="49" charset="0"/>
              </a:rPr>
              <a:t>&lt;=</a:t>
            </a:r>
            <a:r>
              <a:rPr lang="en-GB" sz="2800" noProof="0" dirty="0"/>
              <a:t>, </a:t>
            </a:r>
            <a:r>
              <a:rPr lang="en-GB" sz="2800" b="1" dirty="0">
                <a:latin typeface="Courier New" panose="02070309020205020404" pitchFamily="49" charset="0"/>
                <a:cs typeface="Courier New" panose="02070309020205020404" pitchFamily="49" charset="0"/>
              </a:rPr>
              <a:t>&gt;=</a:t>
            </a:r>
          </a:p>
          <a:p>
            <a:r>
              <a:rPr lang="en-GB" sz="2800" noProof="0" dirty="0"/>
              <a:t>Logical operators: </a:t>
            </a:r>
            <a:r>
              <a:rPr lang="en-GB" sz="2800" b="1" dirty="0">
                <a:latin typeface="Courier New" panose="02070309020205020404" pitchFamily="49" charset="0"/>
                <a:cs typeface="Courier New" panose="02070309020205020404" pitchFamily="49" charset="0"/>
              </a:rPr>
              <a:t>AND</a:t>
            </a:r>
            <a:r>
              <a:rPr lang="en-GB" sz="2800" noProof="0" dirty="0"/>
              <a:t>, </a:t>
            </a:r>
            <a:r>
              <a:rPr lang="en-GB" sz="2800" b="1" dirty="0">
                <a:latin typeface="Courier New" panose="02070309020205020404" pitchFamily="49" charset="0"/>
                <a:cs typeface="Courier New" panose="02070309020205020404" pitchFamily="49" charset="0"/>
              </a:rPr>
              <a:t>OR</a:t>
            </a:r>
            <a:r>
              <a:rPr lang="en-GB" sz="2800" noProof="0" dirty="0"/>
              <a:t>, </a:t>
            </a:r>
            <a:r>
              <a:rPr lang="en-GB" sz="2800" b="1" dirty="0">
                <a:latin typeface="Courier New" panose="02070309020205020404" pitchFamily="49" charset="0"/>
                <a:cs typeface="Courier New" panose="02070309020205020404" pitchFamily="49" charset="0"/>
              </a:rPr>
              <a:t>NOT</a:t>
            </a:r>
          </a:p>
          <a:p>
            <a:r>
              <a:rPr lang="en-GB" sz="2800" b="1" dirty="0">
                <a:latin typeface="Courier New" panose="02070309020205020404" pitchFamily="49" charset="0"/>
                <a:cs typeface="Courier New" panose="02070309020205020404" pitchFamily="49" charset="0"/>
              </a:rPr>
              <a:t>LIKE</a:t>
            </a:r>
            <a:r>
              <a:rPr lang="en-GB" sz="2800" noProof="0" dirty="0"/>
              <a:t> operator: pattern matching </a:t>
            </a:r>
          </a:p>
          <a:p>
            <a:pPr lvl="1"/>
            <a:r>
              <a:rPr lang="en-GB" sz="2400" b="1" dirty="0">
                <a:latin typeface="Courier New" panose="02070309020205020404" pitchFamily="49" charset="0"/>
                <a:cs typeface="Courier New" panose="02070309020205020404" pitchFamily="49" charset="0"/>
              </a:rPr>
              <a:t>LIKE '%value%'</a:t>
            </a:r>
            <a:endParaRPr lang="en-GB" sz="2400" noProof="0" dirty="0"/>
          </a:p>
          <a:p>
            <a:r>
              <a:rPr lang="en-GB" sz="2800" b="1" noProof="0" dirty="0">
                <a:latin typeface="Courier New" panose="02070309020205020404" pitchFamily="49" charset="0"/>
                <a:cs typeface="Courier New" panose="02070309020205020404" pitchFamily="49" charset="0"/>
              </a:rPr>
              <a:t>IN</a:t>
            </a:r>
            <a:r>
              <a:rPr lang="en-GB" sz="2800" noProof="0" dirty="0"/>
              <a:t> operator: checks if a value is in a list </a:t>
            </a:r>
          </a:p>
          <a:p>
            <a:pPr lvl="1"/>
            <a:r>
              <a:rPr lang="en-GB" sz="2400" noProof="0" dirty="0"/>
              <a:t>IN ('A', 'B', 'C')</a:t>
            </a:r>
          </a:p>
          <a:p>
            <a:r>
              <a:rPr lang="en-GB" sz="2800" b="1" noProof="0" dirty="0">
                <a:latin typeface="Courier New" panose="02070309020205020404" pitchFamily="49" charset="0"/>
                <a:cs typeface="Courier New" panose="02070309020205020404" pitchFamily="49" charset="0"/>
              </a:rPr>
              <a:t>BETWEEN</a:t>
            </a:r>
            <a:r>
              <a:rPr lang="en-GB" sz="2800" noProof="0" dirty="0"/>
              <a:t> operator: checks range </a:t>
            </a:r>
          </a:p>
          <a:p>
            <a:pPr lvl="1"/>
            <a:r>
              <a:rPr lang="en-GB" sz="2400" noProof="0" dirty="0"/>
              <a:t>BETWEEN 10 AND 20</a:t>
            </a:r>
          </a:p>
          <a:p>
            <a:r>
              <a:rPr lang="en-GB" sz="2800" b="1" noProof="0" dirty="0">
                <a:latin typeface="Courier New" panose="02070309020205020404" pitchFamily="49" charset="0"/>
                <a:cs typeface="Courier New" panose="02070309020205020404" pitchFamily="49" charset="0"/>
              </a:rPr>
              <a:t>IS NULL </a:t>
            </a:r>
            <a:r>
              <a:rPr lang="en-GB" sz="2800" noProof="0" dirty="0"/>
              <a:t>/ </a:t>
            </a:r>
            <a:r>
              <a:rPr lang="en-GB" sz="2800" b="1" noProof="0" dirty="0">
                <a:latin typeface="Courier New" panose="02070309020205020404" pitchFamily="49" charset="0"/>
                <a:cs typeface="Courier New" panose="02070309020205020404" pitchFamily="49" charset="0"/>
              </a:rPr>
              <a:t>IS NOT NULL</a:t>
            </a:r>
            <a:endParaRPr lang="en-GB" sz="2800" noProof="0" dirty="0"/>
          </a:p>
        </p:txBody>
      </p:sp>
    </p:spTree>
    <p:extLst>
      <p:ext uri="{BB962C8B-B14F-4D97-AF65-F5344CB8AC3E}">
        <p14:creationId xmlns:p14="http://schemas.microsoft.com/office/powerpoint/2010/main" val="41709485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785C3-C2B7-CB56-B293-AC17467003C7}"/>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86C011A5-CA6F-DC84-87BB-1034F5F6FF28}"/>
              </a:ext>
            </a:extLst>
          </p:cNvPr>
          <p:cNvSpPr/>
          <p:nvPr/>
        </p:nvSpPr>
        <p:spPr bwMode="auto">
          <a:xfrm>
            <a:off x="611560" y="3140968"/>
            <a:ext cx="7920880" cy="1219225"/>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2" name="Titolo 1">
            <a:extLst>
              <a:ext uri="{FF2B5EF4-FFF2-40B4-BE49-F238E27FC236}">
                <a16:creationId xmlns:a16="http://schemas.microsoft.com/office/drawing/2014/main" id="{B303E014-3955-47C8-36A7-025CFF298EBF}"/>
              </a:ext>
            </a:extLst>
          </p:cNvPr>
          <p:cNvSpPr>
            <a:spLocks noGrp="1"/>
          </p:cNvSpPr>
          <p:nvPr>
            <p:ph type="title"/>
          </p:nvPr>
        </p:nvSpPr>
        <p:spPr/>
        <p:txBody>
          <a:bodyPr/>
          <a:lstStyle/>
          <a:p>
            <a:r>
              <a:rPr lang="en-GB" noProof="0" dirty="0"/>
              <a:t>JPQL – Query Parameters</a:t>
            </a:r>
          </a:p>
        </p:txBody>
      </p:sp>
      <p:sp>
        <p:nvSpPr>
          <p:cNvPr id="5" name="Rettangolo 4">
            <a:extLst>
              <a:ext uri="{FF2B5EF4-FFF2-40B4-BE49-F238E27FC236}">
                <a16:creationId xmlns:a16="http://schemas.microsoft.com/office/drawing/2014/main" id="{FA6D7043-D91F-E4F1-707D-D0B194EC6BD7}"/>
              </a:ext>
            </a:extLst>
          </p:cNvPr>
          <p:cNvSpPr/>
          <p:nvPr/>
        </p:nvSpPr>
        <p:spPr bwMode="auto">
          <a:xfrm>
            <a:off x="611560" y="4797152"/>
            <a:ext cx="7920880" cy="936104"/>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Segnaposto contenuto 2">
            <a:extLst>
              <a:ext uri="{FF2B5EF4-FFF2-40B4-BE49-F238E27FC236}">
                <a16:creationId xmlns:a16="http://schemas.microsoft.com/office/drawing/2014/main" id="{000F54A9-0DA2-F804-7986-97EDC238C9C7}"/>
              </a:ext>
            </a:extLst>
          </p:cNvPr>
          <p:cNvSpPr>
            <a:spLocks noGrp="1"/>
          </p:cNvSpPr>
          <p:nvPr>
            <p:ph idx="1"/>
          </p:nvPr>
        </p:nvSpPr>
        <p:spPr>
          <a:xfrm>
            <a:off x="685800" y="1281956"/>
            <a:ext cx="8150225" cy="4724400"/>
          </a:xfrm>
        </p:spPr>
        <p:txBody>
          <a:bodyPr>
            <a:normAutofit fontScale="85000" lnSpcReduction="20000"/>
          </a:bodyPr>
          <a:lstStyle/>
          <a:p>
            <a:r>
              <a:rPr lang="en-GB" noProof="0" dirty="0"/>
              <a:t>JPQL supports two types of query parameters, which allow values to be dynamically assigned at runtime instead of hardcoding them in the query:</a:t>
            </a:r>
          </a:p>
          <a:p>
            <a:pPr lvl="1"/>
            <a:r>
              <a:rPr lang="en-GB" noProof="0" dirty="0"/>
              <a:t>positional parameters (</a:t>
            </a:r>
            <a:r>
              <a:rPr lang="en-GB" i="1" noProof="0" dirty="0"/>
              <a:t>?1</a:t>
            </a:r>
            <a:r>
              <a:rPr lang="en-GB" noProof="0" dirty="0"/>
              <a:t>, </a:t>
            </a:r>
            <a:r>
              <a:rPr lang="en-GB" i="1" noProof="0" dirty="0"/>
              <a:t>?2</a:t>
            </a:r>
            <a:r>
              <a:rPr lang="en-GB" noProof="0" dirty="0"/>
              <a:t>)</a:t>
            </a:r>
          </a:p>
          <a:p>
            <a:pPr marL="0" indent="0">
              <a:buNone/>
            </a:pPr>
            <a:r>
              <a:rPr lang="en-GB" sz="2400" b="1" noProof="0" dirty="0">
                <a:latin typeface="Courier New" panose="02070309020205020404" pitchFamily="49" charset="0"/>
                <a:cs typeface="Courier New" panose="02070309020205020404" pitchFamily="49" charset="0"/>
              </a:rPr>
              <a:t>Query query = </a:t>
            </a:r>
            <a:r>
              <a:rPr lang="en-GB" sz="2400" b="1" noProof="0" dirty="0" err="1">
                <a:latin typeface="Courier New" panose="02070309020205020404" pitchFamily="49" charset="0"/>
                <a:cs typeface="Courier New" panose="02070309020205020404" pitchFamily="49" charset="0"/>
              </a:rPr>
              <a:t>em.createQuery</a:t>
            </a:r>
            <a:r>
              <a:rPr lang="en-GB" sz="2400" b="1" noProof="0" dirty="0">
                <a:latin typeface="Courier New" panose="02070309020205020404" pitchFamily="49" charset="0"/>
                <a:cs typeface="Courier New" panose="02070309020205020404" pitchFamily="49" charset="0"/>
              </a:rPr>
              <a:t>("SELECT u FROM User u WHERE </a:t>
            </a:r>
            <a:r>
              <a:rPr lang="en-GB" sz="2400" b="1" noProof="0" dirty="0" err="1">
                <a:latin typeface="Courier New" panose="02070309020205020404" pitchFamily="49" charset="0"/>
                <a:cs typeface="Courier New" panose="02070309020205020404" pitchFamily="49" charset="0"/>
              </a:rPr>
              <a:t>u.age</a:t>
            </a:r>
            <a:r>
              <a:rPr lang="en-GB" sz="2400" b="1" noProof="0" dirty="0">
                <a:latin typeface="Courier New" panose="02070309020205020404" pitchFamily="49" charset="0"/>
                <a:cs typeface="Courier New" panose="02070309020205020404" pitchFamily="49" charset="0"/>
              </a:rPr>
              <a:t> &gt; </a:t>
            </a:r>
            <a:r>
              <a:rPr lang="en-GB" sz="2400" b="1" noProof="0" dirty="0">
                <a:solidFill>
                  <a:schemeClr val="accent6">
                    <a:lumMod val="75000"/>
                  </a:schemeClr>
                </a:solidFill>
                <a:latin typeface="Courier New" panose="02070309020205020404" pitchFamily="49" charset="0"/>
                <a:cs typeface="Courier New" panose="02070309020205020404" pitchFamily="49" charset="0"/>
              </a:rPr>
              <a:t>?1</a:t>
            </a:r>
            <a:r>
              <a:rPr lang="en-GB" sz="2400" b="1" noProof="0" dirty="0">
                <a:latin typeface="Courier New" panose="02070309020205020404" pitchFamily="49" charset="0"/>
                <a:cs typeface="Courier New" panose="02070309020205020404" pitchFamily="49" charset="0"/>
              </a:rPr>
              <a:t> AND </a:t>
            </a:r>
            <a:r>
              <a:rPr lang="en-GB" sz="2400" b="1" noProof="0" dirty="0" err="1">
                <a:latin typeface="Courier New" panose="02070309020205020404" pitchFamily="49" charset="0"/>
                <a:cs typeface="Courier New" panose="02070309020205020404" pitchFamily="49" charset="0"/>
              </a:rPr>
              <a:t>u.name</a:t>
            </a:r>
            <a:r>
              <a:rPr lang="en-GB" sz="2400" b="1" noProof="0" dirty="0">
                <a:latin typeface="Courier New" panose="02070309020205020404" pitchFamily="49" charset="0"/>
                <a:cs typeface="Courier New" panose="02070309020205020404" pitchFamily="49" charset="0"/>
              </a:rPr>
              <a:t> = </a:t>
            </a:r>
            <a:r>
              <a:rPr lang="en-GB" sz="2400" b="1" noProof="0" dirty="0">
                <a:solidFill>
                  <a:schemeClr val="accent6">
                    <a:lumMod val="75000"/>
                  </a:schemeClr>
                </a:solidFill>
                <a:latin typeface="Courier New" panose="02070309020205020404" pitchFamily="49" charset="0"/>
                <a:cs typeface="Courier New" panose="02070309020205020404" pitchFamily="49" charset="0"/>
              </a:rPr>
              <a:t>?2</a:t>
            </a:r>
            <a:r>
              <a:rPr lang="en-GB" sz="2400" b="1" noProof="0" dirty="0">
                <a:latin typeface="Courier New" panose="02070309020205020404" pitchFamily="49" charset="0"/>
                <a:cs typeface="Courier New" panose="02070309020205020404" pitchFamily="49" charset="0"/>
              </a:rPr>
              <a:t>");</a:t>
            </a:r>
          </a:p>
          <a:p>
            <a:pPr marL="0" indent="0">
              <a:buNone/>
            </a:pPr>
            <a:r>
              <a:rPr lang="en-GB" sz="2400" b="1" noProof="0" dirty="0" err="1">
                <a:latin typeface="Courier New" panose="02070309020205020404" pitchFamily="49" charset="0"/>
                <a:cs typeface="Courier New" panose="02070309020205020404" pitchFamily="49" charset="0"/>
              </a:rPr>
              <a:t>query.setParameter</a:t>
            </a:r>
            <a:r>
              <a:rPr lang="en-GB" sz="2400" b="1" noProof="0" dirty="0">
                <a:latin typeface="Courier New" panose="02070309020205020404" pitchFamily="49" charset="0"/>
                <a:cs typeface="Courier New" panose="02070309020205020404" pitchFamily="49" charset="0"/>
              </a:rPr>
              <a:t>(</a:t>
            </a:r>
            <a:r>
              <a:rPr lang="en-GB" sz="2400" b="1" noProof="0" dirty="0">
                <a:solidFill>
                  <a:schemeClr val="accent6">
                    <a:lumMod val="75000"/>
                  </a:schemeClr>
                </a:solidFill>
                <a:latin typeface="Courier New" panose="02070309020205020404" pitchFamily="49" charset="0"/>
                <a:cs typeface="Courier New" panose="02070309020205020404" pitchFamily="49" charset="0"/>
              </a:rPr>
              <a:t>1</a:t>
            </a:r>
            <a:r>
              <a:rPr lang="en-GB" sz="2400" b="1" noProof="0" dirty="0">
                <a:latin typeface="Courier New" panose="02070309020205020404" pitchFamily="49" charset="0"/>
                <a:cs typeface="Courier New" panose="02070309020205020404" pitchFamily="49" charset="0"/>
              </a:rPr>
              <a:t>, 30);</a:t>
            </a:r>
          </a:p>
          <a:p>
            <a:pPr marL="0" indent="0">
              <a:buNone/>
            </a:pPr>
            <a:r>
              <a:rPr lang="en-GB" sz="2400" b="1" noProof="0" dirty="0" err="1">
                <a:latin typeface="Courier New" panose="02070309020205020404" pitchFamily="49" charset="0"/>
                <a:cs typeface="Courier New" panose="02070309020205020404" pitchFamily="49" charset="0"/>
              </a:rPr>
              <a:t>query.setParameter</a:t>
            </a:r>
            <a:r>
              <a:rPr lang="en-GB" sz="2400" b="1" noProof="0" dirty="0">
                <a:latin typeface="Courier New" panose="02070309020205020404" pitchFamily="49" charset="0"/>
                <a:cs typeface="Courier New" panose="02070309020205020404" pitchFamily="49" charset="0"/>
              </a:rPr>
              <a:t>(</a:t>
            </a:r>
            <a:r>
              <a:rPr lang="en-GB" sz="2400" b="1" noProof="0" dirty="0">
                <a:solidFill>
                  <a:schemeClr val="accent6">
                    <a:lumMod val="75000"/>
                  </a:schemeClr>
                </a:solidFill>
                <a:latin typeface="Courier New" panose="02070309020205020404" pitchFamily="49" charset="0"/>
                <a:cs typeface="Courier New" panose="02070309020205020404" pitchFamily="49" charset="0"/>
              </a:rPr>
              <a:t>2</a:t>
            </a:r>
            <a:r>
              <a:rPr lang="en-GB" sz="2400" b="1" noProof="0" dirty="0">
                <a:latin typeface="Courier New" panose="02070309020205020404" pitchFamily="49" charset="0"/>
                <a:cs typeface="Courier New" panose="02070309020205020404" pitchFamily="49" charset="0"/>
              </a:rPr>
              <a:t>, "Bob");</a:t>
            </a:r>
          </a:p>
          <a:p>
            <a:pPr lvl="1"/>
            <a:r>
              <a:rPr lang="en-GB" noProof="0" dirty="0"/>
              <a:t>named parameters (</a:t>
            </a:r>
            <a:r>
              <a:rPr lang="en-GB" i="1" noProof="0" dirty="0"/>
              <a:t>:</a:t>
            </a:r>
            <a:r>
              <a:rPr lang="en-GB" i="1" noProof="0" dirty="0" err="1"/>
              <a:t>paramName</a:t>
            </a:r>
            <a:r>
              <a:rPr lang="en-GB" noProof="0" dirty="0"/>
              <a:t>)</a:t>
            </a:r>
          </a:p>
          <a:p>
            <a:pPr marL="0" indent="0">
              <a:buNone/>
            </a:pPr>
            <a:r>
              <a:rPr lang="en-GB" sz="2400" b="1" noProof="0" dirty="0" err="1">
                <a:latin typeface="Courier New" panose="02070309020205020404" pitchFamily="49" charset="0"/>
                <a:cs typeface="Courier New" panose="02070309020205020404" pitchFamily="49" charset="0"/>
              </a:rPr>
              <a:t>TypedQuery</a:t>
            </a:r>
            <a:r>
              <a:rPr lang="en-GB" sz="2400" b="1" noProof="0" dirty="0">
                <a:latin typeface="Courier New" panose="02070309020205020404" pitchFamily="49" charset="0"/>
                <a:cs typeface="Courier New" panose="02070309020205020404" pitchFamily="49" charset="0"/>
              </a:rPr>
              <a:t>&lt;User&gt; query = </a:t>
            </a:r>
            <a:r>
              <a:rPr lang="en-GB" sz="2400" b="1" noProof="0" dirty="0" err="1">
                <a:latin typeface="Courier New" panose="02070309020205020404" pitchFamily="49" charset="0"/>
                <a:cs typeface="Courier New" panose="02070309020205020404" pitchFamily="49" charset="0"/>
              </a:rPr>
              <a:t>em.createQuery</a:t>
            </a:r>
            <a:r>
              <a:rPr lang="en-GB" sz="2400" b="1" noProof="0" dirty="0">
                <a:latin typeface="Courier New" panose="02070309020205020404" pitchFamily="49" charset="0"/>
                <a:cs typeface="Courier New" panose="02070309020205020404" pitchFamily="49" charset="0"/>
              </a:rPr>
              <a:t>("SELECT u FROM User u WHERE </a:t>
            </a:r>
            <a:r>
              <a:rPr lang="en-GB" sz="2400" b="1" noProof="0" dirty="0" err="1">
                <a:latin typeface="Courier New" panose="02070309020205020404" pitchFamily="49" charset="0"/>
                <a:cs typeface="Courier New" panose="02070309020205020404" pitchFamily="49" charset="0"/>
              </a:rPr>
              <a:t>u.age</a:t>
            </a:r>
            <a:r>
              <a:rPr lang="en-GB" sz="2400" b="1" noProof="0" dirty="0">
                <a:latin typeface="Courier New" panose="02070309020205020404" pitchFamily="49" charset="0"/>
                <a:cs typeface="Courier New" panose="02070309020205020404" pitchFamily="49" charset="0"/>
              </a:rPr>
              <a:t> &gt; </a:t>
            </a:r>
            <a:r>
              <a:rPr lang="en-GB" sz="2400" b="1" noProof="0" dirty="0">
                <a:solidFill>
                  <a:schemeClr val="accent6">
                    <a:lumMod val="75000"/>
                  </a:schemeClr>
                </a:solidFill>
                <a:latin typeface="Courier New" panose="02070309020205020404" pitchFamily="49" charset="0"/>
                <a:cs typeface="Courier New" panose="02070309020205020404" pitchFamily="49" charset="0"/>
              </a:rPr>
              <a:t>:age</a:t>
            </a:r>
            <a:r>
              <a:rPr lang="en-GB" sz="2400" b="1" noProof="0" dirty="0">
                <a:latin typeface="Courier New" panose="02070309020205020404" pitchFamily="49" charset="0"/>
                <a:cs typeface="Courier New" panose="02070309020205020404" pitchFamily="49" charset="0"/>
              </a:rPr>
              <a:t>", </a:t>
            </a:r>
            <a:r>
              <a:rPr lang="en-GB" sz="2400" b="1" noProof="0" dirty="0" err="1">
                <a:latin typeface="Courier New" panose="02070309020205020404" pitchFamily="49" charset="0"/>
                <a:cs typeface="Courier New" panose="02070309020205020404" pitchFamily="49" charset="0"/>
              </a:rPr>
              <a:t>User.class</a:t>
            </a:r>
            <a:r>
              <a:rPr lang="en-GB" sz="2400" b="1" noProof="0" dirty="0">
                <a:latin typeface="Courier New" panose="02070309020205020404" pitchFamily="49" charset="0"/>
                <a:cs typeface="Courier New" panose="02070309020205020404" pitchFamily="49" charset="0"/>
              </a:rPr>
              <a:t>);</a:t>
            </a:r>
          </a:p>
          <a:p>
            <a:pPr marL="0" indent="0">
              <a:buNone/>
            </a:pPr>
            <a:r>
              <a:rPr lang="en-GB" sz="2400" b="1" noProof="0" dirty="0" err="1">
                <a:latin typeface="Courier New" panose="02070309020205020404" pitchFamily="49" charset="0"/>
                <a:cs typeface="Courier New" panose="02070309020205020404" pitchFamily="49" charset="0"/>
              </a:rPr>
              <a:t>query.setParameter</a:t>
            </a:r>
            <a:r>
              <a:rPr lang="en-GB" sz="2400" b="1" noProof="0" dirty="0">
                <a:latin typeface="Courier New" panose="02070309020205020404" pitchFamily="49" charset="0"/>
                <a:cs typeface="Courier New" panose="02070309020205020404" pitchFamily="49" charset="0"/>
              </a:rPr>
              <a:t>("</a:t>
            </a:r>
            <a:r>
              <a:rPr lang="en-GB" sz="2400" b="1" noProof="0" dirty="0">
                <a:solidFill>
                  <a:schemeClr val="accent6">
                    <a:lumMod val="75000"/>
                  </a:schemeClr>
                </a:solidFill>
                <a:latin typeface="Courier New" panose="02070309020205020404" pitchFamily="49" charset="0"/>
                <a:cs typeface="Courier New" panose="02070309020205020404" pitchFamily="49" charset="0"/>
              </a:rPr>
              <a:t>age</a:t>
            </a:r>
            <a:r>
              <a:rPr lang="en-GB" sz="2400" b="1" noProof="0" dirty="0">
                <a:latin typeface="Courier New" panose="02070309020205020404" pitchFamily="49" charset="0"/>
                <a:cs typeface="Courier New" panose="02070309020205020404" pitchFamily="49" charset="0"/>
              </a:rPr>
              <a:t>", 25);</a:t>
            </a:r>
          </a:p>
        </p:txBody>
      </p:sp>
    </p:spTree>
    <p:extLst>
      <p:ext uri="{BB962C8B-B14F-4D97-AF65-F5344CB8AC3E}">
        <p14:creationId xmlns:p14="http://schemas.microsoft.com/office/powerpoint/2010/main" val="5469187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0AD92C-BB88-BEB9-AFF0-6D3DEE9765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3D700C-F59F-AA24-9884-6CAA17B07BB8}"/>
              </a:ext>
            </a:extLst>
          </p:cNvPr>
          <p:cNvSpPr>
            <a:spLocks noGrp="1"/>
          </p:cNvSpPr>
          <p:nvPr>
            <p:ph type="title"/>
          </p:nvPr>
        </p:nvSpPr>
        <p:spPr/>
        <p:txBody>
          <a:bodyPr/>
          <a:lstStyle/>
          <a:p>
            <a:r>
              <a:rPr lang="en-GB" dirty="0"/>
              <a:t>Advanced Querying</a:t>
            </a:r>
          </a:p>
        </p:txBody>
      </p:sp>
      <p:sp>
        <p:nvSpPr>
          <p:cNvPr id="5" name="Text Placeholder 4">
            <a:extLst>
              <a:ext uri="{FF2B5EF4-FFF2-40B4-BE49-F238E27FC236}">
                <a16:creationId xmlns:a16="http://schemas.microsoft.com/office/drawing/2014/main" id="{84CC518B-CA52-32F4-9F32-6B19A3C6F69B}"/>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3827092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DD4A91-6FC2-E35A-50DF-EDF3248039D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DD5741D-41AA-5355-85B8-FBDD719FED9A}"/>
              </a:ext>
            </a:extLst>
          </p:cNvPr>
          <p:cNvSpPr>
            <a:spLocks noGrp="1"/>
          </p:cNvSpPr>
          <p:nvPr>
            <p:ph type="title"/>
          </p:nvPr>
        </p:nvSpPr>
        <p:spPr/>
        <p:txBody>
          <a:bodyPr/>
          <a:lstStyle/>
          <a:p>
            <a:r>
              <a:rPr lang="en-GB" noProof="0" dirty="0"/>
              <a:t>Named Queries</a:t>
            </a:r>
          </a:p>
        </p:txBody>
      </p:sp>
      <p:sp>
        <p:nvSpPr>
          <p:cNvPr id="3" name="Segnaposto contenuto 2">
            <a:extLst>
              <a:ext uri="{FF2B5EF4-FFF2-40B4-BE49-F238E27FC236}">
                <a16:creationId xmlns:a16="http://schemas.microsoft.com/office/drawing/2014/main" id="{4C3A5757-CF99-454A-EA2A-BE0A2CB3F2E2}"/>
              </a:ext>
            </a:extLst>
          </p:cNvPr>
          <p:cNvSpPr>
            <a:spLocks noGrp="1"/>
          </p:cNvSpPr>
          <p:nvPr>
            <p:ph idx="1"/>
          </p:nvPr>
        </p:nvSpPr>
        <p:spPr>
          <a:xfrm>
            <a:off x="685800" y="1281956"/>
            <a:ext cx="8150225" cy="5171380"/>
          </a:xfrm>
        </p:spPr>
        <p:txBody>
          <a:bodyPr>
            <a:normAutofit fontScale="92500" lnSpcReduction="20000"/>
          </a:bodyPr>
          <a:lstStyle/>
          <a:p>
            <a:r>
              <a:rPr lang="en-GB" sz="2400" noProof="0" dirty="0">
                <a:cs typeface="Courier New" panose="02070309020205020404" pitchFamily="49" charset="0"/>
              </a:rPr>
              <a:t>Named Queries are predefined, reusable JPQL queries declared at the entity level</a:t>
            </a:r>
          </a:p>
          <a:p>
            <a:r>
              <a:rPr lang="en-GB" sz="2400" noProof="0" dirty="0">
                <a:cs typeface="Courier New" panose="02070309020205020404" pitchFamily="49" charset="0"/>
              </a:rPr>
              <a:t>They allow better performance because the query is compiled once and cached</a:t>
            </a:r>
          </a:p>
          <a:p>
            <a:r>
              <a:rPr lang="en-GB" sz="2400" noProof="0" dirty="0">
                <a:cs typeface="Courier New" panose="02070309020205020404" pitchFamily="49" charset="0"/>
              </a:rPr>
              <a:t>Named Queries help centralize query definitions, making the code more maintainable</a:t>
            </a:r>
          </a:p>
          <a:p>
            <a:r>
              <a:rPr lang="en-GB" sz="2400" noProof="0" dirty="0">
                <a:cs typeface="Courier New" panose="02070309020205020404" pitchFamily="49" charset="0"/>
              </a:rPr>
              <a:t>They are defined using the @</a:t>
            </a:r>
            <a:r>
              <a:rPr lang="en-GB" sz="2400" noProof="0" dirty="0" err="1">
                <a:cs typeface="Courier New" panose="02070309020205020404" pitchFamily="49" charset="0"/>
              </a:rPr>
              <a:t>NamedQuery</a:t>
            </a:r>
            <a:r>
              <a:rPr lang="en-GB" sz="2400" noProof="0" dirty="0">
                <a:cs typeface="Courier New" panose="02070309020205020404" pitchFamily="49" charset="0"/>
              </a:rPr>
              <a:t> annotation in the entity class</a:t>
            </a:r>
          </a:p>
          <a:p>
            <a:r>
              <a:rPr lang="en-GB" sz="2400" noProof="0" dirty="0">
                <a:cs typeface="Courier New" panose="02070309020205020404" pitchFamily="49" charset="0"/>
              </a:rPr>
              <a:t>Useful for static queries that do not change dynamically at runtime</a:t>
            </a:r>
          </a:p>
          <a:p>
            <a:r>
              <a:rPr lang="en-GB" sz="2400" noProof="0" dirty="0">
                <a:cs typeface="Courier New" panose="02070309020205020404" pitchFamily="49" charset="0"/>
              </a:rPr>
              <a:t>Multiple @</a:t>
            </a:r>
            <a:r>
              <a:rPr lang="en-GB" sz="2400" noProof="0" dirty="0" err="1">
                <a:cs typeface="Courier New" panose="02070309020205020404" pitchFamily="49" charset="0"/>
              </a:rPr>
              <a:t>NamedQuery</a:t>
            </a:r>
            <a:r>
              <a:rPr lang="en-GB" sz="2400" noProof="0" dirty="0">
                <a:cs typeface="Courier New" panose="02070309020205020404" pitchFamily="49" charset="0"/>
              </a:rPr>
              <a:t> on a single entity should be grouped using @</a:t>
            </a:r>
            <a:r>
              <a:rPr lang="en-GB" sz="2400" noProof="0" dirty="0" err="1">
                <a:cs typeface="Courier New" panose="02070309020205020404" pitchFamily="49" charset="0"/>
              </a:rPr>
              <a:t>NamedQueries</a:t>
            </a:r>
            <a:endParaRPr lang="en-GB" sz="2400" noProof="0" dirty="0">
              <a:cs typeface="Courier New" panose="02070309020205020404" pitchFamily="49" charset="0"/>
            </a:endParaRPr>
          </a:p>
          <a:p>
            <a:pPr lvl="1"/>
            <a:r>
              <a:rPr lang="en-GB" sz="2000" noProof="0" dirty="0">
                <a:cs typeface="Courier New" panose="02070309020205020404" pitchFamily="49" charset="0"/>
              </a:rPr>
              <a:t>ensures cleaner and more organized code</a:t>
            </a:r>
          </a:p>
          <a:p>
            <a:pPr lvl="1"/>
            <a:r>
              <a:rPr lang="en-GB" sz="2000" noProof="0" dirty="0">
                <a:cs typeface="Courier New" panose="02070309020205020404" pitchFamily="49" charset="0"/>
              </a:rPr>
              <a:t>some Java versions or JPA implementations do not support multiple standalone @</a:t>
            </a:r>
            <a:r>
              <a:rPr lang="en-GB" sz="2000" noProof="0" dirty="0" err="1">
                <a:cs typeface="Courier New" panose="02070309020205020404" pitchFamily="49" charset="0"/>
              </a:rPr>
              <a:t>NamedQuery</a:t>
            </a:r>
            <a:r>
              <a:rPr lang="en-GB" sz="2000" noProof="0" dirty="0">
                <a:cs typeface="Courier New" panose="02070309020205020404" pitchFamily="49" charset="0"/>
              </a:rPr>
              <a:t> annotations</a:t>
            </a:r>
          </a:p>
        </p:txBody>
      </p:sp>
    </p:spTree>
    <p:extLst>
      <p:ext uri="{BB962C8B-B14F-4D97-AF65-F5344CB8AC3E}">
        <p14:creationId xmlns:p14="http://schemas.microsoft.com/office/powerpoint/2010/main" val="24556536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B2C25C-51F2-0E40-36E9-340FC9EAD1A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35BF2ED-F79B-F7B9-C8B9-F0E08B552E0F}"/>
              </a:ext>
            </a:extLst>
          </p:cNvPr>
          <p:cNvSpPr>
            <a:spLocks noGrp="1"/>
          </p:cNvSpPr>
          <p:nvPr>
            <p:ph type="title"/>
          </p:nvPr>
        </p:nvSpPr>
        <p:spPr/>
        <p:txBody>
          <a:bodyPr/>
          <a:lstStyle/>
          <a:p>
            <a:r>
              <a:rPr lang="en-GB" noProof="0" dirty="0"/>
              <a:t>Named Queries - Example</a:t>
            </a:r>
          </a:p>
        </p:txBody>
      </p:sp>
      <p:sp>
        <p:nvSpPr>
          <p:cNvPr id="4" name="Rettangolo 3">
            <a:extLst>
              <a:ext uri="{FF2B5EF4-FFF2-40B4-BE49-F238E27FC236}">
                <a16:creationId xmlns:a16="http://schemas.microsoft.com/office/drawing/2014/main" id="{F76709EC-716F-36E5-8D5E-E6E1109D578A}"/>
              </a:ext>
            </a:extLst>
          </p:cNvPr>
          <p:cNvSpPr/>
          <p:nvPr/>
        </p:nvSpPr>
        <p:spPr bwMode="auto">
          <a:xfrm>
            <a:off x="611560" y="1281956"/>
            <a:ext cx="8064896" cy="4883348"/>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Segnaposto contenuto 2">
            <a:extLst>
              <a:ext uri="{FF2B5EF4-FFF2-40B4-BE49-F238E27FC236}">
                <a16:creationId xmlns:a16="http://schemas.microsoft.com/office/drawing/2014/main" id="{57FE4A42-BC53-C9AD-6193-2C60DBFB470F}"/>
              </a:ext>
            </a:extLst>
          </p:cNvPr>
          <p:cNvSpPr>
            <a:spLocks noGrp="1"/>
          </p:cNvSpPr>
          <p:nvPr>
            <p:ph idx="1"/>
          </p:nvPr>
        </p:nvSpPr>
        <p:spPr>
          <a:xfrm>
            <a:off x="685800" y="1281956"/>
            <a:ext cx="8150225" cy="5171380"/>
          </a:xfrm>
        </p:spPr>
        <p:txBody>
          <a:bodyPr>
            <a:normAutofit/>
          </a:bodyPr>
          <a:lstStyle/>
          <a:p>
            <a:pPr marL="0" indent="0">
              <a:buNone/>
            </a:pPr>
            <a:r>
              <a:rPr lang="en-GB" sz="2000" noProof="0" dirty="0">
                <a:latin typeface="Courier New" panose="02070309020205020404" pitchFamily="49" charset="0"/>
                <a:cs typeface="Courier New" panose="02070309020205020404" pitchFamily="49" charset="0"/>
              </a:rPr>
              <a:t>@Entity</a:t>
            </a:r>
          </a:p>
          <a:p>
            <a:pPr marL="0" indent="0">
              <a:buNone/>
            </a:pPr>
            <a:r>
              <a:rPr lang="en-GB" sz="2000" noProof="0" dirty="0">
                <a:latin typeface="Courier New" panose="02070309020205020404" pitchFamily="49" charset="0"/>
                <a:cs typeface="Courier New" panose="02070309020205020404" pitchFamily="49" charset="0"/>
              </a:rPr>
              <a:t>@</a:t>
            </a:r>
            <a:r>
              <a:rPr lang="en-GB" sz="2000" noProof="0" dirty="0" err="1">
                <a:latin typeface="Courier New" panose="02070309020205020404" pitchFamily="49" charset="0"/>
                <a:cs typeface="Courier New" panose="02070309020205020404" pitchFamily="49" charset="0"/>
              </a:rPr>
              <a:t>NamedQueries</a:t>
            </a:r>
            <a:r>
              <a:rPr lang="en-GB" sz="2000" noProof="0" dirty="0">
                <a:latin typeface="Courier New" panose="02070309020205020404" pitchFamily="49" charset="0"/>
                <a:cs typeface="Courier New" panose="02070309020205020404" pitchFamily="49" charset="0"/>
              </a:rPr>
              <a:t>({</a:t>
            </a:r>
          </a:p>
          <a:p>
            <a:pPr marL="0" indent="0">
              <a:buNone/>
            </a:pPr>
            <a:r>
              <a:rPr lang="en-GB" sz="2000" noProof="0" dirty="0">
                <a:latin typeface="Courier New" panose="02070309020205020404" pitchFamily="49" charset="0"/>
                <a:cs typeface="Courier New" panose="02070309020205020404" pitchFamily="49" charset="0"/>
              </a:rPr>
              <a:t>    @</a:t>
            </a:r>
            <a:r>
              <a:rPr lang="en-GB" sz="2000" noProof="0" dirty="0" err="1">
                <a:latin typeface="Courier New" panose="02070309020205020404" pitchFamily="49" charset="0"/>
                <a:cs typeface="Courier New" panose="02070309020205020404" pitchFamily="49" charset="0"/>
              </a:rPr>
              <a:t>NamedQuery</a:t>
            </a:r>
            <a:r>
              <a:rPr lang="en-GB" sz="2000" noProof="0" dirty="0">
                <a:latin typeface="Courier New" panose="02070309020205020404" pitchFamily="49" charset="0"/>
                <a:cs typeface="Courier New" panose="02070309020205020404" pitchFamily="49" charset="0"/>
              </a:rPr>
              <a:t>(name = "</a:t>
            </a:r>
            <a:r>
              <a:rPr lang="en-GB" sz="2000" noProof="0" dirty="0" err="1">
                <a:latin typeface="Courier New" panose="02070309020205020404" pitchFamily="49" charset="0"/>
                <a:cs typeface="Courier New" panose="02070309020205020404" pitchFamily="49" charset="0"/>
              </a:rPr>
              <a:t>User.findByAge</a:t>
            </a:r>
            <a:r>
              <a:rPr lang="en-GB" sz="2000" noProof="0" dirty="0">
                <a:latin typeface="Courier New" panose="02070309020205020404" pitchFamily="49" charset="0"/>
                <a:cs typeface="Courier New" panose="02070309020205020404" pitchFamily="49" charset="0"/>
              </a:rPr>
              <a:t>", query = "SELECT u FROM User u WHERE </a:t>
            </a:r>
            <a:r>
              <a:rPr lang="en-GB" sz="2000" noProof="0" dirty="0" err="1">
                <a:latin typeface="Courier New" panose="02070309020205020404" pitchFamily="49" charset="0"/>
                <a:cs typeface="Courier New" panose="02070309020205020404" pitchFamily="49" charset="0"/>
              </a:rPr>
              <a:t>u.age</a:t>
            </a:r>
            <a:r>
              <a:rPr lang="en-GB" sz="2000" noProof="0" dirty="0">
                <a:latin typeface="Courier New" panose="02070309020205020404" pitchFamily="49" charset="0"/>
                <a:cs typeface="Courier New" panose="02070309020205020404" pitchFamily="49" charset="0"/>
              </a:rPr>
              <a:t> = :age"),</a:t>
            </a:r>
          </a:p>
          <a:p>
            <a:pPr marL="0" indent="0">
              <a:buNone/>
            </a:pPr>
            <a:r>
              <a:rPr lang="en-GB" sz="2000" noProof="0" dirty="0">
                <a:latin typeface="Courier New" panose="02070309020205020404" pitchFamily="49" charset="0"/>
                <a:cs typeface="Courier New" panose="02070309020205020404" pitchFamily="49" charset="0"/>
              </a:rPr>
              <a:t>    @</a:t>
            </a:r>
            <a:r>
              <a:rPr lang="en-GB" sz="2000" noProof="0" dirty="0" err="1">
                <a:latin typeface="Courier New" panose="02070309020205020404" pitchFamily="49" charset="0"/>
                <a:cs typeface="Courier New" panose="02070309020205020404" pitchFamily="49" charset="0"/>
              </a:rPr>
              <a:t>NamedQuery</a:t>
            </a:r>
            <a:r>
              <a:rPr lang="en-GB" sz="2000" noProof="0" dirty="0">
                <a:latin typeface="Courier New" panose="02070309020205020404" pitchFamily="49" charset="0"/>
                <a:cs typeface="Courier New" panose="02070309020205020404" pitchFamily="49" charset="0"/>
              </a:rPr>
              <a:t>(name = "</a:t>
            </a:r>
            <a:r>
              <a:rPr lang="en-GB" sz="2000" noProof="0" dirty="0" err="1">
                <a:latin typeface="Courier New" panose="02070309020205020404" pitchFamily="49" charset="0"/>
                <a:cs typeface="Courier New" panose="02070309020205020404" pitchFamily="49" charset="0"/>
              </a:rPr>
              <a:t>User.findMinors</a:t>
            </a:r>
            <a:r>
              <a:rPr lang="en-GB" sz="2000" noProof="0" dirty="0">
                <a:latin typeface="Courier New" panose="02070309020205020404" pitchFamily="49" charset="0"/>
                <a:cs typeface="Courier New" panose="02070309020205020404" pitchFamily="49" charset="0"/>
              </a:rPr>
              <a:t>", query = "SELECT u FROM User u WHERE </a:t>
            </a:r>
            <a:r>
              <a:rPr lang="en-GB" sz="2000" noProof="0" dirty="0" err="1">
                <a:latin typeface="Courier New" panose="02070309020205020404" pitchFamily="49" charset="0"/>
                <a:cs typeface="Courier New" panose="02070309020205020404" pitchFamily="49" charset="0"/>
              </a:rPr>
              <a:t>u.age</a:t>
            </a:r>
            <a:r>
              <a:rPr lang="en-GB" sz="2000" noProof="0" dirty="0">
                <a:latin typeface="Courier New" panose="02070309020205020404" pitchFamily="49" charset="0"/>
                <a:cs typeface="Courier New" panose="02070309020205020404" pitchFamily="49" charset="0"/>
              </a:rPr>
              <a:t> &lt; 18")</a:t>
            </a:r>
          </a:p>
          <a:p>
            <a:pPr marL="0" indent="0">
              <a:buNone/>
            </a:pPr>
            <a:r>
              <a:rPr lang="en-GB" sz="2000" noProof="0" dirty="0">
                <a:latin typeface="Courier New" panose="02070309020205020404" pitchFamily="49" charset="0"/>
                <a:cs typeface="Courier New" panose="02070309020205020404" pitchFamily="49" charset="0"/>
              </a:rPr>
              <a:t>})</a:t>
            </a:r>
          </a:p>
          <a:p>
            <a:pPr marL="0" indent="0">
              <a:buNone/>
            </a:pPr>
            <a:r>
              <a:rPr lang="en-GB" sz="2000" noProof="0" dirty="0">
                <a:latin typeface="Courier New" panose="02070309020205020404" pitchFamily="49" charset="0"/>
                <a:cs typeface="Courier New" panose="02070309020205020404" pitchFamily="49" charset="0"/>
              </a:rPr>
              <a:t>public class User {</a:t>
            </a:r>
          </a:p>
          <a:p>
            <a:pPr marL="0" indent="0">
              <a:buNone/>
            </a:pPr>
            <a:r>
              <a:rPr lang="en-GB" sz="2000" noProof="0" dirty="0">
                <a:latin typeface="Courier New" panose="02070309020205020404" pitchFamily="49" charset="0"/>
                <a:cs typeface="Courier New" panose="02070309020205020404" pitchFamily="49" charset="0"/>
              </a:rPr>
              <a:t>    @Id private Long id;</a:t>
            </a:r>
          </a:p>
          <a:p>
            <a:pPr marL="0" indent="0">
              <a:buNone/>
            </a:pPr>
            <a:r>
              <a:rPr lang="en-GB" sz="2000" noProof="0" dirty="0">
                <a:latin typeface="Courier New" panose="02070309020205020404" pitchFamily="49" charset="0"/>
                <a:cs typeface="Courier New" panose="02070309020205020404" pitchFamily="49" charset="0"/>
              </a:rPr>
              <a:t>    private String name;</a:t>
            </a:r>
          </a:p>
          <a:p>
            <a:pPr marL="0" indent="0">
              <a:buNone/>
            </a:pPr>
            <a:r>
              <a:rPr lang="en-GB" sz="2000" noProof="0" dirty="0">
                <a:latin typeface="Courier New" panose="02070309020205020404" pitchFamily="49" charset="0"/>
                <a:cs typeface="Courier New" panose="02070309020205020404" pitchFamily="49" charset="0"/>
              </a:rPr>
              <a:t>    private int age;</a:t>
            </a:r>
          </a:p>
          <a:p>
            <a:pPr marL="0" indent="0">
              <a:buNone/>
            </a:pPr>
            <a:r>
              <a:rPr lang="en-GB" sz="2000" noProof="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988043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E7AF5B-8600-2357-A030-EDFFFA0E6E5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AB8A082-422C-A166-FDB9-F2F380AE69AD}"/>
              </a:ext>
            </a:extLst>
          </p:cNvPr>
          <p:cNvSpPr>
            <a:spLocks noGrp="1"/>
          </p:cNvSpPr>
          <p:nvPr>
            <p:ph type="title"/>
          </p:nvPr>
        </p:nvSpPr>
        <p:spPr/>
        <p:txBody>
          <a:bodyPr/>
          <a:lstStyle/>
          <a:p>
            <a:r>
              <a:rPr lang="en-GB" noProof="0" dirty="0"/>
              <a:t>Named Queries - Usage</a:t>
            </a:r>
          </a:p>
        </p:txBody>
      </p:sp>
      <p:sp>
        <p:nvSpPr>
          <p:cNvPr id="4" name="Rettangolo 3">
            <a:extLst>
              <a:ext uri="{FF2B5EF4-FFF2-40B4-BE49-F238E27FC236}">
                <a16:creationId xmlns:a16="http://schemas.microsoft.com/office/drawing/2014/main" id="{284071D3-B490-E8D1-551F-961C10E7C58E}"/>
              </a:ext>
            </a:extLst>
          </p:cNvPr>
          <p:cNvSpPr/>
          <p:nvPr/>
        </p:nvSpPr>
        <p:spPr bwMode="auto">
          <a:xfrm>
            <a:off x="611560" y="3501008"/>
            <a:ext cx="8280920" cy="2304256"/>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Segnaposto contenuto 2">
            <a:extLst>
              <a:ext uri="{FF2B5EF4-FFF2-40B4-BE49-F238E27FC236}">
                <a16:creationId xmlns:a16="http://schemas.microsoft.com/office/drawing/2014/main" id="{74B78A25-F6B9-CFB5-A050-FC34B0044A37}"/>
              </a:ext>
            </a:extLst>
          </p:cNvPr>
          <p:cNvSpPr>
            <a:spLocks noGrp="1"/>
          </p:cNvSpPr>
          <p:nvPr>
            <p:ph idx="1"/>
          </p:nvPr>
        </p:nvSpPr>
        <p:spPr>
          <a:xfrm>
            <a:off x="685800" y="1281956"/>
            <a:ext cx="8150225" cy="5171380"/>
          </a:xfrm>
        </p:spPr>
        <p:txBody>
          <a:bodyPr>
            <a:normAutofit/>
          </a:bodyPr>
          <a:lstStyle/>
          <a:p>
            <a:r>
              <a:rPr lang="en-GB" sz="2400" noProof="0" dirty="0">
                <a:cs typeface="Courier New" panose="02070309020205020404" pitchFamily="49" charset="0"/>
              </a:rPr>
              <a:t>Named Queries are executed using </a:t>
            </a:r>
            <a:r>
              <a:rPr lang="en-GB" sz="2400" noProof="0" dirty="0" err="1">
                <a:cs typeface="Courier New" panose="02070309020205020404" pitchFamily="49" charset="0"/>
              </a:rPr>
              <a:t>EntityManager.createNamedQuery</a:t>
            </a:r>
            <a:r>
              <a:rPr lang="en-GB" sz="2400" noProof="0" dirty="0">
                <a:cs typeface="Courier New" panose="02070309020205020404" pitchFamily="49" charset="0"/>
              </a:rPr>
              <a:t>()</a:t>
            </a:r>
          </a:p>
          <a:p>
            <a:r>
              <a:rPr lang="en-GB" sz="2400" noProof="0" dirty="0">
                <a:cs typeface="Courier New" panose="02070309020205020404" pitchFamily="49" charset="0"/>
              </a:rPr>
              <a:t>The returned Query or </a:t>
            </a:r>
            <a:r>
              <a:rPr lang="en-GB" sz="2400" noProof="0" dirty="0" err="1">
                <a:cs typeface="Courier New" panose="02070309020205020404" pitchFamily="49" charset="0"/>
              </a:rPr>
              <a:t>TypedQuery</a:t>
            </a:r>
            <a:r>
              <a:rPr lang="en-GB" sz="2400" noProof="0" dirty="0">
                <a:cs typeface="Courier New" panose="02070309020205020404" pitchFamily="49" charset="0"/>
              </a:rPr>
              <a:t>&lt;T&gt; object is used to set parameters and execute the query</a:t>
            </a:r>
          </a:p>
          <a:p>
            <a:endParaRPr lang="en-GB" sz="2400" noProof="0" dirty="0">
              <a:cs typeface="Courier New" panose="02070309020205020404" pitchFamily="49" charset="0"/>
            </a:endParaRPr>
          </a:p>
          <a:p>
            <a:pPr marL="0" indent="0">
              <a:buNone/>
            </a:pPr>
            <a:r>
              <a:rPr lang="en-GB" sz="2000" noProof="0" dirty="0">
                <a:latin typeface="Courier New" panose="02070309020205020404" pitchFamily="49" charset="0"/>
                <a:cs typeface="Courier New" panose="02070309020205020404" pitchFamily="49" charset="0"/>
              </a:rPr>
              <a:t>Query query = </a:t>
            </a:r>
            <a:r>
              <a:rPr lang="en-GB" sz="2000" noProof="0" dirty="0" err="1">
                <a:latin typeface="Courier New" panose="02070309020205020404" pitchFamily="49" charset="0"/>
                <a:cs typeface="Courier New" panose="02070309020205020404" pitchFamily="49" charset="0"/>
              </a:rPr>
              <a:t>em.createNamedQuery</a:t>
            </a:r>
            <a:r>
              <a:rPr lang="en-GB" sz="2000" noProof="0" dirty="0">
                <a:latin typeface="Courier New" panose="02070309020205020404" pitchFamily="49" charset="0"/>
                <a:cs typeface="Courier New" panose="02070309020205020404" pitchFamily="49" charset="0"/>
              </a:rPr>
              <a:t>("</a:t>
            </a:r>
            <a:r>
              <a:rPr lang="en-GB" sz="2000" noProof="0" dirty="0" err="1">
                <a:latin typeface="Courier New" panose="02070309020205020404" pitchFamily="49" charset="0"/>
                <a:cs typeface="Courier New" panose="02070309020205020404" pitchFamily="49" charset="0"/>
              </a:rPr>
              <a:t>User.findByAge</a:t>
            </a:r>
            <a:r>
              <a:rPr lang="en-GB" sz="2000" noProof="0" dirty="0">
                <a:latin typeface="Courier New" panose="02070309020205020404" pitchFamily="49" charset="0"/>
                <a:cs typeface="Courier New" panose="02070309020205020404" pitchFamily="49" charset="0"/>
              </a:rPr>
              <a:t>");</a:t>
            </a:r>
          </a:p>
          <a:p>
            <a:pPr marL="0" indent="0">
              <a:buNone/>
            </a:pPr>
            <a:r>
              <a:rPr lang="en-GB" sz="2000" noProof="0" dirty="0" err="1">
                <a:latin typeface="Courier New" panose="02070309020205020404" pitchFamily="49" charset="0"/>
                <a:cs typeface="Courier New" panose="02070309020205020404" pitchFamily="49" charset="0"/>
              </a:rPr>
              <a:t>query.setParameter</a:t>
            </a:r>
            <a:r>
              <a:rPr lang="en-GB" sz="2000" noProof="0" dirty="0">
                <a:latin typeface="Courier New" panose="02070309020205020404" pitchFamily="49" charset="0"/>
                <a:cs typeface="Courier New" panose="02070309020205020404" pitchFamily="49" charset="0"/>
              </a:rPr>
              <a:t>("age", 25);</a:t>
            </a:r>
          </a:p>
          <a:p>
            <a:pPr marL="0" indent="0">
              <a:buNone/>
            </a:pPr>
            <a:r>
              <a:rPr lang="en-GB" sz="2000" noProof="0" dirty="0">
                <a:latin typeface="Courier New" panose="02070309020205020404" pitchFamily="49" charset="0"/>
                <a:cs typeface="Courier New" panose="02070309020205020404" pitchFamily="49" charset="0"/>
              </a:rPr>
              <a:t>List&lt;User&gt; users = </a:t>
            </a:r>
            <a:r>
              <a:rPr lang="en-GB" sz="2000" noProof="0" dirty="0" err="1">
                <a:latin typeface="Courier New" panose="02070309020205020404" pitchFamily="49" charset="0"/>
                <a:cs typeface="Courier New" panose="02070309020205020404" pitchFamily="49" charset="0"/>
              </a:rPr>
              <a:t>query.getResultList</a:t>
            </a:r>
            <a:r>
              <a:rPr lang="en-GB" sz="2000" noProof="0" dirty="0">
                <a:latin typeface="Courier New" panose="02070309020205020404" pitchFamily="49" charset="0"/>
                <a:cs typeface="Courier New" panose="02070309020205020404" pitchFamily="49" charset="0"/>
              </a:rPr>
              <a:t>();</a:t>
            </a:r>
          </a:p>
          <a:p>
            <a:pPr marL="0" indent="0">
              <a:buNone/>
            </a:pPr>
            <a:r>
              <a:rPr lang="en-GB" sz="2000" noProof="0" dirty="0" err="1">
                <a:latin typeface="Courier New" panose="02070309020205020404" pitchFamily="49" charset="0"/>
                <a:cs typeface="Courier New" panose="02070309020205020404" pitchFamily="49" charset="0"/>
              </a:rPr>
              <a:t>TypedQuery</a:t>
            </a:r>
            <a:r>
              <a:rPr lang="en-GB" sz="2000" noProof="0" dirty="0">
                <a:latin typeface="Courier New" panose="02070309020205020404" pitchFamily="49" charset="0"/>
                <a:cs typeface="Courier New" panose="02070309020205020404" pitchFamily="49" charset="0"/>
              </a:rPr>
              <a:t>&lt;User&gt; query = </a:t>
            </a:r>
            <a:r>
              <a:rPr lang="en-GB" sz="2000" noProof="0" dirty="0" err="1">
                <a:latin typeface="Courier New" panose="02070309020205020404" pitchFamily="49" charset="0"/>
                <a:cs typeface="Courier New" panose="02070309020205020404" pitchFamily="49" charset="0"/>
              </a:rPr>
              <a:t>em.createNamedQuery</a:t>
            </a:r>
            <a:r>
              <a:rPr lang="en-GB" sz="2000" noProof="0" dirty="0">
                <a:latin typeface="Courier New" panose="02070309020205020404" pitchFamily="49" charset="0"/>
                <a:cs typeface="Courier New" panose="02070309020205020404" pitchFamily="49" charset="0"/>
              </a:rPr>
              <a:t>("</a:t>
            </a:r>
            <a:r>
              <a:rPr lang="en-GB" sz="2000" noProof="0" dirty="0" err="1">
                <a:latin typeface="Courier New" panose="02070309020205020404" pitchFamily="49" charset="0"/>
                <a:cs typeface="Courier New" panose="02070309020205020404" pitchFamily="49" charset="0"/>
              </a:rPr>
              <a:t>User.findMinors</a:t>
            </a:r>
            <a:r>
              <a:rPr lang="en-GB" sz="2000" noProof="0" dirty="0">
                <a:latin typeface="Courier New" panose="02070309020205020404" pitchFamily="49" charset="0"/>
                <a:cs typeface="Courier New" panose="02070309020205020404" pitchFamily="49" charset="0"/>
              </a:rPr>
              <a:t>", </a:t>
            </a:r>
            <a:r>
              <a:rPr lang="en-GB" sz="2000" noProof="0" dirty="0" err="1">
                <a:latin typeface="Courier New" panose="02070309020205020404" pitchFamily="49" charset="0"/>
                <a:cs typeface="Courier New" panose="02070309020205020404" pitchFamily="49" charset="0"/>
              </a:rPr>
              <a:t>User.class</a:t>
            </a:r>
            <a:r>
              <a:rPr lang="en-GB" sz="2000" noProof="0" dirty="0">
                <a:latin typeface="Courier New" panose="02070309020205020404" pitchFamily="49" charset="0"/>
                <a:cs typeface="Courier New" panose="02070309020205020404" pitchFamily="49" charset="0"/>
              </a:rPr>
              <a:t>);</a:t>
            </a:r>
          </a:p>
          <a:p>
            <a:pPr marL="0" indent="0">
              <a:buNone/>
            </a:pPr>
            <a:r>
              <a:rPr lang="en-GB" sz="2000" noProof="0" dirty="0">
                <a:latin typeface="Courier New" panose="02070309020205020404" pitchFamily="49" charset="0"/>
                <a:cs typeface="Courier New" panose="02070309020205020404" pitchFamily="49" charset="0"/>
              </a:rPr>
              <a:t>List&lt;User&gt; minors = </a:t>
            </a:r>
            <a:r>
              <a:rPr lang="en-GB" sz="2000" noProof="0" dirty="0" err="1">
                <a:latin typeface="Courier New" panose="02070309020205020404" pitchFamily="49" charset="0"/>
                <a:cs typeface="Courier New" panose="02070309020205020404" pitchFamily="49" charset="0"/>
              </a:rPr>
              <a:t>query.getResultList</a:t>
            </a:r>
            <a:r>
              <a:rPr lang="en-GB" sz="2000" noProof="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030160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67BD74-9192-A8E8-8665-4E3C8A853DF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80A90BE-720F-068E-B191-7D559034CD99}"/>
              </a:ext>
            </a:extLst>
          </p:cNvPr>
          <p:cNvSpPr>
            <a:spLocks noGrp="1"/>
          </p:cNvSpPr>
          <p:nvPr>
            <p:ph type="title"/>
          </p:nvPr>
        </p:nvSpPr>
        <p:spPr/>
        <p:txBody>
          <a:bodyPr/>
          <a:lstStyle/>
          <a:p>
            <a:r>
              <a:rPr lang="en-GB" noProof="0" dirty="0"/>
              <a:t>Native Queries</a:t>
            </a:r>
          </a:p>
        </p:txBody>
      </p:sp>
      <p:sp>
        <p:nvSpPr>
          <p:cNvPr id="3" name="Segnaposto contenuto 2">
            <a:extLst>
              <a:ext uri="{FF2B5EF4-FFF2-40B4-BE49-F238E27FC236}">
                <a16:creationId xmlns:a16="http://schemas.microsoft.com/office/drawing/2014/main" id="{CC77E20F-A983-02F3-5088-286FE91AAD1B}"/>
              </a:ext>
            </a:extLst>
          </p:cNvPr>
          <p:cNvSpPr>
            <a:spLocks noGrp="1"/>
          </p:cNvSpPr>
          <p:nvPr>
            <p:ph idx="1"/>
          </p:nvPr>
        </p:nvSpPr>
        <p:spPr>
          <a:xfrm>
            <a:off x="685800" y="1281956"/>
            <a:ext cx="8150225" cy="5171380"/>
          </a:xfrm>
        </p:spPr>
        <p:txBody>
          <a:bodyPr>
            <a:normAutofit fontScale="92500" lnSpcReduction="10000"/>
          </a:bodyPr>
          <a:lstStyle/>
          <a:p>
            <a:r>
              <a:rPr lang="en-GB" sz="2400" noProof="0" dirty="0">
                <a:cs typeface="Courier New" panose="02070309020205020404" pitchFamily="49" charset="0"/>
              </a:rPr>
              <a:t>Execute raw SQL directly on the database</a:t>
            </a:r>
          </a:p>
          <a:p>
            <a:r>
              <a:rPr lang="en-GB" sz="2400" noProof="0" dirty="0">
                <a:cs typeface="Courier New" panose="02070309020205020404" pitchFamily="49" charset="0"/>
              </a:rPr>
              <a:t>Used when JPQL is insufficient or when leveraging database-specific functions</a:t>
            </a:r>
          </a:p>
          <a:p>
            <a:r>
              <a:rPr lang="en-GB" sz="2400" noProof="0" dirty="0">
                <a:cs typeface="Courier New" panose="02070309020205020404" pitchFamily="49" charset="0"/>
              </a:rPr>
              <a:t>Main difference from JPQL:</a:t>
            </a:r>
          </a:p>
          <a:p>
            <a:pPr lvl="1"/>
            <a:r>
              <a:rPr lang="en-GB" sz="2000" noProof="0" dirty="0">
                <a:cs typeface="Courier New" panose="02070309020205020404" pitchFamily="49" charset="0"/>
              </a:rPr>
              <a:t>Use table and column names instead of entity and field names</a:t>
            </a:r>
          </a:p>
          <a:p>
            <a:pPr lvl="1"/>
            <a:r>
              <a:rPr lang="en-GB" sz="2000" noProof="0" dirty="0">
                <a:cs typeface="Courier New" panose="02070309020205020404" pitchFamily="49" charset="0"/>
              </a:rPr>
              <a:t>Queries are written in pure SQL, not JPQL</a:t>
            </a:r>
          </a:p>
          <a:p>
            <a:pPr lvl="1"/>
            <a:r>
              <a:rPr lang="en-GB" sz="2000" noProof="0" dirty="0">
                <a:cs typeface="Courier New" panose="02070309020205020404" pitchFamily="49" charset="0"/>
              </a:rPr>
              <a:t>Created via </a:t>
            </a:r>
            <a:r>
              <a:rPr lang="en-GB" sz="2000" noProof="0" dirty="0" err="1">
                <a:cs typeface="Courier New" panose="02070309020205020404" pitchFamily="49" charset="0"/>
              </a:rPr>
              <a:t>createNativeQuery</a:t>
            </a:r>
            <a:r>
              <a:rPr lang="en-GB" sz="2000" noProof="0" dirty="0">
                <a:cs typeface="Courier New" panose="02070309020205020404" pitchFamily="49" charset="0"/>
              </a:rPr>
              <a:t>(), instead of </a:t>
            </a:r>
            <a:r>
              <a:rPr lang="en-GB" sz="2000" noProof="0" dirty="0" err="1">
                <a:cs typeface="Courier New" panose="02070309020205020404" pitchFamily="49" charset="0"/>
              </a:rPr>
              <a:t>createQuery</a:t>
            </a:r>
            <a:r>
              <a:rPr lang="en-GB" sz="2000" noProof="0" dirty="0">
                <a:cs typeface="Courier New" panose="02070309020205020404" pitchFamily="49" charset="0"/>
              </a:rPr>
              <a:t>()</a:t>
            </a:r>
          </a:p>
          <a:p>
            <a:r>
              <a:rPr lang="en-GB" sz="2400" noProof="0" dirty="0">
                <a:cs typeface="Courier New" panose="02070309020205020404" pitchFamily="49" charset="0"/>
              </a:rPr>
              <a:t>Parameter binding remains the same as JPQL, using </a:t>
            </a:r>
            <a:r>
              <a:rPr lang="en-GB" sz="2400" noProof="0" dirty="0" err="1">
                <a:cs typeface="Courier New" panose="02070309020205020404" pitchFamily="49" charset="0"/>
              </a:rPr>
              <a:t>setParameter</a:t>
            </a:r>
            <a:r>
              <a:rPr lang="en-GB" sz="2400" noProof="0" dirty="0">
                <a:cs typeface="Courier New" panose="02070309020205020404" pitchFamily="49" charset="0"/>
              </a:rPr>
              <a:t>():</a:t>
            </a:r>
          </a:p>
          <a:p>
            <a:pPr lvl="1"/>
            <a:r>
              <a:rPr lang="en-GB" sz="2000" noProof="0" dirty="0">
                <a:cs typeface="Courier New" panose="02070309020205020404" pitchFamily="49" charset="0"/>
              </a:rPr>
              <a:t>Positional parameters (?1, ?2)</a:t>
            </a:r>
          </a:p>
          <a:p>
            <a:pPr lvl="1"/>
            <a:r>
              <a:rPr lang="en-GB" sz="2000" noProof="0" dirty="0">
                <a:cs typeface="Courier New" panose="02070309020205020404" pitchFamily="49" charset="0"/>
              </a:rPr>
              <a:t>Named parameters (:</a:t>
            </a:r>
            <a:r>
              <a:rPr lang="en-GB" sz="2000" noProof="0" dirty="0" err="1">
                <a:cs typeface="Courier New" panose="02070309020205020404" pitchFamily="49" charset="0"/>
              </a:rPr>
              <a:t>paramName</a:t>
            </a:r>
            <a:r>
              <a:rPr lang="en-GB" sz="2000" noProof="0" dirty="0">
                <a:cs typeface="Courier New" panose="02070309020205020404" pitchFamily="49" charset="0"/>
              </a:rPr>
              <a:t>)</a:t>
            </a:r>
          </a:p>
          <a:p>
            <a:r>
              <a:rPr lang="en-GB" sz="2400" noProof="0" dirty="0">
                <a:cs typeface="Courier New" panose="02070309020205020404" pitchFamily="49" charset="0"/>
              </a:rPr>
              <a:t>Execution is performed using the same methods as JPQL queries</a:t>
            </a:r>
          </a:p>
        </p:txBody>
      </p:sp>
    </p:spTree>
    <p:extLst>
      <p:ext uri="{BB962C8B-B14F-4D97-AF65-F5344CB8AC3E}">
        <p14:creationId xmlns:p14="http://schemas.microsoft.com/office/powerpoint/2010/main" val="14639029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987591E-D1AE-9419-612E-D05F3EB29E4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486C874-815F-8F63-70E5-0D9C1C8C7024}"/>
              </a:ext>
            </a:extLst>
          </p:cNvPr>
          <p:cNvSpPr>
            <a:spLocks noGrp="1"/>
          </p:cNvSpPr>
          <p:nvPr>
            <p:ph type="title"/>
          </p:nvPr>
        </p:nvSpPr>
        <p:spPr/>
        <p:txBody>
          <a:bodyPr/>
          <a:lstStyle/>
          <a:p>
            <a:r>
              <a:rPr lang="en-GB" noProof="0" dirty="0"/>
              <a:t>Criteria API</a:t>
            </a:r>
          </a:p>
        </p:txBody>
      </p:sp>
      <p:sp>
        <p:nvSpPr>
          <p:cNvPr id="3" name="Segnaposto contenuto 2">
            <a:extLst>
              <a:ext uri="{FF2B5EF4-FFF2-40B4-BE49-F238E27FC236}">
                <a16:creationId xmlns:a16="http://schemas.microsoft.com/office/drawing/2014/main" id="{CC1FC3F5-BE09-9E3F-11DC-63A410D8E0EF}"/>
              </a:ext>
            </a:extLst>
          </p:cNvPr>
          <p:cNvSpPr>
            <a:spLocks noGrp="1"/>
          </p:cNvSpPr>
          <p:nvPr>
            <p:ph idx="1"/>
          </p:nvPr>
        </p:nvSpPr>
        <p:spPr>
          <a:xfrm>
            <a:off x="685800" y="1281956"/>
            <a:ext cx="8150225" cy="5171380"/>
          </a:xfrm>
        </p:spPr>
        <p:txBody>
          <a:bodyPr>
            <a:normAutofit/>
          </a:bodyPr>
          <a:lstStyle/>
          <a:p>
            <a:r>
              <a:rPr lang="en-GB" sz="2400" noProof="0" dirty="0">
                <a:cs typeface="Courier New" panose="02070309020205020404" pitchFamily="49" charset="0"/>
              </a:rPr>
              <a:t>The Criteria API provides a type-safe, programmatic way to build queries dynamically</a:t>
            </a:r>
          </a:p>
          <a:p>
            <a:r>
              <a:rPr lang="en-GB" sz="2400" noProof="0" dirty="0">
                <a:cs typeface="Courier New" panose="02070309020205020404" pitchFamily="49" charset="0"/>
              </a:rPr>
              <a:t>Unlike JPQL, queries are constructed using Java objects instead of string-based queries</a:t>
            </a:r>
          </a:p>
          <a:p>
            <a:r>
              <a:rPr lang="en-GB" sz="2400" noProof="0" dirty="0">
                <a:cs typeface="Courier New" panose="02070309020205020404" pitchFamily="49" charset="0"/>
              </a:rPr>
              <a:t>It is useful for dynamic queries where conditions or structure may change at runtime</a:t>
            </a:r>
          </a:p>
          <a:p>
            <a:r>
              <a:rPr lang="en-GB" sz="2400" noProof="0" dirty="0">
                <a:cs typeface="Courier New" panose="02070309020205020404" pitchFamily="49" charset="0"/>
              </a:rPr>
              <a:t>Queries are built using </a:t>
            </a:r>
            <a:r>
              <a:rPr lang="en-GB" sz="2400" noProof="0" dirty="0" err="1">
                <a:cs typeface="Courier New" panose="02070309020205020404" pitchFamily="49" charset="0"/>
              </a:rPr>
              <a:t>CriteriaBuilder</a:t>
            </a:r>
            <a:r>
              <a:rPr lang="en-GB" sz="2400" noProof="0" dirty="0">
                <a:cs typeface="Courier New" panose="02070309020205020404" pitchFamily="49" charset="0"/>
              </a:rPr>
              <a:t>, which is obtained from </a:t>
            </a:r>
            <a:r>
              <a:rPr lang="en-GB" sz="2400" noProof="0" dirty="0" err="1">
                <a:cs typeface="Courier New" panose="02070309020205020404" pitchFamily="49" charset="0"/>
              </a:rPr>
              <a:t>EntityManager</a:t>
            </a:r>
            <a:endParaRPr lang="en-GB" sz="2400" noProof="0" dirty="0">
              <a:cs typeface="Courier New" panose="02070309020205020404" pitchFamily="49" charset="0"/>
            </a:endParaRPr>
          </a:p>
          <a:p>
            <a:r>
              <a:rPr lang="en-GB" sz="2400" noProof="0" dirty="0">
                <a:cs typeface="Courier New" panose="02070309020205020404" pitchFamily="49" charset="0"/>
              </a:rPr>
              <a:t>The query structure is defined using </a:t>
            </a:r>
            <a:r>
              <a:rPr lang="en-GB" sz="2400" noProof="0" dirty="0" err="1">
                <a:cs typeface="Courier New" panose="02070309020205020404" pitchFamily="49" charset="0"/>
              </a:rPr>
              <a:t>CriteriaQuery</a:t>
            </a:r>
            <a:r>
              <a:rPr lang="en-GB" sz="2400" noProof="0" dirty="0">
                <a:cs typeface="Courier New" panose="02070309020205020404" pitchFamily="49" charset="0"/>
              </a:rPr>
              <a:t>&lt;T&gt; objects</a:t>
            </a:r>
          </a:p>
          <a:p>
            <a:r>
              <a:rPr lang="en-GB" sz="2400" noProof="0" dirty="0">
                <a:cs typeface="Courier New" panose="02070309020205020404" pitchFamily="49" charset="0"/>
              </a:rPr>
              <a:t>Execution requires conversion to </a:t>
            </a:r>
            <a:r>
              <a:rPr lang="en-GB" sz="2400" noProof="0" dirty="0" err="1">
                <a:cs typeface="Courier New" panose="02070309020205020404" pitchFamily="49" charset="0"/>
              </a:rPr>
              <a:t>TypedQuery</a:t>
            </a:r>
            <a:r>
              <a:rPr lang="en-GB" sz="2400" noProof="0" dirty="0">
                <a:cs typeface="Courier New" panose="02070309020205020404" pitchFamily="49" charset="0"/>
              </a:rPr>
              <a:t>&lt;T&gt; before retrieval</a:t>
            </a:r>
          </a:p>
        </p:txBody>
      </p:sp>
    </p:spTree>
    <p:extLst>
      <p:ext uri="{BB962C8B-B14F-4D97-AF65-F5344CB8AC3E}">
        <p14:creationId xmlns:p14="http://schemas.microsoft.com/office/powerpoint/2010/main" val="3617995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D710F3-81CF-A762-AD8A-0E4DFCBCCCD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7CDD790-7DAD-0E73-AB32-42284AF23B58}"/>
              </a:ext>
            </a:extLst>
          </p:cNvPr>
          <p:cNvSpPr>
            <a:spLocks noGrp="1"/>
          </p:cNvSpPr>
          <p:nvPr>
            <p:ph type="title"/>
          </p:nvPr>
        </p:nvSpPr>
        <p:spPr/>
        <p:txBody>
          <a:bodyPr/>
          <a:lstStyle/>
          <a:p>
            <a:r>
              <a:rPr lang="en-GB" noProof="0" dirty="0" err="1"/>
              <a:t>CriteriaQuery</a:t>
            </a:r>
            <a:r>
              <a:rPr lang="en-GB" noProof="0" dirty="0"/>
              <a:t> - Creation</a:t>
            </a:r>
          </a:p>
        </p:txBody>
      </p:sp>
      <p:sp>
        <p:nvSpPr>
          <p:cNvPr id="3" name="Segnaposto contenuto 2">
            <a:extLst>
              <a:ext uri="{FF2B5EF4-FFF2-40B4-BE49-F238E27FC236}">
                <a16:creationId xmlns:a16="http://schemas.microsoft.com/office/drawing/2014/main" id="{6BC983F4-05A0-734C-0DE1-D57545E3D1A4}"/>
              </a:ext>
            </a:extLst>
          </p:cNvPr>
          <p:cNvSpPr>
            <a:spLocks noGrp="1"/>
          </p:cNvSpPr>
          <p:nvPr>
            <p:ph idx="1"/>
          </p:nvPr>
        </p:nvSpPr>
        <p:spPr>
          <a:xfrm>
            <a:off x="685800" y="1281956"/>
            <a:ext cx="8150225" cy="5171380"/>
          </a:xfrm>
        </p:spPr>
        <p:txBody>
          <a:bodyPr>
            <a:normAutofit fontScale="92500"/>
          </a:bodyPr>
          <a:lstStyle/>
          <a:p>
            <a:r>
              <a:rPr lang="en-GB" sz="2400" noProof="0" dirty="0" err="1">
                <a:cs typeface="Courier New" panose="02070309020205020404" pitchFamily="49" charset="0"/>
              </a:rPr>
              <a:t>CriteriaBuilder</a:t>
            </a:r>
            <a:r>
              <a:rPr lang="en-GB" sz="2400" noProof="0" dirty="0">
                <a:cs typeface="Courier New" panose="02070309020205020404" pitchFamily="49" charset="0"/>
              </a:rPr>
              <a:t> is the starting point for building a criteria query and is obtained via </a:t>
            </a:r>
            <a:r>
              <a:rPr lang="en-GB" sz="2400" noProof="0" dirty="0" err="1">
                <a:cs typeface="Courier New" panose="02070309020205020404" pitchFamily="49" charset="0"/>
              </a:rPr>
              <a:t>EntityManager.getCriteriaBuilder</a:t>
            </a:r>
            <a:r>
              <a:rPr lang="en-GB" sz="2400" noProof="0" dirty="0">
                <a:cs typeface="Courier New" panose="02070309020205020404" pitchFamily="49" charset="0"/>
              </a:rPr>
              <a:t>()</a:t>
            </a:r>
          </a:p>
          <a:p>
            <a:r>
              <a:rPr lang="en-GB" sz="2400" noProof="0" dirty="0" err="1">
                <a:cs typeface="Courier New" panose="02070309020205020404" pitchFamily="49" charset="0"/>
              </a:rPr>
              <a:t>CriteriaQuery</a:t>
            </a:r>
            <a:r>
              <a:rPr lang="en-GB" sz="2400" noProof="0" dirty="0">
                <a:cs typeface="Courier New" panose="02070309020205020404" pitchFamily="49" charset="0"/>
              </a:rPr>
              <a:t> defines the structure of the query and is created using:</a:t>
            </a:r>
          </a:p>
          <a:p>
            <a:pPr lvl="1"/>
            <a:r>
              <a:rPr lang="en-GB" sz="2000" noProof="0" dirty="0" err="1">
                <a:cs typeface="Courier New" panose="02070309020205020404" pitchFamily="49" charset="0"/>
              </a:rPr>
              <a:t>CriteriaBuilder.createQuery</a:t>
            </a:r>
            <a:r>
              <a:rPr lang="en-GB" sz="2000" noProof="0" dirty="0">
                <a:cs typeface="Courier New" panose="02070309020205020404" pitchFamily="49" charset="0"/>
              </a:rPr>
              <a:t>(Class&lt;T&gt; </a:t>
            </a:r>
            <a:r>
              <a:rPr lang="en-GB" sz="2000" noProof="0" dirty="0" err="1">
                <a:cs typeface="Courier New" panose="02070309020205020404" pitchFamily="49" charset="0"/>
              </a:rPr>
              <a:t>resultClass</a:t>
            </a:r>
            <a:r>
              <a:rPr lang="en-GB" sz="2000" noProof="0" dirty="0">
                <a:cs typeface="Courier New" panose="02070309020205020404" pitchFamily="49" charset="0"/>
              </a:rPr>
              <a:t>): creates a typed </a:t>
            </a:r>
            <a:r>
              <a:rPr lang="en-GB" sz="2000" noProof="0" dirty="0" err="1">
                <a:cs typeface="Courier New" panose="02070309020205020404" pitchFamily="49" charset="0"/>
              </a:rPr>
              <a:t>CriteriaQuery</a:t>
            </a:r>
            <a:r>
              <a:rPr lang="en-GB" sz="2000" noProof="0" dirty="0">
                <a:cs typeface="Courier New" panose="02070309020205020404" pitchFamily="49" charset="0"/>
              </a:rPr>
              <a:t>&lt;T&gt;</a:t>
            </a:r>
          </a:p>
          <a:p>
            <a:pPr lvl="1"/>
            <a:r>
              <a:rPr lang="en-GB" sz="2000" noProof="0" dirty="0" err="1">
                <a:cs typeface="Courier New" panose="02070309020205020404" pitchFamily="49" charset="0"/>
              </a:rPr>
              <a:t>CriteriaBuilder.createQuery</a:t>
            </a:r>
            <a:r>
              <a:rPr lang="en-GB" sz="2000" noProof="0" dirty="0">
                <a:cs typeface="Courier New" panose="02070309020205020404" pitchFamily="49" charset="0"/>
              </a:rPr>
              <a:t>(): creates an untyped </a:t>
            </a:r>
            <a:r>
              <a:rPr lang="en-GB" sz="2000" noProof="0" dirty="0" err="1">
                <a:cs typeface="Courier New" panose="02070309020205020404" pitchFamily="49" charset="0"/>
              </a:rPr>
              <a:t>CriteriaQuery</a:t>
            </a:r>
            <a:r>
              <a:rPr lang="en-GB" sz="2000" noProof="0" dirty="0">
                <a:cs typeface="Courier New" panose="02070309020205020404" pitchFamily="49" charset="0"/>
              </a:rPr>
              <a:t>&lt;Object&gt;</a:t>
            </a:r>
          </a:p>
          <a:p>
            <a:r>
              <a:rPr lang="en-GB" sz="2400" noProof="0" dirty="0">
                <a:cs typeface="Courier New" panose="02070309020205020404" pitchFamily="49" charset="0"/>
              </a:rPr>
              <a:t>Special types of criteria queries:</a:t>
            </a:r>
          </a:p>
          <a:p>
            <a:pPr lvl="1"/>
            <a:r>
              <a:rPr lang="en-GB" sz="2000" noProof="0" dirty="0" err="1">
                <a:cs typeface="Courier New" panose="02070309020205020404" pitchFamily="49" charset="0"/>
              </a:rPr>
              <a:t>CriteriaUpdate</a:t>
            </a:r>
            <a:r>
              <a:rPr lang="en-GB" sz="2000" noProof="0" dirty="0">
                <a:cs typeface="Courier New" panose="02070309020205020404" pitchFamily="49" charset="0"/>
              </a:rPr>
              <a:t>&lt;T&gt;: used for bulk update operations, created with </a:t>
            </a:r>
            <a:r>
              <a:rPr lang="en-GB" sz="2000" noProof="0" dirty="0" err="1">
                <a:cs typeface="Courier New" panose="02070309020205020404" pitchFamily="49" charset="0"/>
              </a:rPr>
              <a:t>CriteriaBuilder.createCriteriaUpdate</a:t>
            </a:r>
            <a:r>
              <a:rPr lang="en-GB" sz="2000" noProof="0" dirty="0">
                <a:cs typeface="Courier New" panose="02070309020205020404" pitchFamily="49" charset="0"/>
              </a:rPr>
              <a:t>(Class&lt;T&gt;)</a:t>
            </a:r>
          </a:p>
          <a:p>
            <a:pPr lvl="1"/>
            <a:r>
              <a:rPr lang="en-GB" sz="2000" noProof="0" dirty="0" err="1">
                <a:cs typeface="Courier New" panose="02070309020205020404" pitchFamily="49" charset="0"/>
              </a:rPr>
              <a:t>CriteriaDelete</a:t>
            </a:r>
            <a:r>
              <a:rPr lang="en-GB" sz="2000" noProof="0" dirty="0">
                <a:cs typeface="Courier New" panose="02070309020205020404" pitchFamily="49" charset="0"/>
              </a:rPr>
              <a:t>&lt;T&gt;: used for bulk delete operations, created with </a:t>
            </a:r>
            <a:r>
              <a:rPr lang="en-GB" sz="2000" noProof="0" dirty="0" err="1">
                <a:cs typeface="Courier New" panose="02070309020205020404" pitchFamily="49" charset="0"/>
              </a:rPr>
              <a:t>CriteriaBuilder.createCriteriaDelete</a:t>
            </a:r>
            <a:r>
              <a:rPr lang="en-GB" sz="2000" noProof="0" dirty="0">
                <a:cs typeface="Courier New" panose="02070309020205020404" pitchFamily="49" charset="0"/>
              </a:rPr>
              <a:t>(Class&lt;T&gt;)</a:t>
            </a:r>
          </a:p>
        </p:txBody>
      </p:sp>
    </p:spTree>
    <p:extLst>
      <p:ext uri="{BB962C8B-B14F-4D97-AF65-F5344CB8AC3E}">
        <p14:creationId xmlns:p14="http://schemas.microsoft.com/office/powerpoint/2010/main" val="13552892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DAE1AC-56B1-75FB-DDE8-20565336BCE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5732943-83AF-FA40-DB33-5AB10BE0E16A}"/>
              </a:ext>
            </a:extLst>
          </p:cNvPr>
          <p:cNvSpPr>
            <a:spLocks noGrp="1"/>
          </p:cNvSpPr>
          <p:nvPr>
            <p:ph type="title"/>
          </p:nvPr>
        </p:nvSpPr>
        <p:spPr/>
        <p:txBody>
          <a:bodyPr/>
          <a:lstStyle/>
          <a:p>
            <a:r>
              <a:rPr lang="en-GB" noProof="0" dirty="0" err="1"/>
              <a:t>CriteriaQuery</a:t>
            </a:r>
            <a:r>
              <a:rPr lang="en-GB" noProof="0" dirty="0"/>
              <a:t> - Structure</a:t>
            </a:r>
          </a:p>
        </p:txBody>
      </p:sp>
      <p:sp>
        <p:nvSpPr>
          <p:cNvPr id="3" name="Segnaposto contenuto 2">
            <a:extLst>
              <a:ext uri="{FF2B5EF4-FFF2-40B4-BE49-F238E27FC236}">
                <a16:creationId xmlns:a16="http://schemas.microsoft.com/office/drawing/2014/main" id="{D37E5414-6C96-C471-9E18-AE7A9B4969D3}"/>
              </a:ext>
            </a:extLst>
          </p:cNvPr>
          <p:cNvSpPr>
            <a:spLocks noGrp="1"/>
          </p:cNvSpPr>
          <p:nvPr>
            <p:ph idx="1"/>
          </p:nvPr>
        </p:nvSpPr>
        <p:spPr>
          <a:xfrm>
            <a:off x="685800" y="1281956"/>
            <a:ext cx="8150225" cy="5171380"/>
          </a:xfrm>
        </p:spPr>
        <p:txBody>
          <a:bodyPr>
            <a:normAutofit fontScale="70000" lnSpcReduction="20000"/>
          </a:bodyPr>
          <a:lstStyle/>
          <a:p>
            <a:r>
              <a:rPr lang="en-GB" sz="2400" noProof="0" dirty="0">
                <a:cs typeface="Courier New" panose="02070309020205020404" pitchFamily="49" charset="0"/>
              </a:rPr>
              <a:t>A </a:t>
            </a:r>
            <a:r>
              <a:rPr lang="en-GB" sz="2400" noProof="0" dirty="0" err="1">
                <a:cs typeface="Courier New" panose="02070309020205020404" pitchFamily="49" charset="0"/>
              </a:rPr>
              <a:t>CriteriaQuery</a:t>
            </a:r>
            <a:r>
              <a:rPr lang="en-GB" sz="2400" noProof="0" dirty="0">
                <a:cs typeface="Courier New" panose="02070309020205020404" pitchFamily="49" charset="0"/>
              </a:rPr>
              <a:t> is composed of multiple components, each responsible for a specific aspect of the query.</a:t>
            </a:r>
          </a:p>
          <a:p>
            <a:r>
              <a:rPr lang="en-GB" sz="2400" noProof="0" dirty="0">
                <a:cs typeface="Courier New" panose="02070309020205020404" pitchFamily="49" charset="0"/>
              </a:rPr>
              <a:t>Root&lt;T&gt; (Main Entity Selection)</a:t>
            </a:r>
          </a:p>
          <a:p>
            <a:pPr lvl="1"/>
            <a:r>
              <a:rPr lang="en-GB" sz="2000" noProof="0" dirty="0">
                <a:cs typeface="Courier New" panose="02070309020205020404" pitchFamily="49" charset="0"/>
              </a:rPr>
              <a:t>&lt;T&gt; Root&lt;T&gt; </a:t>
            </a:r>
            <a:r>
              <a:rPr lang="en-GB" sz="2000" noProof="0" dirty="0" err="1">
                <a:cs typeface="Courier New" panose="02070309020205020404" pitchFamily="49" charset="0"/>
              </a:rPr>
              <a:t>CriteriaQuery.from</a:t>
            </a:r>
            <a:r>
              <a:rPr lang="en-GB" sz="2000" noProof="0" dirty="0">
                <a:cs typeface="Courier New" panose="02070309020205020404" pitchFamily="49" charset="0"/>
              </a:rPr>
              <a:t>(Class&lt;T&gt; </a:t>
            </a:r>
            <a:r>
              <a:rPr lang="en-GB" sz="2000" noProof="0" dirty="0" err="1">
                <a:cs typeface="Courier New" panose="02070309020205020404" pitchFamily="49" charset="0"/>
              </a:rPr>
              <a:t>entityClass</a:t>
            </a:r>
            <a:r>
              <a:rPr lang="en-GB" sz="2000" noProof="0" dirty="0">
                <a:cs typeface="Courier New" panose="02070309020205020404" pitchFamily="49" charset="0"/>
              </a:rPr>
              <a:t>): defines the entity from which data is retrieved and return a typed Root </a:t>
            </a:r>
          </a:p>
          <a:p>
            <a:pPr lvl="1"/>
            <a:r>
              <a:rPr lang="en-GB" sz="2000" noProof="0" dirty="0">
                <a:cs typeface="Courier New" panose="02070309020205020404" pitchFamily="49" charset="0"/>
              </a:rPr>
              <a:t>The Root is used in the query definition to specify selection criteria, filtering conditions (WHERE), sorting (ORDER BY), grouping (GROUP BY), and joins.</a:t>
            </a:r>
          </a:p>
          <a:p>
            <a:r>
              <a:rPr lang="en-GB" sz="2400" noProof="0" dirty="0">
                <a:cs typeface="Courier New" panose="02070309020205020404" pitchFamily="49" charset="0"/>
              </a:rPr>
              <a:t>Selection (Projection of Results)</a:t>
            </a:r>
          </a:p>
          <a:p>
            <a:pPr lvl="1"/>
            <a:r>
              <a:rPr lang="en-GB" sz="2000" noProof="0" dirty="0" err="1">
                <a:cs typeface="Courier New" panose="02070309020205020404" pitchFamily="49" charset="0"/>
              </a:rPr>
              <a:t>CriteriaQuery.select</a:t>
            </a:r>
            <a:r>
              <a:rPr lang="en-GB" sz="2000" noProof="0" dirty="0">
                <a:cs typeface="Courier New" panose="02070309020205020404" pitchFamily="49" charset="0"/>
              </a:rPr>
              <a:t>(Expression&lt;?&gt; selection): defines what data to retrieve (full entity or specific attributes)</a:t>
            </a:r>
            <a:endParaRPr lang="en-GB" sz="2400" noProof="0" dirty="0">
              <a:cs typeface="Courier New" panose="02070309020205020404" pitchFamily="49" charset="0"/>
            </a:endParaRPr>
          </a:p>
          <a:p>
            <a:r>
              <a:rPr lang="en-GB" sz="2400" noProof="0" dirty="0">
                <a:cs typeface="Courier New" panose="02070309020205020404" pitchFamily="49" charset="0"/>
              </a:rPr>
              <a:t>Filtering</a:t>
            </a:r>
          </a:p>
          <a:p>
            <a:pPr lvl="1"/>
            <a:r>
              <a:rPr lang="en-GB" sz="2000" noProof="0" dirty="0" err="1">
                <a:cs typeface="Courier New" panose="02070309020205020404" pitchFamily="49" charset="0"/>
              </a:rPr>
              <a:t>CriteriaQuery.where</a:t>
            </a:r>
            <a:r>
              <a:rPr lang="en-GB" sz="2000" noProof="0" dirty="0">
                <a:cs typeface="Courier New" panose="02070309020205020404" pitchFamily="49" charset="0"/>
              </a:rPr>
              <a:t>(Predicate... restrictions): applies filtering conditions to the query</a:t>
            </a:r>
            <a:endParaRPr lang="en-GB" sz="2400" noProof="0" dirty="0">
              <a:cs typeface="Courier New" panose="02070309020205020404" pitchFamily="49" charset="0"/>
            </a:endParaRPr>
          </a:p>
          <a:p>
            <a:r>
              <a:rPr lang="en-GB" sz="2400" noProof="0" dirty="0">
                <a:cs typeface="Courier New" panose="02070309020205020404" pitchFamily="49" charset="0"/>
              </a:rPr>
              <a:t>Orderings</a:t>
            </a:r>
          </a:p>
          <a:p>
            <a:pPr lvl="1"/>
            <a:r>
              <a:rPr lang="en-GB" sz="2000" noProof="0" dirty="0" err="1">
                <a:cs typeface="Courier New" panose="02070309020205020404" pitchFamily="49" charset="0"/>
              </a:rPr>
              <a:t>CriteriaQuery.orderBy</a:t>
            </a:r>
            <a:r>
              <a:rPr lang="en-GB" sz="2000" noProof="0" dirty="0">
                <a:cs typeface="Courier New" panose="02070309020205020404" pitchFamily="49" charset="0"/>
              </a:rPr>
              <a:t>(Order... orders): defines sorting order</a:t>
            </a:r>
            <a:endParaRPr lang="en-GB" sz="2400" noProof="0" dirty="0">
              <a:cs typeface="Courier New" panose="02070309020205020404" pitchFamily="49" charset="0"/>
            </a:endParaRPr>
          </a:p>
          <a:p>
            <a:r>
              <a:rPr lang="en-GB" sz="2400" noProof="0" dirty="0">
                <a:cs typeface="Courier New" panose="02070309020205020404" pitchFamily="49" charset="0"/>
              </a:rPr>
              <a:t>Grouping</a:t>
            </a:r>
          </a:p>
          <a:p>
            <a:pPr lvl="1"/>
            <a:r>
              <a:rPr lang="en-GB" sz="2000" noProof="0" dirty="0" err="1">
                <a:cs typeface="Courier New" panose="02070309020205020404" pitchFamily="49" charset="0"/>
              </a:rPr>
              <a:t>CriteriaQuery.groupBy</a:t>
            </a:r>
            <a:r>
              <a:rPr lang="en-GB" sz="2000" noProof="0" dirty="0">
                <a:cs typeface="Courier New" panose="02070309020205020404" pitchFamily="49" charset="0"/>
              </a:rPr>
              <a:t>(Expression&lt;?&gt;... grouping): defines GROUP BY columns</a:t>
            </a:r>
          </a:p>
          <a:p>
            <a:pPr lvl="1"/>
            <a:r>
              <a:rPr lang="en-GB" sz="2000" noProof="0" dirty="0" err="1">
                <a:cs typeface="Courier New" panose="02070309020205020404" pitchFamily="49" charset="0"/>
              </a:rPr>
              <a:t>CriteriaQuery.having</a:t>
            </a:r>
            <a:r>
              <a:rPr lang="en-GB" sz="2000" noProof="0" dirty="0">
                <a:cs typeface="Courier New" panose="02070309020205020404" pitchFamily="49" charset="0"/>
              </a:rPr>
              <a:t>(Predicate... restrictions): defines HAVING conditions</a:t>
            </a:r>
            <a:endParaRPr lang="en-GB" sz="1600" noProof="0" dirty="0">
              <a:cs typeface="Courier New" panose="02070309020205020404" pitchFamily="49" charset="0"/>
            </a:endParaRPr>
          </a:p>
        </p:txBody>
      </p:sp>
    </p:spTree>
    <p:extLst>
      <p:ext uri="{BB962C8B-B14F-4D97-AF65-F5344CB8AC3E}">
        <p14:creationId xmlns:p14="http://schemas.microsoft.com/office/powerpoint/2010/main" val="23956036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2095BE-98DA-0166-247D-81D189895E7C}"/>
              </a:ext>
            </a:extLst>
          </p:cNvPr>
          <p:cNvSpPr>
            <a:spLocks noGrp="1"/>
          </p:cNvSpPr>
          <p:nvPr>
            <p:ph type="title"/>
          </p:nvPr>
        </p:nvSpPr>
        <p:spPr/>
        <p:txBody>
          <a:bodyPr/>
          <a:lstStyle/>
          <a:p>
            <a:r>
              <a:rPr lang="en-GB" noProof="0" dirty="0" err="1"/>
              <a:t>CriteriaQuery</a:t>
            </a:r>
            <a:r>
              <a:rPr lang="en-GB" noProof="0" dirty="0"/>
              <a:t> - Predicate</a:t>
            </a:r>
          </a:p>
        </p:txBody>
      </p:sp>
      <p:sp>
        <p:nvSpPr>
          <p:cNvPr id="3" name="Segnaposto contenuto 2">
            <a:extLst>
              <a:ext uri="{FF2B5EF4-FFF2-40B4-BE49-F238E27FC236}">
                <a16:creationId xmlns:a16="http://schemas.microsoft.com/office/drawing/2014/main" id="{EB537792-3DB6-C7FF-F683-6837C19A9DB0}"/>
              </a:ext>
            </a:extLst>
          </p:cNvPr>
          <p:cNvSpPr>
            <a:spLocks noGrp="1"/>
          </p:cNvSpPr>
          <p:nvPr>
            <p:ph idx="1"/>
          </p:nvPr>
        </p:nvSpPr>
        <p:spPr>
          <a:xfrm>
            <a:off x="685800" y="1295400"/>
            <a:ext cx="8150225" cy="5013920"/>
          </a:xfrm>
        </p:spPr>
        <p:txBody>
          <a:bodyPr>
            <a:normAutofit fontScale="55000" lnSpcReduction="20000"/>
          </a:bodyPr>
          <a:lstStyle/>
          <a:p>
            <a:r>
              <a:rPr lang="en-GB" noProof="0" dirty="0"/>
              <a:t>The interface Predicate allows to define filtering conditions (WHERE clause) in a Criteria Query.</a:t>
            </a:r>
          </a:p>
          <a:p>
            <a:r>
              <a:rPr lang="en-GB" noProof="0" dirty="0"/>
              <a:t>Predicates are created using </a:t>
            </a:r>
            <a:r>
              <a:rPr lang="en-GB" noProof="0" dirty="0" err="1"/>
              <a:t>CriteriaBuilder</a:t>
            </a:r>
            <a:r>
              <a:rPr lang="en-GB" noProof="0" dirty="0"/>
              <a:t> methods and applied to a query with </a:t>
            </a:r>
            <a:r>
              <a:rPr lang="en-GB" noProof="0" dirty="0" err="1"/>
              <a:t>CriteriaQuery.where</a:t>
            </a:r>
            <a:r>
              <a:rPr lang="en-GB" noProof="0" dirty="0"/>
              <a:t>().</a:t>
            </a:r>
          </a:p>
          <a:p>
            <a:r>
              <a:rPr lang="en-GB" noProof="0" dirty="0"/>
              <a:t>Equality &amp; Comparison</a:t>
            </a:r>
          </a:p>
          <a:p>
            <a:pPr lvl="1"/>
            <a:r>
              <a:rPr lang="en-GB" noProof="0" dirty="0" err="1"/>
              <a:t>CriteriaBuilder.equal</a:t>
            </a:r>
            <a:r>
              <a:rPr lang="en-GB" noProof="0" dirty="0"/>
              <a:t>(Expression&lt;?&gt; x, Object y): checks if two values are equal</a:t>
            </a:r>
          </a:p>
          <a:p>
            <a:pPr lvl="1"/>
            <a:r>
              <a:rPr lang="en-GB" noProof="0" dirty="0" err="1"/>
              <a:t>CriteriaBuilder.notEqual</a:t>
            </a:r>
            <a:r>
              <a:rPr lang="en-GB" noProof="0" dirty="0"/>
              <a:t>(Expression&lt;?&gt; x, Object y): checks if two values are different</a:t>
            </a:r>
          </a:p>
          <a:p>
            <a:pPr lvl="1"/>
            <a:r>
              <a:rPr lang="en-GB" noProof="0" dirty="0" err="1"/>
              <a:t>CriteriaBuilder.greaterThan</a:t>
            </a:r>
            <a:r>
              <a:rPr lang="en-GB" noProof="0" dirty="0"/>
              <a:t>(Expression&lt;? extends Number&gt; x, Number y): checks if a value is greater</a:t>
            </a:r>
          </a:p>
          <a:p>
            <a:pPr lvl="1"/>
            <a:r>
              <a:rPr lang="en-GB" noProof="0" dirty="0" err="1"/>
              <a:t>CriteriaBuilder.lessThan</a:t>
            </a:r>
            <a:r>
              <a:rPr lang="en-GB" noProof="0" dirty="0"/>
              <a:t>(Expression&lt;? extends Number&gt; x, Number y): checks if a value is smaller</a:t>
            </a:r>
          </a:p>
          <a:p>
            <a:pPr lvl="1"/>
            <a:r>
              <a:rPr lang="en-GB" noProof="0" dirty="0" err="1"/>
              <a:t>CriteriaBuilder.between</a:t>
            </a:r>
            <a:r>
              <a:rPr lang="en-GB" noProof="0" dirty="0"/>
              <a:t>(Expression&lt;? extends Comparable&gt; v, Object x, Object y): checks if a value is in a range</a:t>
            </a:r>
          </a:p>
          <a:p>
            <a:r>
              <a:rPr lang="en-GB" noProof="0" dirty="0"/>
              <a:t>String Matching</a:t>
            </a:r>
          </a:p>
          <a:p>
            <a:pPr lvl="1"/>
            <a:r>
              <a:rPr lang="en-GB" noProof="0" dirty="0" err="1"/>
              <a:t>CriteriaBuilder.like</a:t>
            </a:r>
            <a:r>
              <a:rPr lang="en-GB" noProof="0" dirty="0"/>
              <a:t>(Expression&lt;String&gt; x, String pattern): checks if a string matches a pattern</a:t>
            </a:r>
          </a:p>
          <a:p>
            <a:pPr lvl="1"/>
            <a:r>
              <a:rPr lang="en-GB" noProof="0" dirty="0" err="1"/>
              <a:t>CriteriaBuilder.notLike</a:t>
            </a:r>
            <a:r>
              <a:rPr lang="en-GB" noProof="0" dirty="0"/>
              <a:t>(Expression&lt;String&gt; x, String pattern): checks if a string does not match a pattern</a:t>
            </a:r>
          </a:p>
        </p:txBody>
      </p:sp>
    </p:spTree>
    <p:extLst>
      <p:ext uri="{BB962C8B-B14F-4D97-AF65-F5344CB8AC3E}">
        <p14:creationId xmlns:p14="http://schemas.microsoft.com/office/powerpoint/2010/main" val="37801805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81FB10D-BB77-2043-4D3D-9BFE2AF5F75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2330E84-4870-E3D8-D5B6-0ACB695F5687}"/>
              </a:ext>
            </a:extLst>
          </p:cNvPr>
          <p:cNvSpPr>
            <a:spLocks noGrp="1"/>
          </p:cNvSpPr>
          <p:nvPr>
            <p:ph type="title"/>
          </p:nvPr>
        </p:nvSpPr>
        <p:spPr/>
        <p:txBody>
          <a:bodyPr/>
          <a:lstStyle/>
          <a:p>
            <a:r>
              <a:rPr lang="en-GB" noProof="0" dirty="0" err="1"/>
              <a:t>CriteriaQuery</a:t>
            </a:r>
            <a:r>
              <a:rPr lang="en-GB" noProof="0" dirty="0"/>
              <a:t> - Parameters</a:t>
            </a:r>
          </a:p>
        </p:txBody>
      </p:sp>
      <p:sp>
        <p:nvSpPr>
          <p:cNvPr id="3" name="Segnaposto contenuto 2">
            <a:extLst>
              <a:ext uri="{FF2B5EF4-FFF2-40B4-BE49-F238E27FC236}">
                <a16:creationId xmlns:a16="http://schemas.microsoft.com/office/drawing/2014/main" id="{27B0A457-566C-4F77-5B73-F1E3FE769CCB}"/>
              </a:ext>
            </a:extLst>
          </p:cNvPr>
          <p:cNvSpPr>
            <a:spLocks noGrp="1"/>
          </p:cNvSpPr>
          <p:nvPr>
            <p:ph idx="1"/>
          </p:nvPr>
        </p:nvSpPr>
        <p:spPr>
          <a:xfrm>
            <a:off x="685800" y="1295400"/>
            <a:ext cx="8150225" cy="5373960"/>
          </a:xfrm>
        </p:spPr>
        <p:txBody>
          <a:bodyPr>
            <a:normAutofit fontScale="55000" lnSpcReduction="20000"/>
          </a:bodyPr>
          <a:lstStyle/>
          <a:p>
            <a:r>
              <a:rPr lang="en-GB" noProof="0" dirty="0"/>
              <a:t>Criteria API supports parameterized queries, similar to JPQL and Native Queries</a:t>
            </a:r>
          </a:p>
          <a:p>
            <a:pPr lvl="1"/>
            <a:r>
              <a:rPr lang="en-GB" noProof="0" dirty="0"/>
              <a:t>Prevents SQL injection by avoiding direct value concatenation</a:t>
            </a:r>
          </a:p>
          <a:p>
            <a:pPr lvl="1"/>
            <a:r>
              <a:rPr lang="en-GB" noProof="0" dirty="0"/>
              <a:t>Improves query reusability by allowing dynamic filtering</a:t>
            </a:r>
          </a:p>
          <a:p>
            <a:r>
              <a:rPr lang="en-GB" noProof="0" dirty="0"/>
              <a:t>Uses </a:t>
            </a:r>
            <a:r>
              <a:rPr lang="en-GB" noProof="0" dirty="0" err="1"/>
              <a:t>ParameterExpression</a:t>
            </a:r>
            <a:r>
              <a:rPr lang="en-GB" noProof="0" dirty="0"/>
              <a:t>&lt;T&gt; to define parameters dynamically</a:t>
            </a:r>
          </a:p>
          <a:p>
            <a:r>
              <a:rPr lang="en-GB" noProof="0" dirty="0"/>
              <a:t>Declaring Parameters</a:t>
            </a:r>
          </a:p>
          <a:p>
            <a:pPr lvl="1"/>
            <a:r>
              <a:rPr lang="en-GB" noProof="0" dirty="0" err="1"/>
              <a:t>ParameterExpression</a:t>
            </a:r>
            <a:r>
              <a:rPr lang="en-GB" noProof="0" dirty="0"/>
              <a:t>&lt;T&gt; </a:t>
            </a:r>
            <a:r>
              <a:rPr lang="en-GB" noProof="0" dirty="0" err="1"/>
              <a:t>CriteriaBuilder.parameter</a:t>
            </a:r>
            <a:r>
              <a:rPr lang="en-GB" noProof="0" dirty="0"/>
              <a:t>(Class&lt;T&gt; </a:t>
            </a:r>
            <a:r>
              <a:rPr lang="en-GB" noProof="0" dirty="0" err="1"/>
              <a:t>paramType</a:t>
            </a:r>
            <a:r>
              <a:rPr lang="en-GB" noProof="0" dirty="0"/>
              <a:t>, String name): creates a parameter placeholder of a given type</a:t>
            </a:r>
          </a:p>
          <a:p>
            <a:r>
              <a:rPr lang="en-GB" noProof="0" dirty="0"/>
              <a:t>Integrating Parameters into Query Conditions</a:t>
            </a:r>
          </a:p>
          <a:p>
            <a:pPr lvl="1"/>
            <a:r>
              <a:rPr lang="en-GB" noProof="0" dirty="0"/>
              <a:t>Parameters must be incorporated into predicates to define filtering conditions</a:t>
            </a:r>
          </a:p>
          <a:p>
            <a:pPr lvl="1"/>
            <a:r>
              <a:rPr lang="en-GB" noProof="0" dirty="0"/>
              <a:t>Predicates built using </a:t>
            </a:r>
            <a:r>
              <a:rPr lang="en-GB" noProof="0" dirty="0" err="1"/>
              <a:t>CriteriaBuilder</a:t>
            </a:r>
            <a:r>
              <a:rPr lang="en-GB" noProof="0" dirty="0"/>
              <a:t> can include parameters dynamically</a:t>
            </a:r>
          </a:p>
          <a:p>
            <a:pPr lvl="1"/>
            <a:r>
              <a:rPr lang="en-GB" noProof="0" dirty="0"/>
              <a:t>Parameters can be applied to WHERE, HAVING, and ORDER BY</a:t>
            </a:r>
          </a:p>
          <a:p>
            <a:r>
              <a:rPr lang="en-GB" noProof="0" dirty="0"/>
              <a:t>Binding Values to Parameters</a:t>
            </a:r>
          </a:p>
          <a:p>
            <a:pPr lvl="1"/>
            <a:r>
              <a:rPr lang="en-GB" noProof="0" dirty="0"/>
              <a:t>The binding is done on the </a:t>
            </a:r>
            <a:r>
              <a:rPr lang="en-GB" noProof="0" dirty="0" err="1"/>
              <a:t>TypedQuery</a:t>
            </a:r>
            <a:r>
              <a:rPr lang="en-GB" noProof="0" dirty="0"/>
              <a:t>&lt;T&gt; obtained from converting the </a:t>
            </a:r>
            <a:r>
              <a:rPr lang="en-GB" noProof="0" dirty="0" err="1"/>
              <a:t>CriteriaQuery</a:t>
            </a:r>
            <a:r>
              <a:rPr lang="en-GB" noProof="0" dirty="0"/>
              <a:t>&lt;T&gt; before execution</a:t>
            </a:r>
          </a:p>
          <a:p>
            <a:pPr lvl="1"/>
            <a:r>
              <a:rPr lang="en-GB" noProof="0" dirty="0" err="1"/>
              <a:t>TypedQuery</a:t>
            </a:r>
            <a:r>
              <a:rPr lang="en-GB" noProof="0" dirty="0"/>
              <a:t>&lt;T&gt;.</a:t>
            </a:r>
            <a:r>
              <a:rPr lang="en-GB" noProof="0" dirty="0" err="1"/>
              <a:t>setParameter</a:t>
            </a:r>
            <a:r>
              <a:rPr lang="en-GB" noProof="0" dirty="0"/>
              <a:t>(</a:t>
            </a:r>
            <a:r>
              <a:rPr lang="en-GB" noProof="0" dirty="0" err="1"/>
              <a:t>ParameterExpression</a:t>
            </a:r>
            <a:r>
              <a:rPr lang="en-GB" noProof="0" dirty="0"/>
              <a:t>&lt;T&gt; param, T value): assigns a concrete value to the parameter before executing the query</a:t>
            </a:r>
          </a:p>
          <a:p>
            <a:pPr lvl="1"/>
            <a:r>
              <a:rPr lang="en-GB" noProof="0" dirty="0"/>
              <a:t>Values are assigned after query conversion, ensuring dynamic query execution</a:t>
            </a:r>
          </a:p>
        </p:txBody>
      </p:sp>
    </p:spTree>
    <p:extLst>
      <p:ext uri="{BB962C8B-B14F-4D97-AF65-F5344CB8AC3E}">
        <p14:creationId xmlns:p14="http://schemas.microsoft.com/office/powerpoint/2010/main" val="29591555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C544FE-7106-C8B1-B8AC-FC70E95AFA4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18D62D6-FC5D-0749-0C5E-F6B5E5D67F3E}"/>
              </a:ext>
            </a:extLst>
          </p:cNvPr>
          <p:cNvSpPr>
            <a:spLocks noGrp="1"/>
          </p:cNvSpPr>
          <p:nvPr>
            <p:ph type="title"/>
          </p:nvPr>
        </p:nvSpPr>
        <p:spPr/>
        <p:txBody>
          <a:bodyPr/>
          <a:lstStyle/>
          <a:p>
            <a:r>
              <a:rPr lang="en-GB" noProof="0" dirty="0" err="1"/>
              <a:t>CriteriaQuery</a:t>
            </a:r>
            <a:r>
              <a:rPr lang="en-GB" noProof="0" dirty="0"/>
              <a:t> - Execution</a:t>
            </a:r>
          </a:p>
        </p:txBody>
      </p:sp>
      <p:sp>
        <p:nvSpPr>
          <p:cNvPr id="3" name="Segnaposto contenuto 2">
            <a:extLst>
              <a:ext uri="{FF2B5EF4-FFF2-40B4-BE49-F238E27FC236}">
                <a16:creationId xmlns:a16="http://schemas.microsoft.com/office/drawing/2014/main" id="{F4479F0F-58E2-A35C-95E4-DE7ADE0F8FE9}"/>
              </a:ext>
            </a:extLst>
          </p:cNvPr>
          <p:cNvSpPr>
            <a:spLocks noGrp="1"/>
          </p:cNvSpPr>
          <p:nvPr>
            <p:ph idx="1"/>
          </p:nvPr>
        </p:nvSpPr>
        <p:spPr>
          <a:xfrm>
            <a:off x="685800" y="1295400"/>
            <a:ext cx="8150225" cy="5013920"/>
          </a:xfrm>
        </p:spPr>
        <p:txBody>
          <a:bodyPr>
            <a:normAutofit fontScale="92500" lnSpcReduction="20000"/>
          </a:bodyPr>
          <a:lstStyle/>
          <a:p>
            <a:r>
              <a:rPr lang="en-GB" noProof="0" dirty="0"/>
              <a:t>Converting a </a:t>
            </a:r>
            <a:r>
              <a:rPr lang="en-GB" noProof="0" dirty="0" err="1"/>
              <a:t>CriteriaQuery</a:t>
            </a:r>
            <a:r>
              <a:rPr lang="en-GB" noProof="0" dirty="0"/>
              <a:t> for Execution</a:t>
            </a:r>
          </a:p>
          <a:p>
            <a:pPr lvl="1"/>
            <a:r>
              <a:rPr lang="en-GB" noProof="0" dirty="0"/>
              <a:t>A </a:t>
            </a:r>
            <a:r>
              <a:rPr lang="en-GB" noProof="0" dirty="0" err="1"/>
              <a:t>CriteriaQuery</a:t>
            </a:r>
            <a:r>
              <a:rPr lang="en-GB" noProof="0" dirty="0"/>
              <a:t>&lt;T&gt; must be converted into a </a:t>
            </a:r>
            <a:r>
              <a:rPr lang="en-GB" noProof="0" dirty="0" err="1"/>
              <a:t>TypedQuery</a:t>
            </a:r>
            <a:r>
              <a:rPr lang="en-GB" noProof="0" dirty="0"/>
              <a:t>&lt;T&gt; before execution</a:t>
            </a:r>
          </a:p>
          <a:p>
            <a:pPr lvl="1"/>
            <a:r>
              <a:rPr lang="en-GB" noProof="0" dirty="0"/>
              <a:t>Conversion is done using </a:t>
            </a:r>
            <a:r>
              <a:rPr lang="en-GB" noProof="0" dirty="0" err="1"/>
              <a:t>EntityManager.createQuery</a:t>
            </a:r>
            <a:r>
              <a:rPr lang="en-GB" noProof="0" dirty="0"/>
              <a:t>(</a:t>
            </a:r>
            <a:r>
              <a:rPr lang="en-GB" noProof="0" dirty="0" err="1"/>
              <a:t>CriteriaQuery</a:t>
            </a:r>
            <a:r>
              <a:rPr lang="en-GB" noProof="0" dirty="0"/>
              <a:t>&lt;T&gt; </a:t>
            </a:r>
            <a:r>
              <a:rPr lang="en-GB" noProof="0" dirty="0" err="1"/>
              <a:t>criteriaQuery</a:t>
            </a:r>
            <a:r>
              <a:rPr lang="en-GB" noProof="0" dirty="0"/>
              <a:t>), which always returns a </a:t>
            </a:r>
            <a:r>
              <a:rPr lang="en-GB" noProof="0" dirty="0" err="1"/>
              <a:t>TypedQuery</a:t>
            </a:r>
            <a:r>
              <a:rPr lang="en-GB" noProof="0" dirty="0"/>
              <a:t>&lt;T&gt;</a:t>
            </a:r>
          </a:p>
          <a:p>
            <a:pPr lvl="2"/>
            <a:r>
              <a:rPr lang="en-GB" noProof="0" dirty="0"/>
              <a:t>If T is not specified, the query is treated as untyped, defaulting to </a:t>
            </a:r>
            <a:r>
              <a:rPr lang="en-GB" noProof="0" dirty="0" err="1"/>
              <a:t>TypedQuery</a:t>
            </a:r>
            <a:r>
              <a:rPr lang="en-GB" noProof="0" dirty="0"/>
              <a:t>&lt;Object&gt;</a:t>
            </a:r>
          </a:p>
          <a:p>
            <a:r>
              <a:rPr lang="en-GB" noProof="0" dirty="0"/>
              <a:t>Query Execution</a:t>
            </a:r>
          </a:p>
          <a:p>
            <a:pPr lvl="1"/>
            <a:r>
              <a:rPr lang="en-GB" noProof="0" dirty="0"/>
              <a:t>Once converted, the </a:t>
            </a:r>
            <a:r>
              <a:rPr lang="en-GB" noProof="0" dirty="0" err="1"/>
              <a:t>TypedQuery</a:t>
            </a:r>
            <a:r>
              <a:rPr lang="en-GB" noProof="0" dirty="0"/>
              <a:t> is executed with the appropriate methods already described</a:t>
            </a:r>
          </a:p>
        </p:txBody>
      </p:sp>
    </p:spTree>
    <p:extLst>
      <p:ext uri="{BB962C8B-B14F-4D97-AF65-F5344CB8AC3E}">
        <p14:creationId xmlns:p14="http://schemas.microsoft.com/office/powerpoint/2010/main" val="22844426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2BFFD4-99D1-AF36-64CF-60A1AC4A91F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F6F18B2-35DA-5D90-EBBC-998325D463AB}"/>
              </a:ext>
            </a:extLst>
          </p:cNvPr>
          <p:cNvSpPr>
            <a:spLocks noGrp="1"/>
          </p:cNvSpPr>
          <p:nvPr>
            <p:ph type="title"/>
          </p:nvPr>
        </p:nvSpPr>
        <p:spPr/>
        <p:txBody>
          <a:bodyPr/>
          <a:lstStyle/>
          <a:p>
            <a:r>
              <a:rPr lang="en-GB" noProof="0" dirty="0" err="1"/>
              <a:t>CriteriaQuery</a:t>
            </a:r>
            <a:r>
              <a:rPr lang="en-GB" noProof="0" dirty="0"/>
              <a:t> - Example</a:t>
            </a:r>
          </a:p>
        </p:txBody>
      </p:sp>
      <p:sp>
        <p:nvSpPr>
          <p:cNvPr id="4" name="Rettangolo 3">
            <a:extLst>
              <a:ext uri="{FF2B5EF4-FFF2-40B4-BE49-F238E27FC236}">
                <a16:creationId xmlns:a16="http://schemas.microsoft.com/office/drawing/2014/main" id="{B702AF57-E99D-B536-ACDC-544A8C20949E}"/>
              </a:ext>
            </a:extLst>
          </p:cNvPr>
          <p:cNvSpPr/>
          <p:nvPr/>
        </p:nvSpPr>
        <p:spPr bwMode="auto">
          <a:xfrm>
            <a:off x="611560" y="1268760"/>
            <a:ext cx="8224465" cy="496855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Segnaposto contenuto 2">
            <a:extLst>
              <a:ext uri="{FF2B5EF4-FFF2-40B4-BE49-F238E27FC236}">
                <a16:creationId xmlns:a16="http://schemas.microsoft.com/office/drawing/2014/main" id="{2974B621-0EF0-99E5-8926-399A34A72CB1}"/>
              </a:ext>
            </a:extLst>
          </p:cNvPr>
          <p:cNvSpPr>
            <a:spLocks noGrp="1"/>
          </p:cNvSpPr>
          <p:nvPr>
            <p:ph idx="1"/>
          </p:nvPr>
        </p:nvSpPr>
        <p:spPr>
          <a:xfrm>
            <a:off x="685800" y="1295400"/>
            <a:ext cx="8150225" cy="5013920"/>
          </a:xfrm>
        </p:spPr>
        <p:txBody>
          <a:bodyPr>
            <a:normAutofit fontScale="47500" lnSpcReduction="20000"/>
          </a:bodyPr>
          <a:lstStyle/>
          <a:p>
            <a:pPr marL="0" indent="0">
              <a:buNone/>
            </a:pPr>
            <a:r>
              <a:rPr lang="en-GB" noProof="0" dirty="0" err="1">
                <a:latin typeface="Courier New" panose="02070309020205020404" pitchFamily="49" charset="0"/>
                <a:cs typeface="Courier New" panose="02070309020205020404" pitchFamily="49" charset="0"/>
              </a:rPr>
              <a:t>CriteriaBuilder</a:t>
            </a:r>
            <a:r>
              <a:rPr lang="en-GB" noProof="0" dirty="0">
                <a:latin typeface="Courier New" panose="02070309020205020404" pitchFamily="49" charset="0"/>
                <a:cs typeface="Courier New" panose="02070309020205020404" pitchFamily="49" charset="0"/>
              </a:rPr>
              <a:t> </a:t>
            </a:r>
            <a:r>
              <a:rPr lang="en-GB" noProof="0" dirty="0" err="1">
                <a:latin typeface="Courier New" panose="02070309020205020404" pitchFamily="49" charset="0"/>
                <a:cs typeface="Courier New" panose="02070309020205020404" pitchFamily="49" charset="0"/>
              </a:rPr>
              <a:t>cb</a:t>
            </a:r>
            <a:r>
              <a:rPr lang="en-GB" noProof="0" dirty="0">
                <a:latin typeface="Courier New" panose="02070309020205020404" pitchFamily="49" charset="0"/>
                <a:cs typeface="Courier New" panose="02070309020205020404" pitchFamily="49" charset="0"/>
              </a:rPr>
              <a:t> = </a:t>
            </a:r>
            <a:r>
              <a:rPr lang="en-GB" noProof="0" dirty="0" err="1">
                <a:latin typeface="Courier New" panose="02070309020205020404" pitchFamily="49" charset="0"/>
                <a:cs typeface="Courier New" panose="02070309020205020404" pitchFamily="49" charset="0"/>
              </a:rPr>
              <a:t>entityManager.getCriteriaBuilder</a:t>
            </a:r>
            <a:r>
              <a:rPr lang="en-GB" noProof="0" dirty="0">
                <a:latin typeface="Courier New" panose="02070309020205020404" pitchFamily="49" charset="0"/>
                <a:cs typeface="Courier New" panose="02070309020205020404" pitchFamily="49" charset="0"/>
              </a:rPr>
              <a:t>();</a:t>
            </a:r>
          </a:p>
          <a:p>
            <a:pPr marL="0" indent="0">
              <a:buNone/>
            </a:pPr>
            <a:r>
              <a:rPr lang="en-GB" noProof="0" dirty="0" err="1">
                <a:latin typeface="Courier New" panose="02070309020205020404" pitchFamily="49" charset="0"/>
                <a:cs typeface="Courier New" panose="02070309020205020404" pitchFamily="49" charset="0"/>
              </a:rPr>
              <a:t>CriteriaQuery</a:t>
            </a:r>
            <a:r>
              <a:rPr lang="en-GB" noProof="0" dirty="0">
                <a:latin typeface="Courier New" panose="02070309020205020404" pitchFamily="49" charset="0"/>
                <a:cs typeface="Courier New" panose="02070309020205020404" pitchFamily="49" charset="0"/>
              </a:rPr>
              <a:t>&lt;User&gt; </a:t>
            </a:r>
            <a:r>
              <a:rPr lang="en-GB" noProof="0" dirty="0" err="1">
                <a:latin typeface="Courier New" panose="02070309020205020404" pitchFamily="49" charset="0"/>
                <a:cs typeface="Courier New" panose="02070309020205020404" pitchFamily="49" charset="0"/>
              </a:rPr>
              <a:t>cq</a:t>
            </a:r>
            <a:r>
              <a:rPr lang="en-GB" noProof="0" dirty="0">
                <a:latin typeface="Courier New" panose="02070309020205020404" pitchFamily="49" charset="0"/>
                <a:cs typeface="Courier New" panose="02070309020205020404" pitchFamily="49" charset="0"/>
              </a:rPr>
              <a:t> = </a:t>
            </a:r>
            <a:r>
              <a:rPr lang="en-GB" noProof="0" dirty="0" err="1">
                <a:latin typeface="Courier New" panose="02070309020205020404" pitchFamily="49" charset="0"/>
                <a:cs typeface="Courier New" panose="02070309020205020404" pitchFamily="49" charset="0"/>
              </a:rPr>
              <a:t>cb.createQuery</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User.class</a:t>
            </a:r>
            <a:r>
              <a:rPr lang="en-GB" noProof="0" dirty="0">
                <a:latin typeface="Courier New" panose="02070309020205020404" pitchFamily="49" charset="0"/>
                <a:cs typeface="Courier New" panose="02070309020205020404" pitchFamily="49" charset="0"/>
              </a:rPr>
              <a:t>);</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a:latin typeface="Courier New" panose="02070309020205020404" pitchFamily="49" charset="0"/>
                <a:cs typeface="Courier New" panose="02070309020205020404" pitchFamily="49" charset="0"/>
              </a:rPr>
              <a:t>Root&lt;User&gt; root = </a:t>
            </a:r>
            <a:r>
              <a:rPr lang="en-GB" noProof="0" dirty="0" err="1">
                <a:latin typeface="Courier New" panose="02070309020205020404" pitchFamily="49" charset="0"/>
                <a:cs typeface="Courier New" panose="02070309020205020404" pitchFamily="49" charset="0"/>
              </a:rPr>
              <a:t>cq.from</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User.class</a:t>
            </a:r>
            <a:r>
              <a:rPr lang="en-GB" noProof="0" dirty="0">
                <a:latin typeface="Courier New" panose="02070309020205020404" pitchFamily="49" charset="0"/>
                <a:cs typeface="Courier New" panose="02070309020205020404" pitchFamily="49" charset="0"/>
              </a:rPr>
              <a:t>);</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err="1">
                <a:latin typeface="Courier New" panose="02070309020205020404" pitchFamily="49" charset="0"/>
                <a:cs typeface="Courier New" panose="02070309020205020404" pitchFamily="49" charset="0"/>
              </a:rPr>
              <a:t>ParameterExpression</a:t>
            </a:r>
            <a:r>
              <a:rPr lang="en-GB" noProof="0" dirty="0">
                <a:latin typeface="Courier New" panose="02070309020205020404" pitchFamily="49" charset="0"/>
                <a:cs typeface="Courier New" panose="02070309020205020404" pitchFamily="49" charset="0"/>
              </a:rPr>
              <a:t>&lt;Integer&gt; </a:t>
            </a:r>
            <a:r>
              <a:rPr lang="en-GB" noProof="0" dirty="0" err="1">
                <a:latin typeface="Courier New" panose="02070309020205020404" pitchFamily="49" charset="0"/>
                <a:cs typeface="Courier New" panose="02070309020205020404" pitchFamily="49" charset="0"/>
              </a:rPr>
              <a:t>ageParam</a:t>
            </a:r>
            <a:r>
              <a:rPr lang="en-GB" noProof="0" dirty="0">
                <a:latin typeface="Courier New" panose="02070309020205020404" pitchFamily="49" charset="0"/>
                <a:cs typeface="Courier New" panose="02070309020205020404" pitchFamily="49" charset="0"/>
              </a:rPr>
              <a:t> = </a:t>
            </a:r>
            <a:r>
              <a:rPr lang="en-GB" noProof="0" dirty="0" err="1">
                <a:latin typeface="Courier New" panose="02070309020205020404" pitchFamily="49" charset="0"/>
                <a:cs typeface="Courier New" panose="02070309020205020404" pitchFamily="49" charset="0"/>
              </a:rPr>
              <a:t>cb.parameter</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Integer.class</a:t>
            </a:r>
            <a:r>
              <a:rPr lang="en-GB" noProof="0" dirty="0">
                <a:latin typeface="Courier New" panose="02070309020205020404" pitchFamily="49" charset="0"/>
                <a:cs typeface="Courier New" panose="02070309020205020404" pitchFamily="49" charset="0"/>
              </a:rPr>
              <a:t>, "age");</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err="1">
                <a:latin typeface="Courier New" panose="02070309020205020404" pitchFamily="49" charset="0"/>
                <a:cs typeface="Courier New" panose="02070309020205020404" pitchFamily="49" charset="0"/>
              </a:rPr>
              <a:t>cq.select</a:t>
            </a:r>
            <a:r>
              <a:rPr lang="en-GB" noProof="0" dirty="0">
                <a:latin typeface="Courier New" panose="02070309020205020404" pitchFamily="49" charset="0"/>
                <a:cs typeface="Courier New" panose="02070309020205020404" pitchFamily="49" charset="0"/>
              </a:rPr>
              <a:t>(root)</a:t>
            </a:r>
          </a:p>
          <a:p>
            <a:pPr marL="0" indent="0">
              <a:buNone/>
            </a:pPr>
            <a:r>
              <a:rPr lang="en-GB" noProof="0" dirty="0">
                <a:latin typeface="Courier New" panose="02070309020205020404" pitchFamily="49" charset="0"/>
                <a:cs typeface="Courier New" panose="02070309020205020404" pitchFamily="49" charset="0"/>
              </a:rPr>
              <a:t>  .where(</a:t>
            </a:r>
            <a:r>
              <a:rPr lang="en-GB" noProof="0" dirty="0" err="1">
                <a:latin typeface="Courier New" panose="02070309020205020404" pitchFamily="49" charset="0"/>
                <a:cs typeface="Courier New" panose="02070309020205020404" pitchFamily="49" charset="0"/>
              </a:rPr>
              <a:t>cb.greaterThan</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root.get</a:t>
            </a:r>
            <a:r>
              <a:rPr lang="en-GB" noProof="0" dirty="0">
                <a:latin typeface="Courier New" panose="02070309020205020404" pitchFamily="49" charset="0"/>
                <a:cs typeface="Courier New" panose="02070309020205020404" pitchFamily="49" charset="0"/>
              </a:rPr>
              <a:t>("age"), </a:t>
            </a:r>
            <a:r>
              <a:rPr lang="en-GB" noProof="0" dirty="0" err="1">
                <a:latin typeface="Courier New" panose="02070309020205020404" pitchFamily="49" charset="0"/>
                <a:cs typeface="Courier New" panose="02070309020205020404" pitchFamily="49" charset="0"/>
              </a:rPr>
              <a:t>ageParam</a:t>
            </a:r>
            <a:r>
              <a:rPr lang="en-GB" noProof="0" dirty="0">
                <a:latin typeface="Courier New" panose="02070309020205020404" pitchFamily="49" charset="0"/>
                <a:cs typeface="Courier New" panose="02070309020205020404" pitchFamily="49" charset="0"/>
              </a:rPr>
              <a:t>))</a:t>
            </a:r>
          </a:p>
          <a:p>
            <a:pPr marL="0" indent="0">
              <a:buNone/>
            </a:pPr>
            <a:r>
              <a:rPr lang="en-GB" noProof="0" dirty="0">
                <a:latin typeface="Courier New" panose="02070309020205020404" pitchFamily="49" charset="0"/>
                <a:cs typeface="Courier New" panose="02070309020205020404" pitchFamily="49" charset="0"/>
              </a:rPr>
              <a:t>  .</a:t>
            </a:r>
            <a:r>
              <a:rPr lang="en-GB" noProof="0" dirty="0" err="1">
                <a:latin typeface="Courier New" panose="02070309020205020404" pitchFamily="49" charset="0"/>
                <a:cs typeface="Courier New" panose="02070309020205020404" pitchFamily="49" charset="0"/>
              </a:rPr>
              <a:t>orderBy</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cb.asc</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root.get</a:t>
            </a:r>
            <a:r>
              <a:rPr lang="en-GB" noProof="0" dirty="0">
                <a:latin typeface="Courier New" panose="02070309020205020404" pitchFamily="49" charset="0"/>
                <a:cs typeface="Courier New" panose="02070309020205020404" pitchFamily="49" charset="0"/>
              </a:rPr>
              <a:t>("name")));</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err="1">
                <a:latin typeface="Courier New" panose="02070309020205020404" pitchFamily="49" charset="0"/>
                <a:cs typeface="Courier New" panose="02070309020205020404" pitchFamily="49" charset="0"/>
              </a:rPr>
              <a:t>TypedQuery</a:t>
            </a:r>
            <a:r>
              <a:rPr lang="en-GB" noProof="0" dirty="0">
                <a:latin typeface="Courier New" panose="02070309020205020404" pitchFamily="49" charset="0"/>
                <a:cs typeface="Courier New" panose="02070309020205020404" pitchFamily="49" charset="0"/>
              </a:rPr>
              <a:t>&lt;User&gt; query = </a:t>
            </a:r>
            <a:r>
              <a:rPr lang="en-GB" noProof="0" dirty="0" err="1">
                <a:latin typeface="Courier New" panose="02070309020205020404" pitchFamily="49" charset="0"/>
                <a:cs typeface="Courier New" panose="02070309020205020404" pitchFamily="49" charset="0"/>
              </a:rPr>
              <a:t>entityManager.createQuery</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cq</a:t>
            </a:r>
            <a:r>
              <a:rPr lang="en-GB" noProof="0" dirty="0">
                <a:latin typeface="Courier New" panose="02070309020205020404" pitchFamily="49" charset="0"/>
                <a:cs typeface="Courier New" panose="02070309020205020404" pitchFamily="49" charset="0"/>
              </a:rPr>
              <a:t>);</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err="1">
                <a:latin typeface="Courier New" panose="02070309020205020404" pitchFamily="49" charset="0"/>
                <a:cs typeface="Courier New" panose="02070309020205020404" pitchFamily="49" charset="0"/>
              </a:rPr>
              <a:t>query.setParameter</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ageParam</a:t>
            </a:r>
            <a:r>
              <a:rPr lang="en-GB" noProof="0" dirty="0">
                <a:latin typeface="Courier New" panose="02070309020205020404" pitchFamily="49" charset="0"/>
                <a:cs typeface="Courier New" panose="02070309020205020404" pitchFamily="49" charset="0"/>
              </a:rPr>
              <a:t>, 25);</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a:latin typeface="Courier New" panose="02070309020205020404" pitchFamily="49" charset="0"/>
                <a:cs typeface="Courier New" panose="02070309020205020404" pitchFamily="49" charset="0"/>
              </a:rPr>
              <a:t>List&lt;User&gt; results = </a:t>
            </a:r>
            <a:r>
              <a:rPr lang="en-GB" noProof="0" dirty="0" err="1">
                <a:latin typeface="Courier New" panose="02070309020205020404" pitchFamily="49" charset="0"/>
                <a:cs typeface="Courier New" panose="02070309020205020404" pitchFamily="49" charset="0"/>
              </a:rPr>
              <a:t>query.getResultList</a:t>
            </a:r>
            <a:r>
              <a:rPr lang="en-GB" noProof="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121515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31E4-1663-E024-357E-5438E5AD6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FF5EA-F466-1159-A6BB-3955674D4D6F}"/>
              </a:ext>
            </a:extLst>
          </p:cNvPr>
          <p:cNvSpPr>
            <a:spLocks noGrp="1"/>
          </p:cNvSpPr>
          <p:nvPr>
            <p:ph type="title"/>
          </p:nvPr>
        </p:nvSpPr>
        <p:spPr/>
        <p:txBody>
          <a:bodyPr/>
          <a:lstStyle/>
          <a:p>
            <a:r>
              <a:rPr lang="en-GB" noProof="0" dirty="0"/>
              <a:t>ORM- Sessions &amp; Transactions</a:t>
            </a:r>
          </a:p>
        </p:txBody>
      </p:sp>
      <p:sp>
        <p:nvSpPr>
          <p:cNvPr id="4" name="Text Placeholder 3">
            <a:extLst>
              <a:ext uri="{FF2B5EF4-FFF2-40B4-BE49-F238E27FC236}">
                <a16:creationId xmlns:a16="http://schemas.microsoft.com/office/drawing/2014/main" id="{E3C2CD35-7902-2BF9-6493-1256904A18A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189133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22DEE1-879F-B286-981F-C6AA84D7D041}"/>
              </a:ext>
            </a:extLst>
          </p:cNvPr>
          <p:cNvSpPr>
            <a:spLocks noGrp="1"/>
          </p:cNvSpPr>
          <p:nvPr>
            <p:ph type="title"/>
          </p:nvPr>
        </p:nvSpPr>
        <p:spPr/>
        <p:txBody>
          <a:bodyPr/>
          <a:lstStyle/>
          <a:p>
            <a:r>
              <a:rPr lang="en-GB" noProof="0" dirty="0"/>
              <a:t>Session - Definition</a:t>
            </a:r>
          </a:p>
        </p:txBody>
      </p:sp>
      <p:sp>
        <p:nvSpPr>
          <p:cNvPr id="3" name="Segnaposto contenuto 2">
            <a:extLst>
              <a:ext uri="{FF2B5EF4-FFF2-40B4-BE49-F238E27FC236}">
                <a16:creationId xmlns:a16="http://schemas.microsoft.com/office/drawing/2014/main" id="{B7DAACBE-4F5B-CFF6-6AD0-DCE5A4451DAE}"/>
              </a:ext>
            </a:extLst>
          </p:cNvPr>
          <p:cNvSpPr>
            <a:spLocks noGrp="1"/>
          </p:cNvSpPr>
          <p:nvPr>
            <p:ph idx="1"/>
          </p:nvPr>
        </p:nvSpPr>
        <p:spPr/>
        <p:txBody>
          <a:bodyPr>
            <a:normAutofit lnSpcReduction="10000"/>
          </a:bodyPr>
          <a:lstStyle/>
          <a:p>
            <a:pPr marL="0" indent="0">
              <a:buNone/>
            </a:pPr>
            <a:r>
              <a:rPr lang="en-GB" noProof="0" dirty="0"/>
              <a:t>A session (or persistence context) is a temporary environment where an ORM tracks and manages entities during their lifecycle. It acts as an intermediary between the application and the database, ensuring that objects remain synchronized with their corresponding records in the database.</a:t>
            </a:r>
          </a:p>
          <a:p>
            <a:pPr marL="0" indent="0">
              <a:buNone/>
            </a:pPr>
            <a:r>
              <a:rPr lang="en-GB" noProof="0" dirty="0"/>
              <a:t>Its scope and lifespan must be carefully managed to avoid performance issues.</a:t>
            </a:r>
          </a:p>
        </p:txBody>
      </p:sp>
    </p:spTree>
    <p:extLst>
      <p:ext uri="{BB962C8B-B14F-4D97-AF65-F5344CB8AC3E}">
        <p14:creationId xmlns:p14="http://schemas.microsoft.com/office/powerpoint/2010/main" val="33997395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AE5A77-1CF5-4DEE-DD89-926630CECE9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D2FFA86-42F3-8EBB-964A-8C39619C20CD}"/>
              </a:ext>
            </a:extLst>
          </p:cNvPr>
          <p:cNvSpPr>
            <a:spLocks noGrp="1"/>
          </p:cNvSpPr>
          <p:nvPr>
            <p:ph type="title"/>
          </p:nvPr>
        </p:nvSpPr>
        <p:spPr/>
        <p:txBody>
          <a:bodyPr/>
          <a:lstStyle/>
          <a:p>
            <a:r>
              <a:rPr lang="en-GB" noProof="0" dirty="0"/>
              <a:t>Session – Key Features</a:t>
            </a:r>
          </a:p>
        </p:txBody>
      </p:sp>
      <p:sp>
        <p:nvSpPr>
          <p:cNvPr id="3" name="Segnaposto contenuto 2">
            <a:extLst>
              <a:ext uri="{FF2B5EF4-FFF2-40B4-BE49-F238E27FC236}">
                <a16:creationId xmlns:a16="http://schemas.microsoft.com/office/drawing/2014/main" id="{92D12B9A-76C7-47D8-8071-5B0B374AFFA9}"/>
              </a:ext>
            </a:extLst>
          </p:cNvPr>
          <p:cNvSpPr>
            <a:spLocks noGrp="1"/>
          </p:cNvSpPr>
          <p:nvPr>
            <p:ph idx="1"/>
          </p:nvPr>
        </p:nvSpPr>
        <p:spPr/>
        <p:txBody>
          <a:bodyPr>
            <a:normAutofit fontScale="85000" lnSpcReduction="20000"/>
          </a:bodyPr>
          <a:lstStyle/>
          <a:p>
            <a:r>
              <a:rPr lang="en-GB" noProof="0" dirty="0"/>
              <a:t>Manages the identity and lifecycle of entities within an application session</a:t>
            </a:r>
          </a:p>
          <a:p>
            <a:r>
              <a:rPr lang="en-GB" noProof="0" dirty="0"/>
              <a:t>Keeps track of changes made to managed entities</a:t>
            </a:r>
          </a:p>
          <a:p>
            <a:r>
              <a:rPr lang="en-GB" noProof="0" dirty="0"/>
              <a:t>Automatically synchronizes data between in-memory objects and the database</a:t>
            </a:r>
          </a:p>
          <a:p>
            <a:r>
              <a:rPr lang="en-GB" noProof="0" dirty="0"/>
              <a:t>Reduces the need for explicit SQL statements, leveraging automatic persistence</a:t>
            </a:r>
          </a:p>
          <a:p>
            <a:r>
              <a:rPr lang="en-GB" noProof="0" dirty="0"/>
              <a:t>Provides a caching mechanism, reducing unnecessary database queries</a:t>
            </a:r>
          </a:p>
          <a:p>
            <a:r>
              <a:rPr lang="en-GB" noProof="0" dirty="0"/>
              <a:t>Ensures consistency within a transaction, committing or rolling back changes</a:t>
            </a:r>
          </a:p>
        </p:txBody>
      </p:sp>
    </p:spTree>
    <p:extLst>
      <p:ext uri="{BB962C8B-B14F-4D97-AF65-F5344CB8AC3E}">
        <p14:creationId xmlns:p14="http://schemas.microsoft.com/office/powerpoint/2010/main" val="2392634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DB7C5-0237-FDE3-3A3F-8E1F039B209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47C3884-A835-1425-0F0F-2B8D27176291}"/>
              </a:ext>
            </a:extLst>
          </p:cNvPr>
          <p:cNvSpPr>
            <a:spLocks noGrp="1"/>
          </p:cNvSpPr>
          <p:nvPr>
            <p:ph type="title"/>
          </p:nvPr>
        </p:nvSpPr>
        <p:spPr/>
        <p:txBody>
          <a:bodyPr/>
          <a:lstStyle/>
          <a:p>
            <a:r>
              <a:rPr lang="en-GB" noProof="0" dirty="0"/>
              <a:t>Session - Operations</a:t>
            </a:r>
          </a:p>
        </p:txBody>
      </p:sp>
      <p:sp>
        <p:nvSpPr>
          <p:cNvPr id="3" name="Segnaposto contenuto 2">
            <a:extLst>
              <a:ext uri="{FF2B5EF4-FFF2-40B4-BE49-F238E27FC236}">
                <a16:creationId xmlns:a16="http://schemas.microsoft.com/office/drawing/2014/main" id="{3F42132D-BF6B-DA0D-4FD7-5A38ACEC6D75}"/>
              </a:ext>
            </a:extLst>
          </p:cNvPr>
          <p:cNvSpPr>
            <a:spLocks noGrp="1"/>
          </p:cNvSpPr>
          <p:nvPr>
            <p:ph idx="1"/>
          </p:nvPr>
        </p:nvSpPr>
        <p:spPr>
          <a:xfrm>
            <a:off x="685800" y="1295400"/>
            <a:ext cx="8150225" cy="5157936"/>
          </a:xfrm>
        </p:spPr>
        <p:txBody>
          <a:bodyPr>
            <a:normAutofit fontScale="77500" lnSpcReduction="20000"/>
          </a:bodyPr>
          <a:lstStyle/>
          <a:p>
            <a:r>
              <a:rPr lang="en-GB" noProof="0" dirty="0"/>
              <a:t>Opening a session – Creates a new persistence context</a:t>
            </a:r>
          </a:p>
          <a:p>
            <a:r>
              <a:rPr lang="en-GB" noProof="0" dirty="0"/>
              <a:t>Persisting an entity – Registers a new entity for saving</a:t>
            </a:r>
          </a:p>
          <a:p>
            <a:r>
              <a:rPr lang="en-GB" noProof="0" dirty="0"/>
              <a:t>Fetching an entity – Retrieves an entity from the database into the session</a:t>
            </a:r>
          </a:p>
          <a:p>
            <a:r>
              <a:rPr lang="en-GB" noProof="0" dirty="0"/>
              <a:t>Updating an entity – Modifies an entity already tracked by the session</a:t>
            </a:r>
          </a:p>
          <a:p>
            <a:r>
              <a:rPr lang="en-GB" noProof="0" dirty="0"/>
              <a:t>Detaching an entity – Stops tracking an entity without deleting it</a:t>
            </a:r>
          </a:p>
          <a:p>
            <a:r>
              <a:rPr lang="en-GB" noProof="0" dirty="0"/>
              <a:t>Flushing changes – Writes all pending updates to the database</a:t>
            </a:r>
          </a:p>
          <a:p>
            <a:r>
              <a:rPr lang="en-GB" noProof="0" dirty="0"/>
              <a:t>Closing a session – Ends the persistence context and detaches all entities</a:t>
            </a:r>
          </a:p>
        </p:txBody>
      </p:sp>
    </p:spTree>
    <p:extLst>
      <p:ext uri="{BB962C8B-B14F-4D97-AF65-F5344CB8AC3E}">
        <p14:creationId xmlns:p14="http://schemas.microsoft.com/office/powerpoint/2010/main" val="3872891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349C9C-F704-9201-0250-9C726D329D4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7008974-C337-6BA1-BF72-0910FD867243}"/>
              </a:ext>
            </a:extLst>
          </p:cNvPr>
          <p:cNvSpPr>
            <a:spLocks noGrp="1"/>
          </p:cNvSpPr>
          <p:nvPr>
            <p:ph type="title"/>
          </p:nvPr>
        </p:nvSpPr>
        <p:spPr/>
        <p:txBody>
          <a:bodyPr/>
          <a:lstStyle/>
          <a:p>
            <a:r>
              <a:rPr lang="en-GB" noProof="0" dirty="0"/>
              <a:t>Session – Fetching entities</a:t>
            </a:r>
          </a:p>
        </p:txBody>
      </p:sp>
      <p:sp>
        <p:nvSpPr>
          <p:cNvPr id="3" name="Segnaposto contenuto 2">
            <a:extLst>
              <a:ext uri="{FF2B5EF4-FFF2-40B4-BE49-F238E27FC236}">
                <a16:creationId xmlns:a16="http://schemas.microsoft.com/office/drawing/2014/main" id="{30128D9A-4F59-BD24-A6C0-3C1FA709DC09}"/>
              </a:ext>
            </a:extLst>
          </p:cNvPr>
          <p:cNvSpPr>
            <a:spLocks noGrp="1"/>
          </p:cNvSpPr>
          <p:nvPr>
            <p:ph idx="1"/>
          </p:nvPr>
        </p:nvSpPr>
        <p:spPr>
          <a:xfrm>
            <a:off x="685800" y="1295400"/>
            <a:ext cx="8150225" cy="5085928"/>
          </a:xfrm>
        </p:spPr>
        <p:txBody>
          <a:bodyPr>
            <a:normAutofit fontScale="77500" lnSpcReduction="20000"/>
          </a:bodyPr>
          <a:lstStyle/>
          <a:p>
            <a:r>
              <a:rPr lang="en-GB" noProof="0" dirty="0"/>
              <a:t>When an entity is retrieved using an ORM query, it is automatically added to the session, its state is tracked, and any modifications will be synchronized with the database when the session is flushed or committed</a:t>
            </a:r>
          </a:p>
          <a:p>
            <a:r>
              <a:rPr lang="en-GB" noProof="0" dirty="0"/>
              <a:t>If the same entity is requested again during the session, the ORM will return the existing in-memory instance rather than executing another database query.</a:t>
            </a:r>
          </a:p>
          <a:p>
            <a:r>
              <a:rPr lang="en-GB" noProof="0" dirty="0"/>
              <a:t>When executing a native SQL query that retrieves data not directly mapped to a known entity, the results are not added to the session. In such cases, the ORM treats the output as raw data, and no automatic tracking or synchronization occurs.</a:t>
            </a:r>
          </a:p>
        </p:txBody>
      </p:sp>
    </p:spTree>
    <p:extLst>
      <p:ext uri="{BB962C8B-B14F-4D97-AF65-F5344CB8AC3E}">
        <p14:creationId xmlns:p14="http://schemas.microsoft.com/office/powerpoint/2010/main" val="41313228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4994DCF-6F54-FCD7-B466-5F9A23C22A6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CB00796-D54B-6FA5-6E61-F1BC9AA36153}"/>
              </a:ext>
            </a:extLst>
          </p:cNvPr>
          <p:cNvSpPr>
            <a:spLocks noGrp="1"/>
          </p:cNvSpPr>
          <p:nvPr>
            <p:ph type="title"/>
          </p:nvPr>
        </p:nvSpPr>
        <p:spPr/>
        <p:txBody>
          <a:bodyPr/>
          <a:lstStyle/>
          <a:p>
            <a:r>
              <a:rPr lang="en-GB" noProof="0" dirty="0"/>
              <a:t>Session – Detaching entities</a:t>
            </a:r>
          </a:p>
        </p:txBody>
      </p:sp>
      <p:sp>
        <p:nvSpPr>
          <p:cNvPr id="3" name="Segnaposto contenuto 2">
            <a:extLst>
              <a:ext uri="{FF2B5EF4-FFF2-40B4-BE49-F238E27FC236}">
                <a16:creationId xmlns:a16="http://schemas.microsoft.com/office/drawing/2014/main" id="{75917D25-43F6-1CC8-2269-F35C86B363EE}"/>
              </a:ext>
            </a:extLst>
          </p:cNvPr>
          <p:cNvSpPr>
            <a:spLocks noGrp="1"/>
          </p:cNvSpPr>
          <p:nvPr>
            <p:ph idx="1"/>
          </p:nvPr>
        </p:nvSpPr>
        <p:spPr>
          <a:xfrm>
            <a:off x="685800" y="1295400"/>
            <a:ext cx="8150225" cy="5157936"/>
          </a:xfrm>
        </p:spPr>
        <p:txBody>
          <a:bodyPr>
            <a:normAutofit fontScale="70000" lnSpcReduction="20000"/>
          </a:bodyPr>
          <a:lstStyle/>
          <a:p>
            <a:r>
              <a:rPr lang="en-GB" noProof="0" dirty="0"/>
              <a:t>Detaching an entity means removing it from the session while keeping it in memory. Once detached, the ORM no longer tracks changes made to the entity, and these modifications will not be reflected in the database unless the entity is reattached to a session.</a:t>
            </a:r>
          </a:p>
          <a:p>
            <a:r>
              <a:rPr lang="en-GB" noProof="0" dirty="0"/>
              <a:t>Detaching is not removing. Removing an entity means marking it for deletion from the database. It is still tracked by the session until the session is flushed or committed, at which point the corresponding record is physically deleted from the database.</a:t>
            </a:r>
          </a:p>
          <a:p>
            <a:r>
              <a:rPr lang="en-GB" noProof="0" dirty="0"/>
              <a:t>Detaching only affects the ORM’s ability to track changes, while removing permanently deletes the entity’s data from the database.</a:t>
            </a:r>
          </a:p>
          <a:p>
            <a:r>
              <a:rPr lang="en-GB" noProof="0" dirty="0"/>
              <a:t>Detaching can be useful when dealing with large datasets to reduce memory consumption, whereas removing is necessary when an entity is no longer needed in the system.</a:t>
            </a:r>
          </a:p>
        </p:txBody>
      </p:sp>
    </p:spTree>
    <p:extLst>
      <p:ext uri="{BB962C8B-B14F-4D97-AF65-F5344CB8AC3E}">
        <p14:creationId xmlns:p14="http://schemas.microsoft.com/office/powerpoint/2010/main" val="35500539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4D51CA2-FEB5-A480-4AA6-0FD2C3605F3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2616B42-709D-8273-B488-5C4A1867CEA7}"/>
              </a:ext>
            </a:extLst>
          </p:cNvPr>
          <p:cNvSpPr>
            <a:spLocks noGrp="1"/>
          </p:cNvSpPr>
          <p:nvPr>
            <p:ph type="title"/>
          </p:nvPr>
        </p:nvSpPr>
        <p:spPr/>
        <p:txBody>
          <a:bodyPr/>
          <a:lstStyle/>
          <a:p>
            <a:r>
              <a:rPr lang="en-GB" noProof="0" dirty="0"/>
              <a:t>Short-lived Sessions</a:t>
            </a:r>
          </a:p>
        </p:txBody>
      </p:sp>
      <p:sp>
        <p:nvSpPr>
          <p:cNvPr id="3" name="Segnaposto contenuto 2">
            <a:extLst>
              <a:ext uri="{FF2B5EF4-FFF2-40B4-BE49-F238E27FC236}">
                <a16:creationId xmlns:a16="http://schemas.microsoft.com/office/drawing/2014/main" id="{92A44F40-5B36-6425-6C10-FBED4369B956}"/>
              </a:ext>
            </a:extLst>
          </p:cNvPr>
          <p:cNvSpPr>
            <a:spLocks noGrp="1"/>
          </p:cNvSpPr>
          <p:nvPr>
            <p:ph idx="1"/>
          </p:nvPr>
        </p:nvSpPr>
        <p:spPr>
          <a:xfrm>
            <a:off x="685800" y="1295400"/>
            <a:ext cx="8150225" cy="5157936"/>
          </a:xfrm>
        </p:spPr>
        <p:txBody>
          <a:bodyPr>
            <a:normAutofit fontScale="92500" lnSpcReduction="10000"/>
          </a:bodyPr>
          <a:lstStyle/>
          <a:p>
            <a:r>
              <a:rPr lang="en-GB" noProof="0" dirty="0"/>
              <a:t>A new session is created for each operation (or web request) and closed immediately after.</a:t>
            </a:r>
          </a:p>
          <a:p>
            <a:r>
              <a:rPr lang="en-GB" noProof="0" dirty="0"/>
              <a:t>This ensures that entities are not kept in memory longer than necessary.</a:t>
            </a:r>
          </a:p>
          <a:p>
            <a:r>
              <a:rPr lang="en-GB" noProof="0" dirty="0"/>
              <a:t>Prevents excessive memory consumption and avoids issues such as long-running transactions.</a:t>
            </a:r>
          </a:p>
          <a:p>
            <a:r>
              <a:rPr lang="en-GB" noProof="0" dirty="0"/>
              <a:t>Recommended for most applications, especially web-based systems where each request is stateless.</a:t>
            </a:r>
          </a:p>
        </p:txBody>
      </p:sp>
    </p:spTree>
    <p:extLst>
      <p:ext uri="{BB962C8B-B14F-4D97-AF65-F5344CB8AC3E}">
        <p14:creationId xmlns:p14="http://schemas.microsoft.com/office/powerpoint/2010/main" val="34814514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7EF1325-13F4-44DD-2333-A4F5EF210C4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77BA309-3A0C-926D-CE37-AE3E8EB8578B}"/>
              </a:ext>
            </a:extLst>
          </p:cNvPr>
          <p:cNvSpPr>
            <a:spLocks noGrp="1"/>
          </p:cNvSpPr>
          <p:nvPr>
            <p:ph type="title"/>
          </p:nvPr>
        </p:nvSpPr>
        <p:spPr/>
        <p:txBody>
          <a:bodyPr/>
          <a:lstStyle/>
          <a:p>
            <a:r>
              <a:rPr lang="en-GB" noProof="0" dirty="0"/>
              <a:t>Long-lived Sessions</a:t>
            </a:r>
          </a:p>
        </p:txBody>
      </p:sp>
      <p:sp>
        <p:nvSpPr>
          <p:cNvPr id="3" name="Segnaposto contenuto 2">
            <a:extLst>
              <a:ext uri="{FF2B5EF4-FFF2-40B4-BE49-F238E27FC236}">
                <a16:creationId xmlns:a16="http://schemas.microsoft.com/office/drawing/2014/main" id="{F0E5DDE9-A4AF-FD38-5448-6983E29B6B80}"/>
              </a:ext>
            </a:extLst>
          </p:cNvPr>
          <p:cNvSpPr>
            <a:spLocks noGrp="1"/>
          </p:cNvSpPr>
          <p:nvPr>
            <p:ph idx="1"/>
          </p:nvPr>
        </p:nvSpPr>
        <p:spPr>
          <a:xfrm>
            <a:off x="685800" y="1295400"/>
            <a:ext cx="8150225" cy="5157936"/>
          </a:xfrm>
        </p:spPr>
        <p:txBody>
          <a:bodyPr>
            <a:normAutofit fontScale="92500" lnSpcReduction="10000"/>
          </a:bodyPr>
          <a:lstStyle/>
          <a:p>
            <a:r>
              <a:rPr lang="en-GB" noProof="0" dirty="0"/>
              <a:t>The session remains open for a longer period, potentially throughout a user session or across multiple operations.</a:t>
            </a:r>
          </a:p>
          <a:p>
            <a:r>
              <a:rPr lang="en-GB" noProof="0" dirty="0"/>
              <a:t>This allows entities to be reused without repeated database queries.</a:t>
            </a:r>
          </a:p>
          <a:p>
            <a:r>
              <a:rPr lang="en-GB" noProof="0" dirty="0"/>
              <a:t>However, it increases the risk of memory leaks, concurrency issues, and stale data.</a:t>
            </a:r>
          </a:p>
          <a:p>
            <a:r>
              <a:rPr lang="en-GB" noProof="0" dirty="0"/>
              <a:t>Can be useful in specific cases, such as batch processing or maintaining user state in desktop applications.</a:t>
            </a:r>
          </a:p>
        </p:txBody>
      </p:sp>
    </p:spTree>
    <p:extLst>
      <p:ext uri="{BB962C8B-B14F-4D97-AF65-F5344CB8AC3E}">
        <p14:creationId xmlns:p14="http://schemas.microsoft.com/office/powerpoint/2010/main" val="38198952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902E6F-9B97-90B4-EE04-07B655F0C0D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8C6260D-E340-6F1F-1C6F-489752B290DE}"/>
              </a:ext>
            </a:extLst>
          </p:cNvPr>
          <p:cNvSpPr>
            <a:spLocks noGrp="1"/>
          </p:cNvSpPr>
          <p:nvPr>
            <p:ph type="title"/>
          </p:nvPr>
        </p:nvSpPr>
        <p:spPr/>
        <p:txBody>
          <a:bodyPr/>
          <a:lstStyle/>
          <a:p>
            <a:r>
              <a:rPr lang="en-GB" noProof="0" dirty="0"/>
              <a:t>Session – Best practices</a:t>
            </a:r>
          </a:p>
        </p:txBody>
      </p:sp>
      <p:sp>
        <p:nvSpPr>
          <p:cNvPr id="3" name="Segnaposto contenuto 2">
            <a:extLst>
              <a:ext uri="{FF2B5EF4-FFF2-40B4-BE49-F238E27FC236}">
                <a16:creationId xmlns:a16="http://schemas.microsoft.com/office/drawing/2014/main" id="{04432068-E2FE-07C9-1219-5718BC085D3B}"/>
              </a:ext>
            </a:extLst>
          </p:cNvPr>
          <p:cNvSpPr>
            <a:spLocks noGrp="1"/>
          </p:cNvSpPr>
          <p:nvPr>
            <p:ph idx="1"/>
          </p:nvPr>
        </p:nvSpPr>
        <p:spPr>
          <a:xfrm>
            <a:off x="685800" y="1196752"/>
            <a:ext cx="8150225" cy="5301952"/>
          </a:xfrm>
        </p:spPr>
        <p:txBody>
          <a:bodyPr>
            <a:normAutofit fontScale="85000" lnSpcReduction="20000"/>
          </a:bodyPr>
          <a:lstStyle/>
          <a:p>
            <a:r>
              <a:rPr lang="en-GB" noProof="0" dirty="0"/>
              <a:t>Use short-lived sessions by default unless there is a clear need for long-lived sessions.</a:t>
            </a:r>
          </a:p>
          <a:p>
            <a:r>
              <a:rPr lang="en-GB" noProof="0" dirty="0"/>
              <a:t>Avoid keeping a session open longer than necessary to reduce memory consumption.</a:t>
            </a:r>
          </a:p>
          <a:p>
            <a:r>
              <a:rPr lang="en-GB" noProof="0" dirty="0"/>
              <a:t>Flush and commit changes regularly to maintain database consistency.</a:t>
            </a:r>
          </a:p>
          <a:p>
            <a:r>
              <a:rPr lang="en-GB" noProof="0" dirty="0"/>
              <a:t>Be cautious with lazy loading when using detached entities, as it may trigger unexpected database queries outside of an active session.</a:t>
            </a:r>
          </a:p>
          <a:p>
            <a:r>
              <a:rPr lang="en-GB" b="1" u="sng" noProof="0" dirty="0"/>
              <a:t>Modern ORM frameworks manage session automatically</a:t>
            </a:r>
          </a:p>
          <a:p>
            <a:r>
              <a:rPr lang="en-GB" noProof="0" dirty="0"/>
              <a:t>Manual session management can be necessary to optimize performances</a:t>
            </a:r>
          </a:p>
        </p:txBody>
      </p:sp>
    </p:spTree>
    <p:extLst>
      <p:ext uri="{BB962C8B-B14F-4D97-AF65-F5344CB8AC3E}">
        <p14:creationId xmlns:p14="http://schemas.microsoft.com/office/powerpoint/2010/main" val="19461964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F4B84-7153-3980-6536-53BE0E692CE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4E9561E-1311-FEED-38A3-72E8F996FA1E}"/>
              </a:ext>
            </a:extLst>
          </p:cNvPr>
          <p:cNvSpPr>
            <a:spLocks noGrp="1"/>
          </p:cNvSpPr>
          <p:nvPr>
            <p:ph type="title"/>
          </p:nvPr>
        </p:nvSpPr>
        <p:spPr/>
        <p:txBody>
          <a:bodyPr/>
          <a:lstStyle/>
          <a:p>
            <a:r>
              <a:rPr lang="en-GB" noProof="0" dirty="0"/>
              <a:t>Transaction - Definition</a:t>
            </a:r>
          </a:p>
        </p:txBody>
      </p:sp>
      <p:sp>
        <p:nvSpPr>
          <p:cNvPr id="3" name="Segnaposto contenuto 2">
            <a:extLst>
              <a:ext uri="{FF2B5EF4-FFF2-40B4-BE49-F238E27FC236}">
                <a16:creationId xmlns:a16="http://schemas.microsoft.com/office/drawing/2014/main" id="{CCB68B86-7872-2C03-C63B-A326F1262DC5}"/>
              </a:ext>
            </a:extLst>
          </p:cNvPr>
          <p:cNvSpPr>
            <a:spLocks noGrp="1"/>
          </p:cNvSpPr>
          <p:nvPr>
            <p:ph idx="1"/>
          </p:nvPr>
        </p:nvSpPr>
        <p:spPr/>
        <p:txBody>
          <a:bodyPr>
            <a:normAutofit fontScale="92500"/>
          </a:bodyPr>
          <a:lstStyle/>
          <a:p>
            <a:pPr marL="0" indent="0">
              <a:buNone/>
            </a:pPr>
            <a:r>
              <a:rPr lang="en-GB" noProof="0" dirty="0"/>
              <a:t>A transaction is a sequence of one or more database operations that are executed as a single unit of work. Transactions, following the ACID properties, ensure data integrity by guaranteeing that either all operations within the transaction are successfully completed or none of them take effect. This prevents situations where partial updates could leave the database in an inconsistent state.</a:t>
            </a:r>
          </a:p>
        </p:txBody>
      </p:sp>
    </p:spTree>
    <p:extLst>
      <p:ext uri="{BB962C8B-B14F-4D97-AF65-F5344CB8AC3E}">
        <p14:creationId xmlns:p14="http://schemas.microsoft.com/office/powerpoint/2010/main" val="40761260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BE8EF6-F90D-CD44-4806-753E039EDA3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B730D2F-703D-97E3-A01D-DA6B45A50408}"/>
              </a:ext>
            </a:extLst>
          </p:cNvPr>
          <p:cNvSpPr>
            <a:spLocks noGrp="1"/>
          </p:cNvSpPr>
          <p:nvPr>
            <p:ph type="title"/>
          </p:nvPr>
        </p:nvSpPr>
        <p:spPr/>
        <p:txBody>
          <a:bodyPr/>
          <a:lstStyle/>
          <a:p>
            <a:r>
              <a:rPr lang="en-GB" noProof="0" dirty="0"/>
              <a:t>Transaction – Key Features</a:t>
            </a:r>
          </a:p>
        </p:txBody>
      </p:sp>
      <p:sp>
        <p:nvSpPr>
          <p:cNvPr id="3" name="Segnaposto contenuto 2">
            <a:extLst>
              <a:ext uri="{FF2B5EF4-FFF2-40B4-BE49-F238E27FC236}">
                <a16:creationId xmlns:a16="http://schemas.microsoft.com/office/drawing/2014/main" id="{0004E9A3-5C37-368C-6786-A320D6F7E7F9}"/>
              </a:ext>
            </a:extLst>
          </p:cNvPr>
          <p:cNvSpPr>
            <a:spLocks noGrp="1"/>
          </p:cNvSpPr>
          <p:nvPr>
            <p:ph idx="1"/>
          </p:nvPr>
        </p:nvSpPr>
        <p:spPr/>
        <p:txBody>
          <a:bodyPr>
            <a:normAutofit fontScale="92500" lnSpcReduction="20000"/>
          </a:bodyPr>
          <a:lstStyle/>
          <a:p>
            <a:r>
              <a:rPr lang="en-GB" noProof="0" dirty="0"/>
              <a:t>Transactions ensure data integrity by grouping multiple operations together.</a:t>
            </a:r>
          </a:p>
          <a:p>
            <a:r>
              <a:rPr lang="en-GB" noProof="0" dirty="0"/>
              <a:t>A transaction must be explicitly committed to persist changes or rolled back to undo them.</a:t>
            </a:r>
          </a:p>
          <a:p>
            <a:r>
              <a:rPr lang="en-GB" noProof="0" dirty="0"/>
              <a:t>If an error occurs during a transaction, the system can abort all changes to maintain database consistency.</a:t>
            </a:r>
          </a:p>
          <a:p>
            <a:r>
              <a:rPr lang="en-GB" noProof="0" dirty="0"/>
              <a:t>Transactions typically operate within an active session, meaning they are tied to the ORM’s persistence context.</a:t>
            </a:r>
          </a:p>
          <a:p>
            <a:pPr marL="0" indent="0">
              <a:buNone/>
            </a:pPr>
            <a:endParaRPr lang="en-GB" noProof="0" dirty="0"/>
          </a:p>
        </p:txBody>
      </p:sp>
    </p:spTree>
    <p:extLst>
      <p:ext uri="{BB962C8B-B14F-4D97-AF65-F5344CB8AC3E}">
        <p14:creationId xmlns:p14="http://schemas.microsoft.com/office/powerpoint/2010/main" val="32480742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95EC17-B701-9B21-69C1-D8CE8F8E3C6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B77DC2D-D321-0ACD-B553-FB8385BD3EB6}"/>
              </a:ext>
            </a:extLst>
          </p:cNvPr>
          <p:cNvSpPr>
            <a:spLocks noGrp="1"/>
          </p:cNvSpPr>
          <p:nvPr>
            <p:ph type="title"/>
          </p:nvPr>
        </p:nvSpPr>
        <p:spPr/>
        <p:txBody>
          <a:bodyPr/>
          <a:lstStyle/>
          <a:p>
            <a:r>
              <a:rPr lang="en-GB" noProof="0" dirty="0"/>
              <a:t>Transaction – Operations</a:t>
            </a:r>
          </a:p>
        </p:txBody>
      </p:sp>
      <p:sp>
        <p:nvSpPr>
          <p:cNvPr id="3" name="Segnaposto contenuto 2">
            <a:extLst>
              <a:ext uri="{FF2B5EF4-FFF2-40B4-BE49-F238E27FC236}">
                <a16:creationId xmlns:a16="http://schemas.microsoft.com/office/drawing/2014/main" id="{5CBB8388-99A8-627F-B05B-F306D54A9CB2}"/>
              </a:ext>
            </a:extLst>
          </p:cNvPr>
          <p:cNvSpPr>
            <a:spLocks noGrp="1"/>
          </p:cNvSpPr>
          <p:nvPr>
            <p:ph idx="1"/>
          </p:nvPr>
        </p:nvSpPr>
        <p:spPr/>
        <p:txBody>
          <a:bodyPr>
            <a:normAutofit fontScale="92500" lnSpcReduction="20000"/>
          </a:bodyPr>
          <a:lstStyle/>
          <a:p>
            <a:r>
              <a:rPr lang="en-GB" noProof="0" dirty="0"/>
              <a:t>Begin – Starts a new transaction.</a:t>
            </a:r>
          </a:p>
          <a:p>
            <a:r>
              <a:rPr lang="en-GB" noProof="0" dirty="0"/>
              <a:t>Commit – Saves all changes made within the transaction permanently.</a:t>
            </a:r>
          </a:p>
          <a:p>
            <a:r>
              <a:rPr lang="en-GB" noProof="0" dirty="0"/>
              <a:t>Rollback – Reverts all changes made within the transaction.</a:t>
            </a:r>
          </a:p>
          <a:p>
            <a:r>
              <a:rPr lang="en-GB" noProof="0" dirty="0" err="1"/>
              <a:t>Savepoint</a:t>
            </a:r>
            <a:r>
              <a:rPr lang="en-GB" noProof="0" dirty="0"/>
              <a:t> – Creates a checkpoint within a transaction to allow partial rollbacks.</a:t>
            </a:r>
          </a:p>
          <a:p>
            <a:r>
              <a:rPr lang="en-GB" noProof="0" dirty="0"/>
              <a:t>Isolation Level Configuration– Defines how transactions interact with each other to manage concurrent access to data.</a:t>
            </a:r>
          </a:p>
        </p:txBody>
      </p:sp>
    </p:spTree>
    <p:extLst>
      <p:ext uri="{BB962C8B-B14F-4D97-AF65-F5344CB8AC3E}">
        <p14:creationId xmlns:p14="http://schemas.microsoft.com/office/powerpoint/2010/main" val="31819200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261438-48CC-3FB1-35DE-CF305A7680A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BA50120-E396-FF65-F74E-1A5F041DE88A}"/>
              </a:ext>
            </a:extLst>
          </p:cNvPr>
          <p:cNvSpPr>
            <a:spLocks noGrp="1"/>
          </p:cNvSpPr>
          <p:nvPr>
            <p:ph type="title"/>
          </p:nvPr>
        </p:nvSpPr>
        <p:spPr/>
        <p:txBody>
          <a:bodyPr>
            <a:normAutofit fontScale="90000"/>
          </a:bodyPr>
          <a:lstStyle/>
          <a:p>
            <a:r>
              <a:rPr lang="en-GB" noProof="0" dirty="0"/>
              <a:t>Transaction – Concurrency Issues</a:t>
            </a:r>
          </a:p>
        </p:txBody>
      </p:sp>
      <p:sp>
        <p:nvSpPr>
          <p:cNvPr id="3" name="Segnaposto contenuto 2">
            <a:extLst>
              <a:ext uri="{FF2B5EF4-FFF2-40B4-BE49-F238E27FC236}">
                <a16:creationId xmlns:a16="http://schemas.microsoft.com/office/drawing/2014/main" id="{7BABF25B-A0A1-CEA5-7CC2-6F97569E4280}"/>
              </a:ext>
            </a:extLst>
          </p:cNvPr>
          <p:cNvSpPr>
            <a:spLocks noGrp="1"/>
          </p:cNvSpPr>
          <p:nvPr>
            <p:ph idx="1"/>
          </p:nvPr>
        </p:nvSpPr>
        <p:spPr/>
        <p:txBody>
          <a:bodyPr>
            <a:normAutofit fontScale="85000" lnSpcReduction="20000"/>
          </a:bodyPr>
          <a:lstStyle/>
          <a:p>
            <a:r>
              <a:rPr lang="en-GB" noProof="0" dirty="0"/>
              <a:t>In a multi-user database system, multiple transactions can be executed concurrently. The most common concurrency issues are:</a:t>
            </a:r>
          </a:p>
          <a:p>
            <a:pPr lvl="1"/>
            <a:r>
              <a:rPr lang="en-GB" noProof="0" dirty="0"/>
              <a:t>Dirty Reads – A transaction reads uncommitted changes from another transaction.</a:t>
            </a:r>
          </a:p>
          <a:p>
            <a:pPr lvl="1"/>
            <a:r>
              <a:rPr lang="en-GB" noProof="0" dirty="0"/>
              <a:t>Non-Repeatable Reads – A transaction reads the same row twice but gets different values because another transaction modified it in between.</a:t>
            </a:r>
          </a:p>
          <a:p>
            <a:pPr lvl="1"/>
            <a:r>
              <a:rPr lang="en-GB" noProof="0" dirty="0"/>
              <a:t>Phantom Reads – A transaction executes the same query twice and gets different results because another transaction inserted or deleted rows.</a:t>
            </a:r>
          </a:p>
        </p:txBody>
      </p:sp>
    </p:spTree>
    <p:extLst>
      <p:ext uri="{BB962C8B-B14F-4D97-AF65-F5344CB8AC3E}">
        <p14:creationId xmlns:p14="http://schemas.microsoft.com/office/powerpoint/2010/main" val="38618083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5DDCFB-76BC-723E-722A-21334D4B808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156D0CD-04E1-3A3F-45E8-977FC43C2440}"/>
              </a:ext>
            </a:extLst>
          </p:cNvPr>
          <p:cNvSpPr>
            <a:spLocks noGrp="1"/>
          </p:cNvSpPr>
          <p:nvPr>
            <p:ph type="title"/>
          </p:nvPr>
        </p:nvSpPr>
        <p:spPr/>
        <p:txBody>
          <a:bodyPr/>
          <a:lstStyle/>
          <a:p>
            <a:r>
              <a:rPr lang="en-GB" noProof="0" dirty="0"/>
              <a:t>Transaction – Isolation Levels</a:t>
            </a:r>
          </a:p>
        </p:txBody>
      </p:sp>
      <p:sp>
        <p:nvSpPr>
          <p:cNvPr id="3" name="Segnaposto contenuto 2">
            <a:extLst>
              <a:ext uri="{FF2B5EF4-FFF2-40B4-BE49-F238E27FC236}">
                <a16:creationId xmlns:a16="http://schemas.microsoft.com/office/drawing/2014/main" id="{3979F7FA-32F1-89A1-6AE7-7468B89E4774}"/>
              </a:ext>
            </a:extLst>
          </p:cNvPr>
          <p:cNvSpPr>
            <a:spLocks noGrp="1"/>
          </p:cNvSpPr>
          <p:nvPr>
            <p:ph idx="1"/>
          </p:nvPr>
        </p:nvSpPr>
        <p:spPr/>
        <p:txBody>
          <a:bodyPr>
            <a:normAutofit/>
          </a:bodyPr>
          <a:lstStyle/>
          <a:p>
            <a:r>
              <a:rPr lang="en-GB" noProof="0" dirty="0"/>
              <a:t>Isolation Levels define how transactions interact with each other and how data consistency is maintained in concurrent operations.</a:t>
            </a:r>
          </a:p>
          <a:p>
            <a:r>
              <a:rPr lang="en-GB" noProof="0" dirty="0"/>
              <a:t>A lower isolation level increases performance but allows more concurrency issues, while a higher isolation level ensures stronger data integrity but may reduce performance.</a:t>
            </a:r>
          </a:p>
        </p:txBody>
      </p:sp>
    </p:spTree>
    <p:extLst>
      <p:ext uri="{BB962C8B-B14F-4D97-AF65-F5344CB8AC3E}">
        <p14:creationId xmlns:p14="http://schemas.microsoft.com/office/powerpoint/2010/main" val="1496739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33F7424-B9CC-237D-EAE5-2155C292F9E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9404813-A49D-A2F5-BE80-3DAAAF95C9B3}"/>
              </a:ext>
            </a:extLst>
          </p:cNvPr>
          <p:cNvSpPr>
            <a:spLocks noGrp="1"/>
          </p:cNvSpPr>
          <p:nvPr>
            <p:ph type="title"/>
          </p:nvPr>
        </p:nvSpPr>
        <p:spPr/>
        <p:txBody>
          <a:bodyPr/>
          <a:lstStyle/>
          <a:p>
            <a:r>
              <a:rPr lang="en-GB" noProof="0" dirty="0"/>
              <a:t>Transaction – Isolation Levels</a:t>
            </a:r>
          </a:p>
        </p:txBody>
      </p:sp>
      <p:sp>
        <p:nvSpPr>
          <p:cNvPr id="3" name="Segnaposto contenuto 2">
            <a:extLst>
              <a:ext uri="{FF2B5EF4-FFF2-40B4-BE49-F238E27FC236}">
                <a16:creationId xmlns:a16="http://schemas.microsoft.com/office/drawing/2014/main" id="{01A25B77-6F36-C5B8-FDDD-DB2D05D83BCD}"/>
              </a:ext>
            </a:extLst>
          </p:cNvPr>
          <p:cNvSpPr>
            <a:spLocks noGrp="1"/>
          </p:cNvSpPr>
          <p:nvPr>
            <p:ph idx="1"/>
          </p:nvPr>
        </p:nvSpPr>
        <p:spPr>
          <a:xfrm>
            <a:off x="685800" y="1295400"/>
            <a:ext cx="8150225" cy="5157936"/>
          </a:xfrm>
        </p:spPr>
        <p:txBody>
          <a:bodyPr>
            <a:normAutofit fontScale="55000" lnSpcReduction="20000"/>
          </a:bodyPr>
          <a:lstStyle/>
          <a:p>
            <a:r>
              <a:rPr lang="en-GB" noProof="0" dirty="0"/>
              <a:t>Read Uncommitted</a:t>
            </a:r>
          </a:p>
          <a:p>
            <a:pPr lvl="1"/>
            <a:r>
              <a:rPr lang="en-GB" noProof="0" dirty="0"/>
              <a:t>Transactions can read uncommitted changes from other transactions (dirty reads allowed).</a:t>
            </a:r>
          </a:p>
          <a:p>
            <a:pPr lvl="1"/>
            <a:r>
              <a:rPr lang="en-GB" noProof="0" dirty="0"/>
              <a:t>Highest concurrency, lowest data consistency.</a:t>
            </a:r>
          </a:p>
          <a:p>
            <a:r>
              <a:rPr lang="en-GB" noProof="0" dirty="0"/>
              <a:t>Read Committed</a:t>
            </a:r>
          </a:p>
          <a:p>
            <a:pPr lvl="1"/>
            <a:r>
              <a:rPr lang="en-GB" noProof="0" dirty="0"/>
              <a:t>A transaction can only read committed changes (no dirty reads).</a:t>
            </a:r>
          </a:p>
          <a:p>
            <a:pPr lvl="1"/>
            <a:r>
              <a:rPr lang="en-GB" noProof="0" dirty="0"/>
              <a:t>However, non-repeatable reads and phantom reads can still occur.</a:t>
            </a:r>
          </a:p>
          <a:p>
            <a:r>
              <a:rPr lang="en-GB" noProof="0" dirty="0"/>
              <a:t>Repeatable Read</a:t>
            </a:r>
          </a:p>
          <a:p>
            <a:pPr lvl="1"/>
            <a:r>
              <a:rPr lang="en-GB" noProof="0" dirty="0"/>
              <a:t>Prevents dirty reads and non-repeatable reads by ensuring that a row read within a transaction does not change until the transaction completes.</a:t>
            </a:r>
          </a:p>
          <a:p>
            <a:pPr lvl="1"/>
            <a:r>
              <a:rPr lang="en-GB" noProof="0" dirty="0"/>
              <a:t>Phantom reads may still occur.</a:t>
            </a:r>
          </a:p>
          <a:p>
            <a:r>
              <a:rPr lang="en-GB" noProof="0" dirty="0"/>
              <a:t>Serializable</a:t>
            </a:r>
          </a:p>
          <a:p>
            <a:pPr lvl="1"/>
            <a:r>
              <a:rPr lang="en-GB" noProof="0" dirty="0"/>
              <a:t>The strictest level: transactions are fully isolated from each other by locking rows or entire tables.</a:t>
            </a:r>
          </a:p>
          <a:p>
            <a:pPr lvl="1"/>
            <a:r>
              <a:rPr lang="en-GB" noProof="0" dirty="0"/>
              <a:t>Prevents all concurrency issues but significantly reduces parallelism.</a:t>
            </a:r>
          </a:p>
          <a:p>
            <a:r>
              <a:rPr lang="en-GB" noProof="0" dirty="0"/>
              <a:t>Isolation level depends on the application’s performance and consistency requirements.</a:t>
            </a:r>
          </a:p>
          <a:p>
            <a:pPr lvl="1"/>
            <a:r>
              <a:rPr lang="en-GB" noProof="0" dirty="0"/>
              <a:t>High-performance application: Read Committed</a:t>
            </a:r>
          </a:p>
          <a:p>
            <a:pPr lvl="1"/>
            <a:r>
              <a:rPr lang="en-GB" noProof="0" dirty="0"/>
              <a:t>Data-critical applications: Serializable</a:t>
            </a:r>
          </a:p>
        </p:txBody>
      </p:sp>
    </p:spTree>
    <p:extLst>
      <p:ext uri="{BB962C8B-B14F-4D97-AF65-F5344CB8AC3E}">
        <p14:creationId xmlns:p14="http://schemas.microsoft.com/office/powerpoint/2010/main" val="35856359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AD8CE4D-5B0E-CC13-6A98-5B46507A97F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935D4C9-91C4-8763-83C9-FE5AB9C6B68E}"/>
              </a:ext>
            </a:extLst>
          </p:cNvPr>
          <p:cNvSpPr>
            <a:spLocks noGrp="1"/>
          </p:cNvSpPr>
          <p:nvPr>
            <p:ph type="title"/>
          </p:nvPr>
        </p:nvSpPr>
        <p:spPr/>
        <p:txBody>
          <a:bodyPr/>
          <a:lstStyle/>
          <a:p>
            <a:r>
              <a:rPr lang="en-GB" noProof="0" dirty="0"/>
              <a:t>Transaction – Best Practices</a:t>
            </a:r>
          </a:p>
        </p:txBody>
      </p:sp>
      <p:sp>
        <p:nvSpPr>
          <p:cNvPr id="3" name="Segnaposto contenuto 2">
            <a:extLst>
              <a:ext uri="{FF2B5EF4-FFF2-40B4-BE49-F238E27FC236}">
                <a16:creationId xmlns:a16="http://schemas.microsoft.com/office/drawing/2014/main" id="{F8412EF4-3A69-E7A3-2042-DDEDF21019C7}"/>
              </a:ext>
            </a:extLst>
          </p:cNvPr>
          <p:cNvSpPr>
            <a:spLocks noGrp="1"/>
          </p:cNvSpPr>
          <p:nvPr>
            <p:ph idx="1"/>
          </p:nvPr>
        </p:nvSpPr>
        <p:spPr>
          <a:xfrm>
            <a:off x="685800" y="1295400"/>
            <a:ext cx="8150225" cy="5157936"/>
          </a:xfrm>
        </p:spPr>
        <p:txBody>
          <a:bodyPr>
            <a:normAutofit fontScale="92500" lnSpcReduction="10000"/>
          </a:bodyPr>
          <a:lstStyle/>
          <a:p>
            <a:r>
              <a:rPr lang="en-GB" noProof="0" dirty="0"/>
              <a:t>Keep transactions as short as possible to avoid locking resources for too long.</a:t>
            </a:r>
          </a:p>
          <a:p>
            <a:r>
              <a:rPr lang="en-GB" noProof="0" dirty="0"/>
              <a:t>Always handle rollback scenarios to prevent data inconsistencies in case of failures.</a:t>
            </a:r>
          </a:p>
          <a:p>
            <a:r>
              <a:rPr lang="en-GB" noProof="0" dirty="0"/>
              <a:t>Use proper isolation levels based on the application’s concurrency requirements.</a:t>
            </a:r>
          </a:p>
          <a:p>
            <a:r>
              <a:rPr lang="en-GB" b="1" u="sng" noProof="0" dirty="0"/>
              <a:t>Modern ORM frameworks manage transactions automatically</a:t>
            </a:r>
          </a:p>
          <a:p>
            <a:r>
              <a:rPr lang="en-GB" noProof="0" dirty="0"/>
              <a:t>Manual transaction management can be necessary to optimize performances</a:t>
            </a:r>
          </a:p>
        </p:txBody>
      </p:sp>
    </p:spTree>
    <p:extLst>
      <p:ext uri="{BB962C8B-B14F-4D97-AF65-F5344CB8AC3E}">
        <p14:creationId xmlns:p14="http://schemas.microsoft.com/office/powerpoint/2010/main" val="19124159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A1677-60D3-73EF-C38E-5EB69E0E0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039DA-620A-BC16-DA6B-BE70FCD95B3D}"/>
              </a:ext>
            </a:extLst>
          </p:cNvPr>
          <p:cNvSpPr>
            <a:spLocks noGrp="1"/>
          </p:cNvSpPr>
          <p:nvPr>
            <p:ph type="title"/>
          </p:nvPr>
        </p:nvSpPr>
        <p:spPr/>
        <p:txBody>
          <a:bodyPr/>
          <a:lstStyle/>
          <a:p>
            <a:r>
              <a:rPr lang="en-GB" noProof="0" dirty="0"/>
              <a:t>JPA – Persistence</a:t>
            </a:r>
          </a:p>
        </p:txBody>
      </p:sp>
      <p:sp>
        <p:nvSpPr>
          <p:cNvPr id="3" name="Content Placeholder 2">
            <a:extLst>
              <a:ext uri="{FF2B5EF4-FFF2-40B4-BE49-F238E27FC236}">
                <a16:creationId xmlns:a16="http://schemas.microsoft.com/office/drawing/2014/main" id="{BB290CD9-D0F4-1443-9685-CB03B18338A8}"/>
              </a:ext>
            </a:extLst>
          </p:cNvPr>
          <p:cNvSpPr>
            <a:spLocks noGrp="1"/>
          </p:cNvSpPr>
          <p:nvPr>
            <p:ph idx="1"/>
          </p:nvPr>
        </p:nvSpPr>
        <p:spPr>
          <a:xfrm>
            <a:off x="685800" y="1295400"/>
            <a:ext cx="8150225" cy="4941912"/>
          </a:xfrm>
        </p:spPr>
        <p:txBody>
          <a:bodyPr>
            <a:normAutofit fontScale="85000" lnSpcReduction="20000"/>
          </a:bodyPr>
          <a:lstStyle/>
          <a:p>
            <a:r>
              <a:rPr lang="en-GB" noProof="0" dirty="0"/>
              <a:t>Persistence refers to storing and retrieving data from a relational database using JPA</a:t>
            </a:r>
          </a:p>
          <a:p>
            <a:r>
              <a:rPr lang="en-GB" noProof="0" dirty="0"/>
              <a:t>JPA provides an abstraction layer over JDBC (Java </a:t>
            </a:r>
            <a:r>
              <a:rPr lang="en-GB" noProof="0" dirty="0" err="1"/>
              <a:t>DataBase</a:t>
            </a:r>
            <a:r>
              <a:rPr lang="en-GB" noProof="0" dirty="0"/>
              <a:t> Connectivity, the Java native DB connector), handling database connections and transactions</a:t>
            </a:r>
          </a:p>
          <a:p>
            <a:r>
              <a:rPr lang="en-GB" noProof="0" dirty="0"/>
              <a:t>Entities are automatically managed in a persistence context, allowing seamless database interaction</a:t>
            </a:r>
          </a:p>
          <a:p>
            <a:r>
              <a:rPr lang="en-GB" noProof="0" dirty="0"/>
              <a:t>JPA does not directly interact with the database; instead, it relies on a persistence provider (such as Hibernate) to execute queries and manage transactions</a:t>
            </a:r>
          </a:p>
        </p:txBody>
      </p:sp>
    </p:spTree>
    <p:extLst>
      <p:ext uri="{BB962C8B-B14F-4D97-AF65-F5344CB8AC3E}">
        <p14:creationId xmlns:p14="http://schemas.microsoft.com/office/powerpoint/2010/main" val="31183205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E9BBF-DA8C-F285-7ABC-0315F5B23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AC88A-A22F-F925-8EA9-7A6C3CC2B1A9}"/>
              </a:ext>
            </a:extLst>
          </p:cNvPr>
          <p:cNvSpPr>
            <a:spLocks noGrp="1"/>
          </p:cNvSpPr>
          <p:nvPr>
            <p:ph type="title"/>
          </p:nvPr>
        </p:nvSpPr>
        <p:spPr/>
        <p:txBody>
          <a:bodyPr/>
          <a:lstStyle/>
          <a:p>
            <a:r>
              <a:rPr lang="en-GB" noProof="0" dirty="0"/>
              <a:t>Persistence Unit</a:t>
            </a:r>
          </a:p>
        </p:txBody>
      </p:sp>
      <p:sp>
        <p:nvSpPr>
          <p:cNvPr id="3" name="Content Placeholder 2">
            <a:extLst>
              <a:ext uri="{FF2B5EF4-FFF2-40B4-BE49-F238E27FC236}">
                <a16:creationId xmlns:a16="http://schemas.microsoft.com/office/drawing/2014/main" id="{6A1B190F-B47A-9DB9-7AC4-E383140030FA}"/>
              </a:ext>
            </a:extLst>
          </p:cNvPr>
          <p:cNvSpPr>
            <a:spLocks noGrp="1"/>
          </p:cNvSpPr>
          <p:nvPr>
            <p:ph idx="1"/>
          </p:nvPr>
        </p:nvSpPr>
        <p:spPr>
          <a:xfrm>
            <a:off x="685800" y="1295400"/>
            <a:ext cx="8150225" cy="4941912"/>
          </a:xfrm>
        </p:spPr>
        <p:txBody>
          <a:bodyPr>
            <a:normAutofit fontScale="77500" lnSpcReduction="20000"/>
          </a:bodyPr>
          <a:lstStyle/>
          <a:p>
            <a:r>
              <a:rPr lang="en-GB" noProof="0" dirty="0"/>
              <a:t>A Persistence Unit represents a logical configuration that groups:</a:t>
            </a:r>
          </a:p>
          <a:p>
            <a:pPr lvl="1"/>
            <a:r>
              <a:rPr lang="en-GB" noProof="0" dirty="0"/>
              <a:t>the database connection settings</a:t>
            </a:r>
          </a:p>
          <a:p>
            <a:pPr lvl="1"/>
            <a:r>
              <a:rPr lang="en-GB" noProof="0" dirty="0"/>
              <a:t>the list of managed entities</a:t>
            </a:r>
          </a:p>
          <a:p>
            <a:pPr lvl="1"/>
            <a:r>
              <a:rPr lang="en-GB" noProof="0" dirty="0"/>
              <a:t>transaction handling strategy</a:t>
            </a:r>
          </a:p>
          <a:p>
            <a:pPr lvl="1"/>
            <a:r>
              <a:rPr lang="en-GB" noProof="0" dirty="0"/>
              <a:t>JPA provider-specific settings</a:t>
            </a:r>
          </a:p>
          <a:p>
            <a:r>
              <a:rPr lang="en-GB" noProof="0" dirty="0"/>
              <a:t>Each JPA application must declare at least one Persistence Unit</a:t>
            </a:r>
          </a:p>
          <a:p>
            <a:r>
              <a:rPr lang="en-GB" noProof="0" dirty="0"/>
              <a:t>The Persistence Unit is the entry point for all JPA operations</a:t>
            </a:r>
          </a:p>
          <a:p>
            <a:r>
              <a:rPr lang="en-GB" noProof="0" dirty="0"/>
              <a:t>The Persistence Unit is created when the application starts and remains available for database interactions</a:t>
            </a:r>
            <a:endParaRPr lang="en-GB" i="1" noProof="0" dirty="0"/>
          </a:p>
        </p:txBody>
      </p:sp>
    </p:spTree>
    <p:extLst>
      <p:ext uri="{BB962C8B-B14F-4D97-AF65-F5344CB8AC3E}">
        <p14:creationId xmlns:p14="http://schemas.microsoft.com/office/powerpoint/2010/main" val="316555882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47817-5D1F-956E-A37C-1F69B50E0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59928-57D6-45DB-80C3-F3FE8A8132E0}"/>
              </a:ext>
            </a:extLst>
          </p:cNvPr>
          <p:cNvSpPr>
            <a:spLocks noGrp="1"/>
          </p:cNvSpPr>
          <p:nvPr>
            <p:ph type="title"/>
          </p:nvPr>
        </p:nvSpPr>
        <p:spPr/>
        <p:txBody>
          <a:bodyPr>
            <a:normAutofit fontScale="90000"/>
          </a:bodyPr>
          <a:lstStyle/>
          <a:p>
            <a:r>
              <a:rPr lang="en-GB" noProof="0" dirty="0"/>
              <a:t>Persistence Unit - Configuration</a:t>
            </a:r>
          </a:p>
        </p:txBody>
      </p:sp>
      <p:sp>
        <p:nvSpPr>
          <p:cNvPr id="3" name="Content Placeholder 2">
            <a:extLst>
              <a:ext uri="{FF2B5EF4-FFF2-40B4-BE49-F238E27FC236}">
                <a16:creationId xmlns:a16="http://schemas.microsoft.com/office/drawing/2014/main" id="{B9FE237F-FB80-A51F-3BAC-131CE3BBECBE}"/>
              </a:ext>
            </a:extLst>
          </p:cNvPr>
          <p:cNvSpPr>
            <a:spLocks noGrp="1"/>
          </p:cNvSpPr>
          <p:nvPr>
            <p:ph idx="1"/>
          </p:nvPr>
        </p:nvSpPr>
        <p:spPr>
          <a:xfrm>
            <a:off x="685800" y="1295400"/>
            <a:ext cx="8150225" cy="2493640"/>
          </a:xfrm>
        </p:spPr>
        <p:txBody>
          <a:bodyPr>
            <a:normAutofit fontScale="77500" lnSpcReduction="20000"/>
          </a:bodyPr>
          <a:lstStyle/>
          <a:p>
            <a:r>
              <a:rPr lang="en-GB" b="1" noProof="0" dirty="0" err="1">
                <a:latin typeface="Courier New" panose="02070309020205020404" pitchFamily="49" charset="0"/>
                <a:cs typeface="Courier New" panose="02070309020205020404" pitchFamily="49" charset="0"/>
              </a:rPr>
              <a:t>persistence.xml</a:t>
            </a:r>
            <a:r>
              <a:rPr lang="en-GB" b="1" noProof="0" dirty="0">
                <a:latin typeface="Courier New" panose="02070309020205020404" pitchFamily="49" charset="0"/>
                <a:cs typeface="Courier New" panose="02070309020205020404" pitchFamily="49" charset="0"/>
              </a:rPr>
              <a:t> </a:t>
            </a:r>
            <a:r>
              <a:rPr lang="en-GB" noProof="0" dirty="0"/>
              <a:t>file is the configuration file required to define how JPA interacts with the database</a:t>
            </a:r>
          </a:p>
          <a:p>
            <a:r>
              <a:rPr lang="en-GB" noProof="0" dirty="0"/>
              <a:t>This file can include provider-specific properties that are not defined by JPA but are used to configure additional features of the chosen JPA provider</a:t>
            </a:r>
            <a:endParaRPr lang="en-GB" noProof="0" dirty="0">
              <a:cs typeface="Courier New" panose="02070309020205020404" pitchFamily="49" charset="0"/>
            </a:endParaRPr>
          </a:p>
          <a:p>
            <a:endParaRPr lang="en-GB" noProof="0" dirty="0">
              <a:cs typeface="Courier New" panose="02070309020205020404" pitchFamily="49" charset="0"/>
            </a:endParaRPr>
          </a:p>
        </p:txBody>
      </p:sp>
      <p:pic>
        <p:nvPicPr>
          <p:cNvPr id="8" name="Immagine 7">
            <a:extLst>
              <a:ext uri="{FF2B5EF4-FFF2-40B4-BE49-F238E27FC236}">
                <a16:creationId xmlns:a16="http://schemas.microsoft.com/office/drawing/2014/main" id="{654ADC57-1814-C63C-100B-EDB775478286}"/>
              </a:ext>
            </a:extLst>
          </p:cNvPr>
          <p:cNvPicPr>
            <a:picLocks noChangeAspect="1"/>
          </p:cNvPicPr>
          <p:nvPr/>
        </p:nvPicPr>
        <p:blipFill>
          <a:blip r:embed="rId2"/>
          <a:stretch>
            <a:fillRect/>
          </a:stretch>
        </p:blipFill>
        <p:spPr>
          <a:xfrm>
            <a:off x="228600" y="3933056"/>
            <a:ext cx="8928992" cy="2346978"/>
          </a:xfrm>
          <a:prstGeom prst="rect">
            <a:avLst/>
          </a:prstGeom>
        </p:spPr>
      </p:pic>
    </p:spTree>
    <p:extLst>
      <p:ext uri="{BB962C8B-B14F-4D97-AF65-F5344CB8AC3E}">
        <p14:creationId xmlns:p14="http://schemas.microsoft.com/office/powerpoint/2010/main" val="6969796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EEAA1-F374-2FC7-2295-061250927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787DB-C84A-6012-C6C5-AC1E5A9ECFC5}"/>
              </a:ext>
            </a:extLst>
          </p:cNvPr>
          <p:cNvSpPr>
            <a:spLocks noGrp="1"/>
          </p:cNvSpPr>
          <p:nvPr>
            <p:ph type="title"/>
          </p:nvPr>
        </p:nvSpPr>
        <p:spPr/>
        <p:txBody>
          <a:bodyPr>
            <a:normAutofit fontScale="90000"/>
          </a:bodyPr>
          <a:lstStyle/>
          <a:p>
            <a:r>
              <a:rPr lang="en-GB" noProof="0" dirty="0"/>
              <a:t>Persistence Unit - Configuration</a:t>
            </a:r>
          </a:p>
        </p:txBody>
      </p:sp>
      <p:sp>
        <p:nvSpPr>
          <p:cNvPr id="3" name="Content Placeholder 2">
            <a:extLst>
              <a:ext uri="{FF2B5EF4-FFF2-40B4-BE49-F238E27FC236}">
                <a16:creationId xmlns:a16="http://schemas.microsoft.com/office/drawing/2014/main" id="{AE24AD2B-D315-2C67-8635-8F8368C6C4FC}"/>
              </a:ext>
            </a:extLst>
          </p:cNvPr>
          <p:cNvSpPr>
            <a:spLocks noGrp="1"/>
          </p:cNvSpPr>
          <p:nvPr>
            <p:ph idx="1"/>
          </p:nvPr>
        </p:nvSpPr>
        <p:spPr>
          <a:xfrm>
            <a:off x="685800" y="1295400"/>
            <a:ext cx="8150225" cy="4725888"/>
          </a:xfrm>
        </p:spPr>
        <p:txBody>
          <a:bodyPr>
            <a:normAutofit fontScale="92500" lnSpcReduction="20000"/>
          </a:bodyPr>
          <a:lstStyle/>
          <a:p>
            <a:r>
              <a:rPr lang="en-GB" noProof="0" dirty="0"/>
              <a:t>Each Persistence Unit is defined by:</a:t>
            </a:r>
          </a:p>
          <a:p>
            <a:pPr lvl="1"/>
            <a:r>
              <a:rPr lang="en-GB" noProof="0" dirty="0"/>
              <a:t>a unique </a:t>
            </a:r>
            <a:r>
              <a:rPr lang="en-GB" b="1" noProof="0" dirty="0">
                <a:latin typeface="Courier New" panose="02070309020205020404" pitchFamily="49" charset="0"/>
                <a:cs typeface="Courier New" panose="02070309020205020404" pitchFamily="49" charset="0"/>
              </a:rPr>
              <a:t>name</a:t>
            </a:r>
          </a:p>
          <a:p>
            <a:pPr lvl="1"/>
            <a:r>
              <a:rPr lang="en-GB" noProof="0" dirty="0"/>
              <a:t>the database connection settings (JDBC URL, driver, credentials)</a:t>
            </a:r>
          </a:p>
          <a:p>
            <a:pPr lvl="1"/>
            <a:r>
              <a:rPr lang="en-GB" noProof="0" dirty="0"/>
              <a:t>the transaction handling strategy (</a:t>
            </a:r>
            <a:r>
              <a:rPr lang="en-GB" b="1" noProof="0" dirty="0">
                <a:latin typeface="Courier New" panose="02070309020205020404" pitchFamily="49" charset="0"/>
                <a:cs typeface="Courier New" panose="02070309020205020404" pitchFamily="49" charset="0"/>
              </a:rPr>
              <a:t>transaction-type</a:t>
            </a:r>
            <a:r>
              <a:rPr lang="en-GB" noProof="0" dirty="0"/>
              <a:t>):</a:t>
            </a:r>
          </a:p>
          <a:p>
            <a:pPr lvl="2"/>
            <a:r>
              <a:rPr lang="en-GB" noProof="0" dirty="0"/>
              <a:t>RESOURCE_LOCAL: transactions are managed manually using </a:t>
            </a:r>
            <a:r>
              <a:rPr lang="en-GB" noProof="0" dirty="0" err="1"/>
              <a:t>EntityTransaction</a:t>
            </a:r>
            <a:endParaRPr lang="en-GB" noProof="0" dirty="0"/>
          </a:p>
          <a:p>
            <a:pPr lvl="2"/>
            <a:r>
              <a:rPr lang="en-GB" noProof="0" dirty="0"/>
              <a:t>JTA: transactions are managed externally by a container</a:t>
            </a:r>
          </a:p>
          <a:p>
            <a:pPr lvl="1"/>
            <a:r>
              <a:rPr lang="en-GB" noProof="0" dirty="0"/>
              <a:t>List of managed entities (optional if entities are defined with annotations and are in the </a:t>
            </a:r>
            <a:r>
              <a:rPr lang="en-GB" noProof="0" dirty="0" err="1"/>
              <a:t>classpath</a:t>
            </a:r>
            <a:r>
              <a:rPr lang="en-GB" noProof="0" dirty="0"/>
              <a:t>)</a:t>
            </a:r>
          </a:p>
        </p:txBody>
      </p:sp>
    </p:spTree>
    <p:extLst>
      <p:ext uri="{BB962C8B-B14F-4D97-AF65-F5344CB8AC3E}">
        <p14:creationId xmlns:p14="http://schemas.microsoft.com/office/powerpoint/2010/main" val="38854715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48021-F569-F323-B986-46E6FD16063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28B7FC5-4CC6-D37B-9895-FD7A8E88D2BC}"/>
              </a:ext>
            </a:extLst>
          </p:cNvPr>
          <p:cNvSpPr>
            <a:spLocks noGrp="1"/>
          </p:cNvSpPr>
          <p:nvPr>
            <p:ph type="title"/>
          </p:nvPr>
        </p:nvSpPr>
        <p:spPr/>
        <p:txBody>
          <a:bodyPr>
            <a:normAutofit/>
          </a:bodyPr>
          <a:lstStyle/>
          <a:p>
            <a:r>
              <a:rPr lang="en-GB" noProof="0"/>
              <a:t>Schema Generation </a:t>
            </a:r>
            <a:r>
              <a:rPr lang="en-GB" noProof="0" dirty="0"/>
              <a:t>Policies</a:t>
            </a:r>
          </a:p>
        </p:txBody>
      </p:sp>
      <p:sp>
        <p:nvSpPr>
          <p:cNvPr id="3" name="Segnaposto contenuto 2">
            <a:extLst>
              <a:ext uri="{FF2B5EF4-FFF2-40B4-BE49-F238E27FC236}">
                <a16:creationId xmlns:a16="http://schemas.microsoft.com/office/drawing/2014/main" id="{5896CCB9-24D0-91A1-39A5-D6977E2CF4AE}"/>
              </a:ext>
            </a:extLst>
          </p:cNvPr>
          <p:cNvSpPr>
            <a:spLocks noGrp="1"/>
          </p:cNvSpPr>
          <p:nvPr>
            <p:ph idx="1"/>
          </p:nvPr>
        </p:nvSpPr>
        <p:spPr/>
        <p:txBody>
          <a:bodyPr>
            <a:normAutofit fontScale="92500" lnSpcReduction="20000"/>
          </a:bodyPr>
          <a:lstStyle/>
          <a:p>
            <a:r>
              <a:rPr lang="en-GB" noProof="0" dirty="0"/>
              <a:t>Policies:</a:t>
            </a:r>
          </a:p>
          <a:p>
            <a:pPr lvl="1"/>
            <a:r>
              <a:rPr lang="en-GB" b="1" dirty="0">
                <a:solidFill>
                  <a:schemeClr val="accent6">
                    <a:lumMod val="75000"/>
                  </a:schemeClr>
                </a:solidFill>
                <a:latin typeface="Courier New" panose="02070309020205020404" pitchFamily="49" charset="0"/>
                <a:cs typeface="Courier New" panose="02070309020205020404" pitchFamily="49" charset="0"/>
              </a:rPr>
              <a:t>c</a:t>
            </a:r>
            <a:r>
              <a:rPr lang="en-GB" b="1" noProof="0" dirty="0" err="1">
                <a:solidFill>
                  <a:schemeClr val="accent6">
                    <a:lumMod val="75000"/>
                  </a:schemeClr>
                </a:solidFill>
                <a:latin typeface="Courier New" panose="02070309020205020404" pitchFamily="49" charset="0"/>
                <a:cs typeface="Courier New" panose="02070309020205020404" pitchFamily="49" charset="0"/>
              </a:rPr>
              <a:t>reate</a:t>
            </a:r>
            <a:r>
              <a:rPr lang="en-GB" noProof="0" dirty="0"/>
              <a:t>: Generates the schema if it does not exist</a:t>
            </a:r>
          </a:p>
          <a:p>
            <a:pPr lvl="1"/>
            <a:r>
              <a:rPr lang="en-GB" b="1" dirty="0">
                <a:solidFill>
                  <a:schemeClr val="accent6">
                    <a:lumMod val="75000"/>
                  </a:schemeClr>
                </a:solidFill>
                <a:latin typeface="Courier New" panose="02070309020205020404" pitchFamily="49" charset="0"/>
                <a:cs typeface="Courier New" panose="02070309020205020404" pitchFamily="49" charset="0"/>
              </a:rPr>
              <a:t>drop-and-create</a:t>
            </a:r>
            <a:r>
              <a:rPr lang="en-GB" noProof="0" dirty="0"/>
              <a:t>: Deletes and recreates the schema on each run (useful for testing)</a:t>
            </a:r>
          </a:p>
          <a:p>
            <a:pPr lvl="1"/>
            <a:r>
              <a:rPr lang="en-GB" b="1" dirty="0">
                <a:solidFill>
                  <a:schemeClr val="accent6">
                    <a:lumMod val="75000"/>
                  </a:schemeClr>
                </a:solidFill>
                <a:latin typeface="Courier New" panose="02070309020205020404" pitchFamily="49" charset="0"/>
                <a:cs typeface="Courier New" panose="02070309020205020404" pitchFamily="49" charset="0"/>
              </a:rPr>
              <a:t>update</a:t>
            </a:r>
            <a:r>
              <a:rPr lang="en-GB" noProof="0" dirty="0"/>
              <a:t>: Modifies the schema to match entity changes (may cause issues with existing data)</a:t>
            </a:r>
          </a:p>
          <a:p>
            <a:pPr lvl="1"/>
            <a:r>
              <a:rPr lang="en-GB" b="1" dirty="0">
                <a:solidFill>
                  <a:schemeClr val="accent6">
                    <a:lumMod val="75000"/>
                  </a:schemeClr>
                </a:solidFill>
                <a:latin typeface="Courier New" panose="02070309020205020404" pitchFamily="49" charset="0"/>
                <a:cs typeface="Courier New" panose="02070309020205020404" pitchFamily="49" charset="0"/>
              </a:rPr>
              <a:t>validate</a:t>
            </a:r>
            <a:r>
              <a:rPr lang="en-GB" noProof="0" dirty="0"/>
              <a:t>: Checks if the schema matches the entity definitions but does not modify it</a:t>
            </a:r>
          </a:p>
          <a:p>
            <a:pPr lvl="1"/>
            <a:r>
              <a:rPr lang="en-GB" b="1" dirty="0">
                <a:solidFill>
                  <a:schemeClr val="accent6">
                    <a:lumMod val="75000"/>
                  </a:schemeClr>
                </a:solidFill>
                <a:latin typeface="Courier New" panose="02070309020205020404" pitchFamily="49" charset="0"/>
                <a:cs typeface="Courier New" panose="02070309020205020404" pitchFamily="49" charset="0"/>
              </a:rPr>
              <a:t>none</a:t>
            </a:r>
            <a:r>
              <a:rPr lang="en-GB" noProof="0" dirty="0"/>
              <a:t>: The ORM does not perform any schema validation or modification</a:t>
            </a:r>
          </a:p>
        </p:txBody>
      </p:sp>
    </p:spTree>
    <p:extLst>
      <p:ext uri="{BB962C8B-B14F-4D97-AF65-F5344CB8AC3E}">
        <p14:creationId xmlns:p14="http://schemas.microsoft.com/office/powerpoint/2010/main" val="26948251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50B4B-AA8B-EBAC-AF06-527B6D22967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FA9917B-C5CD-B3E7-402F-5179D620E12E}"/>
              </a:ext>
            </a:extLst>
          </p:cNvPr>
          <p:cNvSpPr>
            <a:spLocks noGrp="1"/>
          </p:cNvSpPr>
          <p:nvPr>
            <p:ph type="title"/>
          </p:nvPr>
        </p:nvSpPr>
        <p:spPr/>
        <p:txBody>
          <a:bodyPr>
            <a:normAutofit/>
          </a:bodyPr>
          <a:lstStyle/>
          <a:p>
            <a:r>
              <a:rPr lang="en-GB" noProof="0" dirty="0"/>
              <a:t>Schema Creation Policies</a:t>
            </a:r>
          </a:p>
        </p:txBody>
      </p:sp>
      <p:sp>
        <p:nvSpPr>
          <p:cNvPr id="3" name="Segnaposto contenuto 2">
            <a:extLst>
              <a:ext uri="{FF2B5EF4-FFF2-40B4-BE49-F238E27FC236}">
                <a16:creationId xmlns:a16="http://schemas.microsoft.com/office/drawing/2014/main" id="{F967F945-1FC6-24EB-9CED-720D8A5670DD}"/>
              </a:ext>
            </a:extLst>
          </p:cNvPr>
          <p:cNvSpPr>
            <a:spLocks noGrp="1"/>
          </p:cNvSpPr>
          <p:nvPr>
            <p:ph idx="1"/>
          </p:nvPr>
        </p:nvSpPr>
        <p:spPr/>
        <p:txBody>
          <a:bodyPr>
            <a:normAutofit/>
          </a:bodyPr>
          <a:lstStyle/>
          <a:p>
            <a:r>
              <a:rPr lang="en-GB" noProof="0" dirty="0"/>
              <a:t>Defined in the persistence unit configuration file with property</a:t>
            </a:r>
          </a:p>
          <a:p>
            <a:pPr marL="0" indent="0" algn="ctr">
              <a:buNone/>
            </a:pPr>
            <a:r>
              <a:rPr lang="en-GB" sz="1800" b="1" noProof="0" dirty="0" err="1">
                <a:latin typeface="Courier New" panose="02070309020205020404" pitchFamily="49" charset="0"/>
                <a:cs typeface="Courier New" panose="02070309020205020404" pitchFamily="49" charset="0"/>
              </a:rPr>
              <a:t>jakarta.persistence.schema-generation.database.action</a:t>
            </a:r>
            <a:r>
              <a:rPr lang="en-GB" sz="2000" b="1" noProof="0" dirty="0">
                <a:latin typeface="Courier New" panose="02070309020205020404" pitchFamily="49" charset="0"/>
                <a:cs typeface="Courier New" panose="02070309020205020404" pitchFamily="49" charset="0"/>
              </a:rPr>
              <a:t> </a:t>
            </a:r>
          </a:p>
          <a:p>
            <a:r>
              <a:rPr lang="en-GB" noProof="0" dirty="0"/>
              <a:t>Choosing the right policy:</a:t>
            </a:r>
          </a:p>
          <a:p>
            <a:pPr lvl="1"/>
            <a:r>
              <a:rPr lang="en-GB" noProof="0" dirty="0"/>
              <a:t>Development and test: Create or Drop-and-Create for rapid iteration</a:t>
            </a:r>
          </a:p>
          <a:p>
            <a:pPr lvl="1"/>
            <a:r>
              <a:rPr lang="en-GB" noProof="0" dirty="0"/>
              <a:t>Production: None or Validate to prevent unintended schema changes</a:t>
            </a:r>
          </a:p>
        </p:txBody>
      </p:sp>
    </p:spTree>
    <p:extLst>
      <p:ext uri="{BB962C8B-B14F-4D97-AF65-F5344CB8AC3E}">
        <p14:creationId xmlns:p14="http://schemas.microsoft.com/office/powerpoint/2010/main" val="27328601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AF7F2-9EB1-8155-544B-7ACA928B78B5}"/>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8DA3FE3A-1E0A-1723-A12B-20DE83D96C07}"/>
              </a:ext>
            </a:extLst>
          </p:cNvPr>
          <p:cNvSpPr/>
          <p:nvPr/>
        </p:nvSpPr>
        <p:spPr bwMode="auto">
          <a:xfrm>
            <a:off x="683568" y="5085184"/>
            <a:ext cx="7992888" cy="936104"/>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2" name="Title 1">
            <a:extLst>
              <a:ext uri="{FF2B5EF4-FFF2-40B4-BE49-F238E27FC236}">
                <a16:creationId xmlns:a16="http://schemas.microsoft.com/office/drawing/2014/main" id="{B75CA368-4D10-3102-BDA8-2B806587D9BE}"/>
              </a:ext>
            </a:extLst>
          </p:cNvPr>
          <p:cNvSpPr>
            <a:spLocks noGrp="1"/>
          </p:cNvSpPr>
          <p:nvPr>
            <p:ph type="title"/>
          </p:nvPr>
        </p:nvSpPr>
        <p:spPr/>
        <p:txBody>
          <a:bodyPr/>
          <a:lstStyle/>
          <a:p>
            <a:r>
              <a:rPr lang="en-GB" noProof="0" dirty="0" err="1"/>
              <a:t>EntityManagerFactory</a:t>
            </a:r>
            <a:endParaRPr lang="en-GB" noProof="0" dirty="0"/>
          </a:p>
        </p:txBody>
      </p:sp>
      <p:sp>
        <p:nvSpPr>
          <p:cNvPr id="3" name="Content Placeholder 2">
            <a:extLst>
              <a:ext uri="{FF2B5EF4-FFF2-40B4-BE49-F238E27FC236}">
                <a16:creationId xmlns:a16="http://schemas.microsoft.com/office/drawing/2014/main" id="{52CB5640-7A81-C003-4C06-3E4B98D067A8}"/>
              </a:ext>
            </a:extLst>
          </p:cNvPr>
          <p:cNvSpPr>
            <a:spLocks noGrp="1"/>
          </p:cNvSpPr>
          <p:nvPr>
            <p:ph idx="1"/>
          </p:nvPr>
        </p:nvSpPr>
        <p:spPr>
          <a:xfrm>
            <a:off x="685800" y="1295400"/>
            <a:ext cx="8150225" cy="4941912"/>
          </a:xfrm>
        </p:spPr>
        <p:txBody>
          <a:bodyPr>
            <a:normAutofit fontScale="85000" lnSpcReduction="10000"/>
          </a:bodyPr>
          <a:lstStyle/>
          <a:p>
            <a:r>
              <a:rPr lang="en-GB" noProof="0" dirty="0"/>
              <a:t>The </a:t>
            </a:r>
            <a:r>
              <a:rPr lang="en-GB" b="1" noProof="0" dirty="0" err="1">
                <a:latin typeface="Courier New" panose="02070309020205020404" pitchFamily="49" charset="0"/>
                <a:cs typeface="Courier New" panose="02070309020205020404" pitchFamily="49" charset="0"/>
              </a:rPr>
              <a:t>EntityManagerFactory</a:t>
            </a:r>
            <a:r>
              <a:rPr lang="en-GB" noProof="0" dirty="0"/>
              <a:t> loads configuration from </a:t>
            </a:r>
            <a:r>
              <a:rPr lang="en-GB" b="1" noProof="0" dirty="0" err="1">
                <a:latin typeface="Courier New" panose="02070309020205020404" pitchFamily="49" charset="0"/>
                <a:cs typeface="Courier New" panose="02070309020205020404" pitchFamily="49" charset="0"/>
              </a:rPr>
              <a:t>persistence.xml</a:t>
            </a:r>
            <a:r>
              <a:rPr lang="en-GB" b="1" noProof="0" dirty="0">
                <a:latin typeface="Courier New" panose="02070309020205020404" pitchFamily="49" charset="0"/>
                <a:cs typeface="Courier New" panose="02070309020205020404" pitchFamily="49" charset="0"/>
              </a:rPr>
              <a:t> </a:t>
            </a:r>
            <a:r>
              <a:rPr lang="en-GB" noProof="0" dirty="0"/>
              <a:t>and initializes the JPA provider</a:t>
            </a:r>
          </a:p>
          <a:p>
            <a:r>
              <a:rPr lang="en-GB" noProof="0" dirty="0"/>
              <a:t>It is a heavyweight object, meant to be created once per application and reused</a:t>
            </a:r>
          </a:p>
          <a:p>
            <a:r>
              <a:rPr lang="en-GB" noProof="0" dirty="0"/>
              <a:t>It must always be closed when the application shuts down</a:t>
            </a:r>
          </a:p>
          <a:p>
            <a:r>
              <a:rPr lang="en-GB" noProof="0" dirty="0"/>
              <a:t>It is responsible for managing persistence units and creating </a:t>
            </a:r>
            <a:r>
              <a:rPr lang="en-GB" b="1" noProof="0" dirty="0" err="1">
                <a:latin typeface="Courier New" panose="02070309020205020404" pitchFamily="49" charset="0"/>
                <a:cs typeface="Courier New" panose="02070309020205020404" pitchFamily="49" charset="0"/>
              </a:rPr>
              <a:t>EntityManager</a:t>
            </a:r>
            <a:r>
              <a:rPr lang="en-GB" noProof="0" dirty="0"/>
              <a:t> instances</a:t>
            </a:r>
          </a:p>
          <a:p>
            <a:pPr marL="0" indent="0">
              <a:buNone/>
            </a:pPr>
            <a:r>
              <a:rPr lang="en-GB" sz="2000" b="1" noProof="0" dirty="0" err="1">
                <a:latin typeface="Courier New" panose="02070309020205020404" pitchFamily="49" charset="0"/>
                <a:cs typeface="Courier New" panose="02070309020205020404" pitchFamily="49" charset="0"/>
              </a:rPr>
              <a:t>EntityManagerFactory</a:t>
            </a:r>
            <a:r>
              <a:rPr lang="en-GB" sz="2000" b="1" noProof="0" dirty="0">
                <a:latin typeface="Courier New" panose="02070309020205020404" pitchFamily="49" charset="0"/>
                <a:cs typeface="Courier New" panose="02070309020205020404" pitchFamily="49" charset="0"/>
              </a:rPr>
              <a:t> emf = </a:t>
            </a:r>
            <a:r>
              <a:rPr lang="en-GB" sz="2000" b="1" noProof="0" dirty="0" err="1">
                <a:latin typeface="Courier New" panose="02070309020205020404" pitchFamily="49" charset="0"/>
                <a:cs typeface="Courier New" panose="02070309020205020404" pitchFamily="49" charset="0"/>
              </a:rPr>
              <a:t>Persistence.createEntityManagerFactory</a:t>
            </a:r>
            <a:r>
              <a:rPr lang="en-GB" sz="2000" b="1" noProof="0" dirty="0">
                <a:latin typeface="Courier New" panose="02070309020205020404" pitchFamily="49" charset="0"/>
                <a:cs typeface="Courier New" panose="02070309020205020404" pitchFamily="49" charset="0"/>
              </a:rPr>
              <a:t>("</a:t>
            </a:r>
            <a:r>
              <a:rPr lang="en-GB" sz="2000" b="1" noProof="0" dirty="0" err="1">
                <a:latin typeface="Courier New" panose="02070309020205020404" pitchFamily="49" charset="0"/>
                <a:cs typeface="Courier New" panose="02070309020205020404" pitchFamily="49" charset="0"/>
              </a:rPr>
              <a:t>myPersistenceUnit</a:t>
            </a:r>
            <a:r>
              <a:rPr lang="en-GB" sz="2000" b="1" noProof="0" dirty="0">
                <a:latin typeface="Courier New" panose="02070309020205020404" pitchFamily="49" charset="0"/>
                <a:cs typeface="Courier New" panose="02070309020205020404" pitchFamily="49" charset="0"/>
              </a:rPr>
              <a:t>");</a:t>
            </a:r>
          </a:p>
          <a:p>
            <a:pPr marL="0" indent="0">
              <a:buNone/>
            </a:pPr>
            <a:r>
              <a:rPr lang="en-GB" sz="2000" b="1" noProof="0" dirty="0" err="1">
                <a:latin typeface="Courier New" panose="02070309020205020404" pitchFamily="49" charset="0"/>
                <a:cs typeface="Courier New" panose="02070309020205020404" pitchFamily="49" charset="0"/>
              </a:rPr>
              <a:t>EntityManager</a:t>
            </a:r>
            <a:r>
              <a:rPr lang="en-GB" sz="2000" b="1" noProof="0" dirty="0">
                <a:latin typeface="Courier New" panose="02070309020205020404" pitchFamily="49" charset="0"/>
                <a:cs typeface="Courier New" panose="02070309020205020404" pitchFamily="49" charset="0"/>
              </a:rPr>
              <a:t> </a:t>
            </a:r>
            <a:r>
              <a:rPr lang="en-GB" sz="2000" b="1" noProof="0" dirty="0" err="1">
                <a:latin typeface="Courier New" panose="02070309020205020404" pitchFamily="49" charset="0"/>
                <a:cs typeface="Courier New" panose="02070309020205020404" pitchFamily="49" charset="0"/>
              </a:rPr>
              <a:t>em</a:t>
            </a:r>
            <a:r>
              <a:rPr lang="en-GB" sz="2000" b="1" noProof="0" dirty="0">
                <a:latin typeface="Courier New" panose="02070309020205020404" pitchFamily="49" charset="0"/>
                <a:cs typeface="Courier New" panose="02070309020205020404" pitchFamily="49" charset="0"/>
              </a:rPr>
              <a:t> = </a:t>
            </a:r>
            <a:r>
              <a:rPr lang="en-GB" sz="2000" b="1" noProof="0" dirty="0" err="1">
                <a:latin typeface="Courier New" panose="02070309020205020404" pitchFamily="49" charset="0"/>
                <a:cs typeface="Courier New" panose="02070309020205020404" pitchFamily="49" charset="0"/>
              </a:rPr>
              <a:t>emf.createEntityManager</a:t>
            </a:r>
            <a:r>
              <a:rPr lang="en-GB" sz="2000" b="1" noProof="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16439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77EFF-056C-398F-FF9E-51D4AAEBC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36433-1DFE-5766-F90D-D34039AF1472}"/>
              </a:ext>
            </a:extLst>
          </p:cNvPr>
          <p:cNvSpPr>
            <a:spLocks noGrp="1"/>
          </p:cNvSpPr>
          <p:nvPr>
            <p:ph type="title"/>
          </p:nvPr>
        </p:nvSpPr>
        <p:spPr/>
        <p:txBody>
          <a:bodyPr/>
          <a:lstStyle/>
          <a:p>
            <a:r>
              <a:rPr lang="en-GB" noProof="0" dirty="0" err="1"/>
              <a:t>EntityManager</a:t>
            </a:r>
            <a:endParaRPr lang="en-GB" noProof="0" dirty="0"/>
          </a:p>
        </p:txBody>
      </p:sp>
      <p:sp>
        <p:nvSpPr>
          <p:cNvPr id="3" name="Content Placeholder 2">
            <a:extLst>
              <a:ext uri="{FF2B5EF4-FFF2-40B4-BE49-F238E27FC236}">
                <a16:creationId xmlns:a16="http://schemas.microsoft.com/office/drawing/2014/main" id="{00275F9C-D7FF-31BE-2064-F068474F6F23}"/>
              </a:ext>
            </a:extLst>
          </p:cNvPr>
          <p:cNvSpPr>
            <a:spLocks noGrp="1"/>
          </p:cNvSpPr>
          <p:nvPr>
            <p:ph idx="1"/>
          </p:nvPr>
        </p:nvSpPr>
        <p:spPr>
          <a:xfrm>
            <a:off x="685800" y="1295400"/>
            <a:ext cx="8150225" cy="5157936"/>
          </a:xfrm>
        </p:spPr>
        <p:txBody>
          <a:bodyPr>
            <a:normAutofit fontScale="62500" lnSpcReduction="20000"/>
          </a:bodyPr>
          <a:lstStyle/>
          <a:p>
            <a:r>
              <a:rPr lang="en-GB" b="1" noProof="0" dirty="0" err="1">
                <a:latin typeface="Courier New" panose="02070309020205020404" pitchFamily="49" charset="0"/>
                <a:cs typeface="Courier New" panose="02070309020205020404" pitchFamily="49" charset="0"/>
              </a:rPr>
              <a:t>EntityManager</a:t>
            </a:r>
            <a:r>
              <a:rPr lang="en-GB" noProof="0" dirty="0"/>
              <a:t> is the foundation of all querying operations in JPA</a:t>
            </a:r>
          </a:p>
          <a:p>
            <a:r>
              <a:rPr lang="en-GB" noProof="0" dirty="0"/>
              <a:t>It is the main interface for interacting with the database in JPA. It manages the lifecycle of entities and executes queries using both JPQL and native SQL</a:t>
            </a:r>
          </a:p>
          <a:p>
            <a:r>
              <a:rPr lang="en-GB" noProof="0" dirty="0"/>
              <a:t>It is a lightweight, short-lived object, typically created per transaction or request</a:t>
            </a:r>
          </a:p>
          <a:p>
            <a:r>
              <a:rPr lang="en-GB" noProof="0" dirty="0"/>
              <a:t>When obtained directly from the </a:t>
            </a:r>
            <a:r>
              <a:rPr lang="en-GB" b="1" noProof="0" dirty="0" err="1">
                <a:latin typeface="Courier New" panose="02070309020205020404" pitchFamily="49" charset="0"/>
                <a:cs typeface="Courier New" panose="02070309020205020404" pitchFamily="49" charset="0"/>
              </a:rPr>
              <a:t>EntityManagerFactory</a:t>
            </a:r>
            <a:r>
              <a:rPr lang="en-GB" noProof="0" dirty="0"/>
              <a:t>, it must be explicitly closed with </a:t>
            </a:r>
            <a:r>
              <a:rPr lang="en-GB" b="1" noProof="0" dirty="0">
                <a:latin typeface="Courier New" panose="02070309020205020404" pitchFamily="49" charset="0"/>
                <a:cs typeface="Courier New" panose="02070309020205020404" pitchFamily="49" charset="0"/>
              </a:rPr>
              <a:t>close() </a:t>
            </a:r>
            <a:r>
              <a:rPr lang="en-GB" noProof="0" dirty="0"/>
              <a:t>to release resources</a:t>
            </a:r>
          </a:p>
          <a:p>
            <a:r>
              <a:rPr lang="en-GB" noProof="0" dirty="0"/>
              <a:t>It provides the core API for managing entities, handling transactions, and executing queries</a:t>
            </a:r>
          </a:p>
          <a:p>
            <a:pPr lvl="1"/>
            <a:r>
              <a:rPr lang="en-GB" noProof="0" dirty="0"/>
              <a:t>Transaction management: explicitly controls transactions when a RESOURCE_LOCAL transaction type is used</a:t>
            </a:r>
          </a:p>
          <a:p>
            <a:pPr lvl="1"/>
            <a:r>
              <a:rPr lang="en-GB" noProof="0" dirty="0"/>
              <a:t>Entity lifecycle management: creation, update, and deletion of entities</a:t>
            </a:r>
          </a:p>
          <a:p>
            <a:pPr lvl="1"/>
            <a:r>
              <a:rPr lang="en-GB" noProof="0" dirty="0"/>
              <a:t>Querying: supports different query methods allowing structured, reusable, dynamic, or raw SQL queries to retrieve data</a:t>
            </a:r>
          </a:p>
        </p:txBody>
      </p:sp>
    </p:spTree>
    <p:extLst>
      <p:ext uri="{BB962C8B-B14F-4D97-AF65-F5344CB8AC3E}">
        <p14:creationId xmlns:p14="http://schemas.microsoft.com/office/powerpoint/2010/main" val="11128124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9341E1-A6A7-85C5-608D-904B2991A266}"/>
              </a:ext>
            </a:extLst>
          </p:cNvPr>
          <p:cNvSpPr>
            <a:spLocks noGrp="1"/>
          </p:cNvSpPr>
          <p:nvPr>
            <p:ph type="title"/>
          </p:nvPr>
        </p:nvSpPr>
        <p:spPr/>
        <p:txBody>
          <a:bodyPr/>
          <a:lstStyle/>
          <a:p>
            <a:r>
              <a:rPr lang="en-GB" noProof="0" dirty="0"/>
              <a:t>Entity - Lifecycle</a:t>
            </a:r>
          </a:p>
        </p:txBody>
      </p:sp>
      <p:sp>
        <p:nvSpPr>
          <p:cNvPr id="3" name="Segnaposto contenuto 2">
            <a:extLst>
              <a:ext uri="{FF2B5EF4-FFF2-40B4-BE49-F238E27FC236}">
                <a16:creationId xmlns:a16="http://schemas.microsoft.com/office/drawing/2014/main" id="{D5705A08-AAF1-AE54-739B-722FCC0D1799}"/>
              </a:ext>
            </a:extLst>
          </p:cNvPr>
          <p:cNvSpPr>
            <a:spLocks noGrp="1"/>
          </p:cNvSpPr>
          <p:nvPr>
            <p:ph idx="1"/>
          </p:nvPr>
        </p:nvSpPr>
        <p:spPr/>
        <p:txBody>
          <a:bodyPr>
            <a:normAutofit fontScale="92500" lnSpcReduction="10000"/>
          </a:bodyPr>
          <a:lstStyle/>
          <a:p>
            <a:r>
              <a:rPr lang="en-GB" noProof="0" dirty="0"/>
              <a:t>Entities transition through different states during their lifecycle in an ORM</a:t>
            </a:r>
          </a:p>
          <a:p>
            <a:r>
              <a:rPr lang="en-GB" noProof="0" dirty="0"/>
              <a:t>Main entity states:</a:t>
            </a:r>
          </a:p>
          <a:p>
            <a:pPr lvl="1"/>
            <a:r>
              <a:rPr lang="en-GB" noProof="0" dirty="0"/>
              <a:t>Transient – The entity is created in memory but not yet persisted</a:t>
            </a:r>
          </a:p>
          <a:p>
            <a:pPr lvl="1"/>
            <a:r>
              <a:rPr lang="en-GB" noProof="0" dirty="0"/>
              <a:t>Persistent – The entity is associated with a database session and will be saved</a:t>
            </a:r>
          </a:p>
          <a:p>
            <a:pPr lvl="1"/>
            <a:r>
              <a:rPr lang="en-GB" noProof="0" dirty="0"/>
              <a:t>Detached – The entity is no longer managed by the ORM but still exists in memory</a:t>
            </a:r>
          </a:p>
          <a:p>
            <a:pPr lvl="1"/>
            <a:r>
              <a:rPr lang="en-GB" noProof="0" dirty="0"/>
              <a:t>Removed – The entity is marked for deletion and will be removed from the database</a:t>
            </a:r>
          </a:p>
        </p:txBody>
      </p:sp>
    </p:spTree>
    <p:extLst>
      <p:ext uri="{BB962C8B-B14F-4D97-AF65-F5344CB8AC3E}">
        <p14:creationId xmlns:p14="http://schemas.microsoft.com/office/powerpoint/2010/main" val="9685922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7E9E84-4B2F-28AB-0499-531BA57ED56F}"/>
              </a:ext>
            </a:extLst>
          </p:cNvPr>
          <p:cNvSpPr>
            <a:spLocks noGrp="1"/>
          </p:cNvSpPr>
          <p:nvPr>
            <p:ph type="title"/>
          </p:nvPr>
        </p:nvSpPr>
        <p:spPr/>
        <p:txBody>
          <a:bodyPr/>
          <a:lstStyle/>
          <a:p>
            <a:r>
              <a:rPr lang="en-GB" noProof="0" dirty="0"/>
              <a:t>Entity – Lifecycle operations</a:t>
            </a:r>
          </a:p>
        </p:txBody>
      </p:sp>
      <p:sp>
        <p:nvSpPr>
          <p:cNvPr id="3" name="Segnaposto contenuto 2">
            <a:extLst>
              <a:ext uri="{FF2B5EF4-FFF2-40B4-BE49-F238E27FC236}">
                <a16:creationId xmlns:a16="http://schemas.microsoft.com/office/drawing/2014/main" id="{247B2EC6-1C3E-4E0E-F500-E3B17E206C5F}"/>
              </a:ext>
            </a:extLst>
          </p:cNvPr>
          <p:cNvSpPr>
            <a:spLocks noGrp="1"/>
          </p:cNvSpPr>
          <p:nvPr>
            <p:ph idx="1"/>
          </p:nvPr>
        </p:nvSpPr>
        <p:spPr/>
        <p:txBody>
          <a:bodyPr>
            <a:normAutofit fontScale="92500" lnSpcReduction="10000"/>
          </a:bodyPr>
          <a:lstStyle/>
          <a:p>
            <a:r>
              <a:rPr lang="en-GB" noProof="0" dirty="0"/>
              <a:t>These operations modify the state of an entity, when performed</a:t>
            </a:r>
          </a:p>
          <a:p>
            <a:r>
              <a:rPr lang="en-GB" noProof="0" dirty="0"/>
              <a:t>Lifecycle operations:</a:t>
            </a:r>
          </a:p>
          <a:p>
            <a:pPr lvl="1"/>
            <a:r>
              <a:rPr lang="en-GB" noProof="0" dirty="0"/>
              <a:t>Creating a new instance (e.g. new Entity()) starts in Transient state</a:t>
            </a:r>
          </a:p>
          <a:p>
            <a:pPr lvl="1"/>
            <a:r>
              <a:rPr lang="en-GB" noProof="0" dirty="0"/>
              <a:t>Persisting the entity (e.g., save() or persist()) transitions it to Persistent</a:t>
            </a:r>
          </a:p>
          <a:p>
            <a:pPr lvl="1"/>
            <a:r>
              <a:rPr lang="en-GB" noProof="0" dirty="0"/>
              <a:t>Closing or clearing the session detaches the entity (Detached)</a:t>
            </a:r>
          </a:p>
          <a:p>
            <a:pPr lvl="1"/>
            <a:r>
              <a:rPr lang="en-GB" noProof="0" dirty="0"/>
              <a:t>Deleting the entity moves it to the Removed state</a:t>
            </a:r>
          </a:p>
        </p:txBody>
      </p:sp>
    </p:spTree>
    <p:extLst>
      <p:ext uri="{BB962C8B-B14F-4D97-AF65-F5344CB8AC3E}">
        <p14:creationId xmlns:p14="http://schemas.microsoft.com/office/powerpoint/2010/main" val="15309333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B5C3-CE28-62C3-EB9F-2137F9157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8DE23-4F53-34EB-A0CD-C4D888A0DBD6}"/>
              </a:ext>
            </a:extLst>
          </p:cNvPr>
          <p:cNvSpPr>
            <a:spLocks noGrp="1"/>
          </p:cNvSpPr>
          <p:nvPr>
            <p:ph type="title"/>
          </p:nvPr>
        </p:nvSpPr>
        <p:spPr/>
        <p:txBody>
          <a:bodyPr>
            <a:normAutofit/>
          </a:bodyPr>
          <a:lstStyle/>
          <a:p>
            <a:r>
              <a:rPr lang="en-GB" dirty="0"/>
              <a:t>Transaction Management</a:t>
            </a:r>
          </a:p>
        </p:txBody>
      </p:sp>
      <p:sp>
        <p:nvSpPr>
          <p:cNvPr id="3" name="Content Placeholder 2">
            <a:extLst>
              <a:ext uri="{FF2B5EF4-FFF2-40B4-BE49-F238E27FC236}">
                <a16:creationId xmlns:a16="http://schemas.microsoft.com/office/drawing/2014/main" id="{A05BAD12-5E73-4450-AD45-E0046F4CED07}"/>
              </a:ext>
            </a:extLst>
          </p:cNvPr>
          <p:cNvSpPr>
            <a:spLocks noGrp="1"/>
          </p:cNvSpPr>
          <p:nvPr>
            <p:ph idx="1"/>
          </p:nvPr>
        </p:nvSpPr>
        <p:spPr>
          <a:xfrm>
            <a:off x="685800" y="1295400"/>
            <a:ext cx="8150225" cy="4941912"/>
          </a:xfrm>
        </p:spPr>
        <p:txBody>
          <a:bodyPr>
            <a:normAutofit fontScale="92500" lnSpcReduction="10000"/>
          </a:bodyPr>
          <a:lstStyle/>
          <a:p>
            <a:r>
              <a:rPr lang="en-GB" noProof="0" dirty="0"/>
              <a:t>JPA operates in a transactional context: modifications to the database must be executed within a transaction</a:t>
            </a:r>
          </a:p>
          <a:p>
            <a:r>
              <a:rPr lang="en-GB" noProof="0" dirty="0"/>
              <a:t>Transactions must be explicitly started and committed to apply changes</a:t>
            </a:r>
          </a:p>
          <a:p>
            <a:r>
              <a:rPr lang="en-GB" noProof="0" dirty="0"/>
              <a:t>If an error occurs, the transaction can be rolled back to maintain data integrity</a:t>
            </a:r>
          </a:p>
          <a:p>
            <a:r>
              <a:rPr lang="en-GB" b="1" noProof="0" dirty="0" err="1">
                <a:latin typeface="Courier New" panose="02070309020205020404" pitchFamily="49" charset="0"/>
                <a:cs typeface="Courier New" panose="02070309020205020404" pitchFamily="49" charset="0"/>
              </a:rPr>
              <a:t>EntityManager</a:t>
            </a:r>
            <a:r>
              <a:rPr lang="en-GB" noProof="0" dirty="0"/>
              <a:t> allows to retrieve a transaction via the method </a:t>
            </a:r>
            <a:r>
              <a:rPr lang="en-GB" i="1" noProof="0" dirty="0" err="1"/>
              <a:t>getTransaction</a:t>
            </a:r>
            <a:r>
              <a:rPr lang="en-GB" i="1" noProof="0" dirty="0"/>
              <a:t>()</a:t>
            </a:r>
          </a:p>
          <a:p>
            <a:endParaRPr lang="en-GB" noProof="0" dirty="0"/>
          </a:p>
        </p:txBody>
      </p:sp>
    </p:spTree>
    <p:extLst>
      <p:ext uri="{BB962C8B-B14F-4D97-AF65-F5344CB8AC3E}">
        <p14:creationId xmlns:p14="http://schemas.microsoft.com/office/powerpoint/2010/main" val="310330610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849E4-77E0-47C5-5F7E-22ABB7C24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6A921-2E30-4E43-E8FE-1BE521D46F65}"/>
              </a:ext>
            </a:extLst>
          </p:cNvPr>
          <p:cNvSpPr>
            <a:spLocks noGrp="1"/>
          </p:cNvSpPr>
          <p:nvPr>
            <p:ph type="title"/>
          </p:nvPr>
        </p:nvSpPr>
        <p:spPr/>
        <p:txBody>
          <a:bodyPr/>
          <a:lstStyle/>
          <a:p>
            <a:r>
              <a:rPr lang="en-GB" noProof="0" dirty="0" err="1"/>
              <a:t>EntityTransaction</a:t>
            </a:r>
            <a:endParaRPr lang="en-GB" noProof="0" dirty="0"/>
          </a:p>
        </p:txBody>
      </p:sp>
      <p:sp>
        <p:nvSpPr>
          <p:cNvPr id="3" name="Content Placeholder 2">
            <a:extLst>
              <a:ext uri="{FF2B5EF4-FFF2-40B4-BE49-F238E27FC236}">
                <a16:creationId xmlns:a16="http://schemas.microsoft.com/office/drawing/2014/main" id="{20C0CD1A-1561-BDAE-61FA-FE2317F6E172}"/>
              </a:ext>
            </a:extLst>
          </p:cNvPr>
          <p:cNvSpPr>
            <a:spLocks noGrp="1"/>
          </p:cNvSpPr>
          <p:nvPr>
            <p:ph idx="1"/>
          </p:nvPr>
        </p:nvSpPr>
        <p:spPr>
          <a:xfrm>
            <a:off x="685800" y="1295400"/>
            <a:ext cx="8150225" cy="4941912"/>
          </a:xfrm>
        </p:spPr>
        <p:txBody>
          <a:bodyPr>
            <a:normAutofit fontScale="85000" lnSpcReduction="10000"/>
          </a:bodyPr>
          <a:lstStyle/>
          <a:p>
            <a:r>
              <a:rPr lang="en-GB" b="1" noProof="0" dirty="0" err="1">
                <a:solidFill>
                  <a:schemeClr val="accent6">
                    <a:lumMod val="75000"/>
                  </a:schemeClr>
                </a:solidFill>
                <a:latin typeface="Courier New" panose="02070309020205020404" pitchFamily="49" charset="0"/>
                <a:cs typeface="Courier New" panose="02070309020205020404" pitchFamily="49" charset="0"/>
              </a:rPr>
              <a:t>EntityTransaction</a:t>
            </a:r>
            <a:r>
              <a:rPr lang="en-GB" noProof="0" dirty="0"/>
              <a:t> is the interface that represents a database transaction in JPA</a:t>
            </a:r>
          </a:p>
          <a:p>
            <a:r>
              <a:rPr lang="en-GB" noProof="0" dirty="0"/>
              <a:t>Its implementation is provided by the JPA provider</a:t>
            </a:r>
          </a:p>
          <a:p>
            <a:r>
              <a:rPr lang="en-GB" noProof="0" dirty="0"/>
              <a:t>Provides methods to control transaction flow:</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begin</a:t>
            </a:r>
            <a:r>
              <a:rPr lang="en-GB" b="1" noProof="0" dirty="0">
                <a:latin typeface="Courier New" panose="02070309020205020404" pitchFamily="49" charset="0"/>
                <a:cs typeface="Courier New" panose="02070309020205020404" pitchFamily="49" charset="0"/>
              </a:rPr>
              <a:t>()</a:t>
            </a:r>
            <a:r>
              <a:rPr lang="en-GB" noProof="0" dirty="0"/>
              <a:t>: starts a new transaction</a:t>
            </a:r>
          </a:p>
          <a:p>
            <a:pPr lvl="1"/>
            <a:r>
              <a:rPr lang="en-GB" b="1" noProof="0" dirty="0" err="1">
                <a:solidFill>
                  <a:schemeClr val="accent6">
                    <a:lumMod val="75000"/>
                  </a:schemeClr>
                </a:solidFill>
                <a:latin typeface="Courier New" panose="02070309020205020404" pitchFamily="49" charset="0"/>
                <a:cs typeface="Courier New" panose="02070309020205020404" pitchFamily="49" charset="0"/>
              </a:rPr>
              <a:t>isActive</a:t>
            </a:r>
            <a:r>
              <a:rPr lang="en-GB" b="1" noProof="0" dirty="0">
                <a:latin typeface="Courier New" panose="02070309020205020404" pitchFamily="49" charset="0"/>
                <a:cs typeface="Courier New" panose="02070309020205020404" pitchFamily="49" charset="0"/>
              </a:rPr>
              <a:t>()</a:t>
            </a:r>
            <a:r>
              <a:rPr lang="en-GB" noProof="0" dirty="0"/>
              <a:t>: checks if a transaction is currently running</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commit</a:t>
            </a:r>
            <a:r>
              <a:rPr lang="en-GB" b="1" noProof="0" dirty="0">
                <a:latin typeface="Courier New" panose="02070309020205020404" pitchFamily="49" charset="0"/>
                <a:cs typeface="Courier New" panose="02070309020205020404" pitchFamily="49" charset="0"/>
              </a:rPr>
              <a:t>()</a:t>
            </a:r>
            <a:r>
              <a:rPr lang="en-GB" noProof="0" dirty="0"/>
              <a:t>: saves all changes made during the transaction</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rollback</a:t>
            </a:r>
            <a:r>
              <a:rPr lang="en-GB" b="1" noProof="0" dirty="0">
                <a:latin typeface="Courier New" panose="02070309020205020404" pitchFamily="49" charset="0"/>
                <a:cs typeface="Courier New" panose="02070309020205020404" pitchFamily="49" charset="0"/>
              </a:rPr>
              <a:t>()</a:t>
            </a:r>
            <a:r>
              <a:rPr lang="en-GB" noProof="0" dirty="0"/>
              <a:t>: discards all changes if an error occurs</a:t>
            </a:r>
          </a:p>
          <a:p>
            <a:endParaRPr lang="en-GB" noProof="0" dirty="0"/>
          </a:p>
        </p:txBody>
      </p:sp>
    </p:spTree>
    <p:extLst>
      <p:ext uri="{BB962C8B-B14F-4D97-AF65-F5344CB8AC3E}">
        <p14:creationId xmlns:p14="http://schemas.microsoft.com/office/powerpoint/2010/main" val="5166683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3A3D5-CFF3-005F-44ED-39C4E95F0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70078-8154-0DC3-1B95-3EA06E8A2F01}"/>
              </a:ext>
            </a:extLst>
          </p:cNvPr>
          <p:cNvSpPr>
            <a:spLocks noGrp="1"/>
          </p:cNvSpPr>
          <p:nvPr>
            <p:ph type="title"/>
          </p:nvPr>
        </p:nvSpPr>
        <p:spPr/>
        <p:txBody>
          <a:bodyPr>
            <a:normAutofit/>
          </a:bodyPr>
          <a:lstStyle/>
          <a:p>
            <a:r>
              <a:rPr lang="en-GB" dirty="0"/>
              <a:t>Lifecycle Management</a:t>
            </a:r>
          </a:p>
        </p:txBody>
      </p:sp>
      <p:sp>
        <p:nvSpPr>
          <p:cNvPr id="3" name="Content Placeholder 2">
            <a:extLst>
              <a:ext uri="{FF2B5EF4-FFF2-40B4-BE49-F238E27FC236}">
                <a16:creationId xmlns:a16="http://schemas.microsoft.com/office/drawing/2014/main" id="{E24BD2FE-A1E2-5705-36E5-40242E433405}"/>
              </a:ext>
            </a:extLst>
          </p:cNvPr>
          <p:cNvSpPr>
            <a:spLocks noGrp="1"/>
          </p:cNvSpPr>
          <p:nvPr>
            <p:ph idx="1"/>
          </p:nvPr>
        </p:nvSpPr>
        <p:spPr>
          <a:xfrm>
            <a:off x="685800" y="1196752"/>
            <a:ext cx="8150225" cy="5373960"/>
          </a:xfrm>
        </p:spPr>
        <p:txBody>
          <a:bodyPr>
            <a:normAutofit fontScale="92500" lnSpcReduction="10000"/>
          </a:bodyPr>
          <a:lstStyle/>
          <a:p>
            <a:r>
              <a:rPr lang="en-GB" noProof="0" dirty="0"/>
              <a:t>Operations that modify data require an active transaction</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persist</a:t>
            </a:r>
            <a:r>
              <a:rPr lang="en-GB" b="1" noProof="0" dirty="0">
                <a:latin typeface="Courier New" panose="02070309020205020404" pitchFamily="49" charset="0"/>
                <a:cs typeface="Courier New" panose="02070309020205020404" pitchFamily="49" charset="0"/>
              </a:rPr>
              <a:t>(Object entity)</a:t>
            </a:r>
            <a:r>
              <a:rPr lang="en-GB" noProof="0" dirty="0"/>
              <a:t>: registers a new entity to be inserted into the database when a transaction is committed</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merge</a:t>
            </a:r>
            <a:r>
              <a:rPr lang="en-GB" b="1" noProof="0" dirty="0">
                <a:latin typeface="Courier New" panose="02070309020205020404" pitchFamily="49" charset="0"/>
                <a:cs typeface="Courier New" panose="02070309020205020404" pitchFamily="49" charset="0"/>
              </a:rPr>
              <a:t>(Object entity)</a:t>
            </a:r>
            <a:r>
              <a:rPr lang="en-GB" noProof="0" dirty="0"/>
              <a:t>: updates an existing entity or reattaches a detached entity to the persistence context</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detach</a:t>
            </a:r>
            <a:r>
              <a:rPr lang="en-GB" b="1" noProof="0" dirty="0">
                <a:latin typeface="Courier New" panose="02070309020205020404" pitchFamily="49" charset="0"/>
                <a:cs typeface="Courier New" panose="02070309020205020404" pitchFamily="49" charset="0"/>
              </a:rPr>
              <a:t>(Object entity)</a:t>
            </a:r>
            <a:r>
              <a:rPr lang="en-GB" noProof="0" dirty="0"/>
              <a:t>: r</a:t>
            </a:r>
            <a:r>
              <a:rPr lang="en-GB" b="0" i="0" noProof="0" dirty="0">
                <a:solidFill>
                  <a:srgbClr val="000000"/>
                </a:solidFill>
                <a:effectLst/>
              </a:rPr>
              <a:t>emoves the given entity from the persistence context</a:t>
            </a:r>
            <a:endParaRPr lang="en-GB" noProof="0" dirty="0"/>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remove</a:t>
            </a:r>
            <a:r>
              <a:rPr lang="en-GB" b="1" noProof="0" dirty="0">
                <a:latin typeface="Courier New" panose="02070309020205020404" pitchFamily="49" charset="0"/>
                <a:cs typeface="Courier New" panose="02070309020205020404" pitchFamily="49" charset="0"/>
              </a:rPr>
              <a:t>(Object entity)</a:t>
            </a:r>
            <a:r>
              <a:rPr lang="en-GB" noProof="0" dirty="0"/>
              <a:t>: marks an entity for deletion from the database when the transaction is committed</a:t>
            </a:r>
          </a:p>
        </p:txBody>
      </p:sp>
    </p:spTree>
    <p:extLst>
      <p:ext uri="{BB962C8B-B14F-4D97-AF65-F5344CB8AC3E}">
        <p14:creationId xmlns:p14="http://schemas.microsoft.com/office/powerpoint/2010/main" val="113513896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0306-7C3B-470D-5CA7-D1CC32160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34F30-8E48-377C-EA48-6DAA5F43E2F4}"/>
              </a:ext>
            </a:extLst>
          </p:cNvPr>
          <p:cNvSpPr>
            <a:spLocks noGrp="1"/>
          </p:cNvSpPr>
          <p:nvPr>
            <p:ph type="title"/>
          </p:nvPr>
        </p:nvSpPr>
        <p:spPr/>
        <p:txBody>
          <a:bodyPr>
            <a:normAutofit/>
          </a:bodyPr>
          <a:lstStyle/>
          <a:p>
            <a:r>
              <a:rPr lang="en-GB" noProof="0" dirty="0"/>
              <a:t>Querying</a:t>
            </a:r>
          </a:p>
        </p:txBody>
      </p:sp>
      <p:sp>
        <p:nvSpPr>
          <p:cNvPr id="3" name="Content Placeholder 2">
            <a:extLst>
              <a:ext uri="{FF2B5EF4-FFF2-40B4-BE49-F238E27FC236}">
                <a16:creationId xmlns:a16="http://schemas.microsoft.com/office/drawing/2014/main" id="{E78044C5-77B3-151B-E492-021FB3F93474}"/>
              </a:ext>
            </a:extLst>
          </p:cNvPr>
          <p:cNvSpPr>
            <a:spLocks noGrp="1"/>
          </p:cNvSpPr>
          <p:nvPr>
            <p:ph idx="1"/>
          </p:nvPr>
        </p:nvSpPr>
        <p:spPr>
          <a:xfrm>
            <a:off x="685800" y="1196752"/>
            <a:ext cx="8150225" cy="4824536"/>
          </a:xfrm>
        </p:spPr>
        <p:txBody>
          <a:bodyPr>
            <a:normAutofit fontScale="92500" lnSpcReduction="20000"/>
          </a:bodyPr>
          <a:lstStyle/>
          <a:p>
            <a:r>
              <a:rPr lang="en-GB" noProof="0" dirty="0"/>
              <a:t>Operations that read data do not require an active transaction</a:t>
            </a:r>
          </a:p>
          <a:p>
            <a:r>
              <a:rPr lang="en-GB" b="1" noProof="0" dirty="0" err="1">
                <a:latin typeface="Courier New" panose="02070309020205020404" pitchFamily="49" charset="0"/>
                <a:cs typeface="Courier New" panose="02070309020205020404" pitchFamily="49" charset="0"/>
              </a:rPr>
              <a:t>EntityManager</a:t>
            </a:r>
            <a:r>
              <a:rPr lang="en-GB" noProof="0" dirty="0"/>
              <a:t> provide a method to directly retrieve an entity </a:t>
            </a:r>
          </a:p>
          <a:p>
            <a:pPr lvl="1"/>
            <a:r>
              <a:rPr lang="en-GB" b="1" noProof="0" dirty="0">
                <a:solidFill>
                  <a:schemeClr val="accent6">
                    <a:lumMod val="75000"/>
                  </a:schemeClr>
                </a:solidFill>
                <a:latin typeface="Courier New" panose="02070309020205020404" pitchFamily="49" charset="0"/>
                <a:cs typeface="Courier New" panose="02070309020205020404" pitchFamily="49" charset="0"/>
              </a:rPr>
              <a:t>find</a:t>
            </a:r>
            <a:r>
              <a:rPr lang="en-GB" b="1" noProof="0" dirty="0">
                <a:latin typeface="Courier New" panose="02070309020205020404" pitchFamily="49" charset="0"/>
                <a:cs typeface="Courier New" panose="02070309020205020404" pitchFamily="49" charset="0"/>
              </a:rPr>
              <a:t>(Class&lt;T&gt;, Object </a:t>
            </a:r>
            <a:r>
              <a:rPr lang="en-GB" b="1" noProof="0" dirty="0" err="1">
                <a:latin typeface="Courier New" panose="02070309020205020404" pitchFamily="49" charset="0"/>
                <a:cs typeface="Courier New" panose="02070309020205020404" pitchFamily="49" charset="0"/>
              </a:rPr>
              <a:t>primaryKey</a:t>
            </a:r>
            <a:r>
              <a:rPr lang="en-GB" b="1" noProof="0" dirty="0">
                <a:latin typeface="Courier New" panose="02070309020205020404" pitchFamily="49" charset="0"/>
                <a:cs typeface="Courier New" panose="02070309020205020404" pitchFamily="49" charset="0"/>
              </a:rPr>
              <a:t>)</a:t>
            </a:r>
            <a:r>
              <a:rPr lang="en-GB" noProof="0" dirty="0"/>
              <a:t>: retrieves a single entity by its primary key</a:t>
            </a:r>
          </a:p>
          <a:p>
            <a:r>
              <a:rPr lang="en-GB" noProof="0" dirty="0"/>
              <a:t>For more complex queries, </a:t>
            </a:r>
            <a:r>
              <a:rPr lang="en-GB" b="1" dirty="0" err="1">
                <a:latin typeface="Courier New" panose="02070309020205020404" pitchFamily="49" charset="0"/>
                <a:cs typeface="Courier New" panose="02070309020205020404" pitchFamily="49" charset="0"/>
              </a:rPr>
              <a:t>EntityManager</a:t>
            </a:r>
            <a:r>
              <a:rPr lang="en-GB" noProof="0" dirty="0"/>
              <a:t> provides methods that return a </a:t>
            </a:r>
            <a:r>
              <a:rPr lang="en-GB" b="1" dirty="0">
                <a:latin typeface="Courier New" panose="02070309020205020404" pitchFamily="49" charset="0"/>
                <a:cs typeface="Courier New" panose="02070309020205020404" pitchFamily="49" charset="0"/>
              </a:rPr>
              <a:t>Query</a:t>
            </a:r>
            <a:r>
              <a:rPr lang="en-GB" noProof="0" dirty="0"/>
              <a:t> object, which allows customization and execution of different types of queries.</a:t>
            </a:r>
          </a:p>
        </p:txBody>
      </p:sp>
    </p:spTree>
    <p:extLst>
      <p:ext uri="{BB962C8B-B14F-4D97-AF65-F5344CB8AC3E}">
        <p14:creationId xmlns:p14="http://schemas.microsoft.com/office/powerpoint/2010/main" val="25382774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29FFB-345A-430B-E5D3-269DF1891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C2A43-76BD-CBE1-B40D-109E4C403A62}"/>
              </a:ext>
            </a:extLst>
          </p:cNvPr>
          <p:cNvSpPr>
            <a:spLocks noGrp="1"/>
          </p:cNvSpPr>
          <p:nvPr>
            <p:ph type="title"/>
          </p:nvPr>
        </p:nvSpPr>
        <p:spPr/>
        <p:txBody>
          <a:bodyPr/>
          <a:lstStyle/>
          <a:p>
            <a:r>
              <a:rPr lang="en-GB" noProof="0" dirty="0"/>
              <a:t>The Repository Pattern</a:t>
            </a:r>
          </a:p>
        </p:txBody>
      </p:sp>
      <p:sp>
        <p:nvSpPr>
          <p:cNvPr id="4" name="Text Placeholder 3">
            <a:extLst>
              <a:ext uri="{FF2B5EF4-FFF2-40B4-BE49-F238E27FC236}">
                <a16:creationId xmlns:a16="http://schemas.microsoft.com/office/drawing/2014/main" id="{BB8C1D30-5BD0-192B-D996-213A3732E3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256070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987EB-B76E-39F3-FCD0-C0957268ECB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019204A-AD6E-6B3C-2240-DCA1E5F88923}"/>
              </a:ext>
            </a:extLst>
          </p:cNvPr>
          <p:cNvSpPr>
            <a:spLocks noGrp="1"/>
          </p:cNvSpPr>
          <p:nvPr>
            <p:ph type="title"/>
          </p:nvPr>
        </p:nvSpPr>
        <p:spPr/>
        <p:txBody>
          <a:bodyPr/>
          <a:lstStyle/>
          <a:p>
            <a:r>
              <a:rPr lang="en-GB" noProof="0" dirty="0"/>
              <a:t>Repository – Definition</a:t>
            </a:r>
          </a:p>
        </p:txBody>
      </p:sp>
      <p:sp>
        <p:nvSpPr>
          <p:cNvPr id="3" name="Segnaposto contenuto 2">
            <a:extLst>
              <a:ext uri="{FF2B5EF4-FFF2-40B4-BE49-F238E27FC236}">
                <a16:creationId xmlns:a16="http://schemas.microsoft.com/office/drawing/2014/main" id="{735FF55F-7E75-81E3-EB1D-17620969D909}"/>
              </a:ext>
            </a:extLst>
          </p:cNvPr>
          <p:cNvSpPr>
            <a:spLocks noGrp="1"/>
          </p:cNvSpPr>
          <p:nvPr>
            <p:ph idx="1"/>
          </p:nvPr>
        </p:nvSpPr>
        <p:spPr/>
        <p:txBody>
          <a:bodyPr>
            <a:normAutofit fontScale="92500"/>
          </a:bodyPr>
          <a:lstStyle/>
          <a:p>
            <a:pPr marL="0" indent="0">
              <a:buNone/>
            </a:pPr>
            <a:r>
              <a:rPr lang="en-GB" noProof="0" dirty="0"/>
              <a:t>The Repository Pattern is an architectural pattern that provides an abstraction layer between the application’s business logic and the database.</a:t>
            </a:r>
          </a:p>
          <a:p>
            <a:pPr marL="0" indent="0">
              <a:buNone/>
            </a:pPr>
            <a:r>
              <a:rPr lang="en-GB" noProof="0" dirty="0"/>
              <a:t>It defines a dedicated component responsible for retrieving, persisting, and managing entities, ensuring that data access operations are encapsulated and decoupled from other parts of the system.</a:t>
            </a:r>
          </a:p>
          <a:p>
            <a:pPr marL="0" indent="0">
              <a:buNone/>
            </a:pPr>
            <a:endParaRPr lang="en-GB" noProof="0" dirty="0"/>
          </a:p>
        </p:txBody>
      </p:sp>
    </p:spTree>
    <p:extLst>
      <p:ext uri="{BB962C8B-B14F-4D97-AF65-F5344CB8AC3E}">
        <p14:creationId xmlns:p14="http://schemas.microsoft.com/office/powerpoint/2010/main" val="26822081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DEBB9-38F0-FD4E-3FE8-E3C7595196D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B7053A6-B551-2F52-5A74-10B34A8B5E9C}"/>
              </a:ext>
            </a:extLst>
          </p:cNvPr>
          <p:cNvSpPr>
            <a:spLocks noGrp="1"/>
          </p:cNvSpPr>
          <p:nvPr>
            <p:ph type="title"/>
          </p:nvPr>
        </p:nvSpPr>
        <p:spPr/>
        <p:txBody>
          <a:bodyPr>
            <a:normAutofit/>
          </a:bodyPr>
          <a:lstStyle/>
          <a:p>
            <a:r>
              <a:rPr lang="en-GB" noProof="0" dirty="0"/>
              <a:t>Repository – Key Features</a:t>
            </a:r>
          </a:p>
        </p:txBody>
      </p:sp>
      <p:sp>
        <p:nvSpPr>
          <p:cNvPr id="3" name="Segnaposto contenuto 2">
            <a:extLst>
              <a:ext uri="{FF2B5EF4-FFF2-40B4-BE49-F238E27FC236}">
                <a16:creationId xmlns:a16="http://schemas.microsoft.com/office/drawing/2014/main" id="{21F30E63-F6BC-E935-C866-8753EBBB1341}"/>
              </a:ext>
            </a:extLst>
          </p:cNvPr>
          <p:cNvSpPr>
            <a:spLocks noGrp="1"/>
          </p:cNvSpPr>
          <p:nvPr>
            <p:ph idx="1"/>
          </p:nvPr>
        </p:nvSpPr>
        <p:spPr>
          <a:xfrm>
            <a:off x="685800" y="1295400"/>
            <a:ext cx="8150225" cy="5085928"/>
          </a:xfrm>
        </p:spPr>
        <p:txBody>
          <a:bodyPr>
            <a:normAutofit fontScale="70000" lnSpcReduction="20000"/>
          </a:bodyPr>
          <a:lstStyle/>
          <a:p>
            <a:r>
              <a:rPr lang="en-GB" noProof="0" dirty="0"/>
              <a:t>Acts as an intermediary between the ORM and business logic.</a:t>
            </a:r>
          </a:p>
          <a:p>
            <a:r>
              <a:rPr lang="en-GB" noProof="0" dirty="0"/>
              <a:t>Encapsulates data access logic within a dedicated component.</a:t>
            </a:r>
          </a:p>
          <a:p>
            <a:r>
              <a:rPr lang="en-GB" noProof="0" dirty="0"/>
              <a:t>Keeps database operations separate from business logic.</a:t>
            </a:r>
          </a:p>
          <a:p>
            <a:r>
              <a:rPr lang="en-GB" noProof="0" dirty="0"/>
              <a:t>Provides a structured interface for querying and modifying entities, improving code maintainability.</a:t>
            </a:r>
          </a:p>
          <a:p>
            <a:r>
              <a:rPr lang="en-GB" noProof="0" dirty="0"/>
              <a:t>Centralizes data access in one place, reducing code duplication and enforcing consistency.</a:t>
            </a:r>
          </a:p>
          <a:p>
            <a:r>
              <a:rPr lang="en-GB" noProof="0" dirty="0"/>
              <a:t>Supports standard data access patterns, including CRUD operations, query methods, and custom queries.</a:t>
            </a:r>
          </a:p>
          <a:p>
            <a:r>
              <a:rPr lang="en-GB" noProof="0" dirty="0"/>
              <a:t>Improves testability by abstracting persistence, making it easier to mock DB interactions or repositories entirely.</a:t>
            </a:r>
          </a:p>
        </p:txBody>
      </p:sp>
    </p:spTree>
    <p:extLst>
      <p:ext uri="{BB962C8B-B14F-4D97-AF65-F5344CB8AC3E}">
        <p14:creationId xmlns:p14="http://schemas.microsoft.com/office/powerpoint/2010/main" val="6656744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EBA03-0DF1-F559-5D04-A64B8ED75AF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4864CAA-4BC1-BD44-0EC2-60FF9A3DCAD3}"/>
              </a:ext>
            </a:extLst>
          </p:cNvPr>
          <p:cNvSpPr>
            <a:spLocks noGrp="1"/>
          </p:cNvSpPr>
          <p:nvPr>
            <p:ph type="title"/>
          </p:nvPr>
        </p:nvSpPr>
        <p:spPr/>
        <p:txBody>
          <a:bodyPr>
            <a:normAutofit/>
          </a:bodyPr>
          <a:lstStyle/>
          <a:p>
            <a:r>
              <a:rPr lang="en-GB" noProof="0" dirty="0"/>
              <a:t>Repository – CRUD Operations</a:t>
            </a:r>
          </a:p>
        </p:txBody>
      </p:sp>
      <p:sp>
        <p:nvSpPr>
          <p:cNvPr id="3" name="Segnaposto contenuto 2">
            <a:extLst>
              <a:ext uri="{FF2B5EF4-FFF2-40B4-BE49-F238E27FC236}">
                <a16:creationId xmlns:a16="http://schemas.microsoft.com/office/drawing/2014/main" id="{4BFD84EA-3802-35EC-2183-42DC316FE676}"/>
              </a:ext>
            </a:extLst>
          </p:cNvPr>
          <p:cNvSpPr>
            <a:spLocks noGrp="1"/>
          </p:cNvSpPr>
          <p:nvPr>
            <p:ph idx="1"/>
          </p:nvPr>
        </p:nvSpPr>
        <p:spPr>
          <a:xfrm>
            <a:off x="685800" y="1295400"/>
            <a:ext cx="8150225" cy="5157936"/>
          </a:xfrm>
        </p:spPr>
        <p:txBody>
          <a:bodyPr>
            <a:normAutofit fontScale="85000" lnSpcReduction="10000"/>
          </a:bodyPr>
          <a:lstStyle/>
          <a:p>
            <a:r>
              <a:rPr lang="en-GB" noProof="0" dirty="0"/>
              <a:t>Repositories provide a standard set of methods to manage entities in the database.</a:t>
            </a:r>
          </a:p>
          <a:p>
            <a:r>
              <a:rPr lang="en-GB" noProof="0" dirty="0"/>
              <a:t>The four primary operations in a repository are:</a:t>
            </a:r>
          </a:p>
          <a:p>
            <a:pPr lvl="1"/>
            <a:r>
              <a:rPr lang="en-GB" noProof="0" dirty="0"/>
              <a:t>Create – Inserts a new entity into the database.</a:t>
            </a:r>
          </a:p>
          <a:p>
            <a:pPr lvl="1"/>
            <a:r>
              <a:rPr lang="en-GB" noProof="0" dirty="0"/>
              <a:t>Read – Retrieves entities by ID or search criteria.</a:t>
            </a:r>
          </a:p>
          <a:p>
            <a:pPr lvl="1"/>
            <a:r>
              <a:rPr lang="en-GB" noProof="0" dirty="0"/>
              <a:t>Update – Modifies an existing entity and saves changes.</a:t>
            </a:r>
          </a:p>
          <a:p>
            <a:pPr lvl="1"/>
            <a:r>
              <a:rPr lang="en-GB" noProof="0" dirty="0"/>
              <a:t>Delete – Removes an entity from the database.</a:t>
            </a:r>
          </a:p>
          <a:p>
            <a:r>
              <a:rPr lang="en-GB" noProof="0" dirty="0"/>
              <a:t>Using a repository for CRUD operations ensures a consistent API across the application.</a:t>
            </a:r>
          </a:p>
        </p:txBody>
      </p:sp>
    </p:spTree>
    <p:extLst>
      <p:ext uri="{BB962C8B-B14F-4D97-AF65-F5344CB8AC3E}">
        <p14:creationId xmlns:p14="http://schemas.microsoft.com/office/powerpoint/2010/main" val="84955635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BFB24-0D56-F3A4-E40B-F62AB5F22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B82F5-5EEE-342A-E835-94D4E823854D}"/>
              </a:ext>
            </a:extLst>
          </p:cNvPr>
          <p:cNvSpPr>
            <a:spLocks noGrp="1"/>
          </p:cNvSpPr>
          <p:nvPr>
            <p:ph type="title"/>
          </p:nvPr>
        </p:nvSpPr>
        <p:spPr/>
        <p:txBody>
          <a:bodyPr/>
          <a:lstStyle/>
          <a:p>
            <a:r>
              <a:rPr lang="en-GB" noProof="0" dirty="0"/>
              <a:t>Repository</a:t>
            </a:r>
          </a:p>
        </p:txBody>
      </p:sp>
      <p:sp>
        <p:nvSpPr>
          <p:cNvPr id="3" name="Content Placeholder 2">
            <a:extLst>
              <a:ext uri="{FF2B5EF4-FFF2-40B4-BE49-F238E27FC236}">
                <a16:creationId xmlns:a16="http://schemas.microsoft.com/office/drawing/2014/main" id="{C2FFE9E2-3D58-B63E-0CCE-FEA542D59ACD}"/>
              </a:ext>
            </a:extLst>
          </p:cNvPr>
          <p:cNvSpPr>
            <a:spLocks noGrp="1"/>
          </p:cNvSpPr>
          <p:nvPr>
            <p:ph idx="1"/>
          </p:nvPr>
        </p:nvSpPr>
        <p:spPr>
          <a:xfrm>
            <a:off x="539552" y="1268760"/>
            <a:ext cx="8424936" cy="5040560"/>
          </a:xfrm>
        </p:spPr>
        <p:txBody>
          <a:bodyPr>
            <a:normAutofit fontScale="85000" lnSpcReduction="20000"/>
          </a:bodyPr>
          <a:lstStyle/>
          <a:p>
            <a:r>
              <a:rPr lang="en-GB" noProof="0" dirty="0"/>
              <a:t>JPA does not define a repository concept, and neither does Hibernate when used as a pure JPA provider.</a:t>
            </a:r>
          </a:p>
          <a:p>
            <a:r>
              <a:rPr lang="en-GB" noProof="0" dirty="0"/>
              <a:t>This means that repository classes must be implemented manually to handle entity persistence.</a:t>
            </a:r>
          </a:p>
          <a:p>
            <a:r>
              <a:rPr lang="en-GB" noProof="0" dirty="0"/>
              <a:t>The main purpose of a repository is to limit direct access to </a:t>
            </a:r>
            <a:r>
              <a:rPr lang="en-GB" noProof="0" dirty="0" err="1"/>
              <a:t>EntityManager</a:t>
            </a:r>
            <a:r>
              <a:rPr lang="en-GB" noProof="0" dirty="0"/>
              <a:t>, ensuring a structured and maintainable approach.</a:t>
            </a:r>
          </a:p>
          <a:p>
            <a:r>
              <a:rPr lang="en-GB" noProof="0" dirty="0"/>
              <a:t>Instead of passing </a:t>
            </a:r>
            <a:r>
              <a:rPr lang="en-GB" noProof="0" dirty="0" err="1"/>
              <a:t>EntityManager</a:t>
            </a:r>
            <a:r>
              <a:rPr lang="en-GB" noProof="0" dirty="0"/>
              <a:t> throughout the application, repositories encapsulate database operations, exposing only controlled methods for data access</a:t>
            </a:r>
          </a:p>
        </p:txBody>
      </p:sp>
    </p:spTree>
    <p:extLst>
      <p:ext uri="{BB962C8B-B14F-4D97-AF65-F5344CB8AC3E}">
        <p14:creationId xmlns:p14="http://schemas.microsoft.com/office/powerpoint/2010/main" val="25216745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37F7C29-19B3-42E4-3412-3DCBC1D53D7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16C2A35-517F-40E1-B6BD-6753B0812300}"/>
              </a:ext>
            </a:extLst>
          </p:cNvPr>
          <p:cNvSpPr>
            <a:spLocks noGrp="1"/>
          </p:cNvSpPr>
          <p:nvPr>
            <p:ph type="title"/>
          </p:nvPr>
        </p:nvSpPr>
        <p:spPr/>
        <p:txBody>
          <a:bodyPr>
            <a:normAutofit/>
          </a:bodyPr>
          <a:lstStyle/>
          <a:p>
            <a:r>
              <a:rPr lang="en-GB" noProof="0" dirty="0"/>
              <a:t>Repository – Basic Queries</a:t>
            </a:r>
          </a:p>
        </p:txBody>
      </p:sp>
      <p:sp>
        <p:nvSpPr>
          <p:cNvPr id="3" name="Segnaposto contenuto 2">
            <a:extLst>
              <a:ext uri="{FF2B5EF4-FFF2-40B4-BE49-F238E27FC236}">
                <a16:creationId xmlns:a16="http://schemas.microsoft.com/office/drawing/2014/main" id="{F2438C46-9285-3084-BBC2-59DB74BEB999}"/>
              </a:ext>
            </a:extLst>
          </p:cNvPr>
          <p:cNvSpPr>
            <a:spLocks noGrp="1"/>
          </p:cNvSpPr>
          <p:nvPr>
            <p:ph idx="1"/>
          </p:nvPr>
        </p:nvSpPr>
        <p:spPr>
          <a:xfrm>
            <a:off x="685800" y="1295400"/>
            <a:ext cx="8150225" cy="5157936"/>
          </a:xfrm>
        </p:spPr>
        <p:txBody>
          <a:bodyPr>
            <a:normAutofit fontScale="77500" lnSpcReduction="20000"/>
          </a:bodyPr>
          <a:lstStyle/>
          <a:p>
            <a:r>
              <a:rPr lang="en-GB" noProof="0" dirty="0"/>
              <a:t>Repositories leverage ORM capabilities to query the database using entity attributes</a:t>
            </a:r>
          </a:p>
          <a:p>
            <a:r>
              <a:rPr lang="en-GB" noProof="0" dirty="0"/>
              <a:t>Query methods allow filtering and retrieving entities based on their attributes, reducing the need to write explicit SQL</a:t>
            </a:r>
          </a:p>
          <a:p>
            <a:r>
              <a:rPr lang="en-GB" noProof="0" dirty="0"/>
              <a:t>Queries can be composed dynamically, combining multiple conditions within repository methods</a:t>
            </a:r>
          </a:p>
          <a:p>
            <a:pPr lvl="1"/>
            <a:r>
              <a:rPr lang="en-GB" noProof="0" dirty="0" err="1"/>
              <a:t>findByNameAndEmail</a:t>
            </a:r>
            <a:r>
              <a:rPr lang="en-GB" noProof="0" dirty="0"/>
              <a:t> (name, email): Finds an entity based on its name and email attribute.</a:t>
            </a:r>
          </a:p>
          <a:p>
            <a:pPr lvl="1"/>
            <a:r>
              <a:rPr lang="en-GB" noProof="0" dirty="0" err="1"/>
              <a:t>existsByEmail</a:t>
            </a:r>
            <a:r>
              <a:rPr lang="en-GB" noProof="0" dirty="0"/>
              <a:t>(String email): Checks if an entity with a given email exists</a:t>
            </a:r>
          </a:p>
          <a:p>
            <a:r>
              <a:rPr lang="en-GB" noProof="0" dirty="0"/>
              <a:t>Using repository query methods ensures cleaner and more maintainable business logic, keeping data access centralized</a:t>
            </a:r>
          </a:p>
        </p:txBody>
      </p:sp>
    </p:spTree>
    <p:extLst>
      <p:ext uri="{BB962C8B-B14F-4D97-AF65-F5344CB8AC3E}">
        <p14:creationId xmlns:p14="http://schemas.microsoft.com/office/powerpoint/2010/main" val="34288970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22AD03-3892-0969-321A-16E1DA99D65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00011E5-97A9-6660-E781-730FAA8F4864}"/>
              </a:ext>
            </a:extLst>
          </p:cNvPr>
          <p:cNvSpPr>
            <a:spLocks noGrp="1"/>
          </p:cNvSpPr>
          <p:nvPr>
            <p:ph type="title"/>
          </p:nvPr>
        </p:nvSpPr>
        <p:spPr/>
        <p:txBody>
          <a:bodyPr>
            <a:normAutofit/>
          </a:bodyPr>
          <a:lstStyle/>
          <a:p>
            <a:r>
              <a:rPr lang="en-GB" noProof="0" dirty="0"/>
              <a:t>Repository – Custom Queries</a:t>
            </a:r>
          </a:p>
        </p:txBody>
      </p:sp>
      <p:sp>
        <p:nvSpPr>
          <p:cNvPr id="3" name="Segnaposto contenuto 2">
            <a:extLst>
              <a:ext uri="{FF2B5EF4-FFF2-40B4-BE49-F238E27FC236}">
                <a16:creationId xmlns:a16="http://schemas.microsoft.com/office/drawing/2014/main" id="{D6D44E2B-601A-F1EF-E788-0C93A1DBD8F4}"/>
              </a:ext>
            </a:extLst>
          </p:cNvPr>
          <p:cNvSpPr>
            <a:spLocks noGrp="1"/>
          </p:cNvSpPr>
          <p:nvPr>
            <p:ph idx="1"/>
          </p:nvPr>
        </p:nvSpPr>
        <p:spPr>
          <a:xfrm>
            <a:off x="685800" y="1295400"/>
            <a:ext cx="8150225" cy="5157936"/>
          </a:xfrm>
        </p:spPr>
        <p:txBody>
          <a:bodyPr>
            <a:normAutofit fontScale="70000" lnSpcReduction="20000"/>
          </a:bodyPr>
          <a:lstStyle/>
          <a:p>
            <a:r>
              <a:rPr lang="en-GB" noProof="0" dirty="0"/>
              <a:t>When query methods are not enough, repositories can define custom query methods</a:t>
            </a:r>
          </a:p>
          <a:p>
            <a:r>
              <a:rPr lang="en-GB" noProof="0" dirty="0"/>
              <a:t>Custom query methods are useful for</a:t>
            </a:r>
          </a:p>
          <a:p>
            <a:pPr lvl="1"/>
            <a:r>
              <a:rPr lang="en-GB" noProof="0" dirty="0"/>
              <a:t>Complex filtering with advanced multiple conditions</a:t>
            </a:r>
          </a:p>
          <a:p>
            <a:pPr lvl="1"/>
            <a:r>
              <a:rPr lang="en-GB" noProof="0" dirty="0"/>
              <a:t>Aggregation queries (e.g., count, sum, averages)</a:t>
            </a:r>
          </a:p>
          <a:p>
            <a:pPr lvl="1"/>
            <a:r>
              <a:rPr lang="en-GB" noProof="0" dirty="0"/>
              <a:t>Joins and nested queries involving multiple entities</a:t>
            </a:r>
          </a:p>
          <a:p>
            <a:r>
              <a:rPr lang="en-GB" noProof="0" dirty="0"/>
              <a:t>Custom queries can be written using</a:t>
            </a:r>
          </a:p>
          <a:p>
            <a:pPr lvl="1"/>
            <a:r>
              <a:rPr lang="en-GB" noProof="0" dirty="0"/>
              <a:t>ORM query languages (e.g., JPQL, </a:t>
            </a:r>
            <a:r>
              <a:rPr lang="en-GB" noProof="0" dirty="0" err="1"/>
              <a:t>TypeORM</a:t>
            </a:r>
            <a:r>
              <a:rPr lang="en-GB" noProof="0" dirty="0"/>
              <a:t> Query Builder)</a:t>
            </a:r>
          </a:p>
          <a:p>
            <a:pPr lvl="1"/>
            <a:r>
              <a:rPr lang="en-GB" noProof="0" dirty="0"/>
              <a:t>Native SQL queries, for performance optimizations</a:t>
            </a:r>
          </a:p>
          <a:p>
            <a:r>
              <a:rPr lang="en-GB" noProof="0" dirty="0"/>
              <a:t>While custom queries provide flexibility, they should be used carefully to maintain abstraction</a:t>
            </a:r>
          </a:p>
          <a:p>
            <a:pPr lvl="1"/>
            <a:r>
              <a:rPr lang="en-GB" noProof="0" dirty="0"/>
              <a:t>If the result structure of a custom query does not match an entity, raw data (tuples) may be returned instead, causing a loss of abstraction</a:t>
            </a:r>
          </a:p>
        </p:txBody>
      </p:sp>
    </p:spTree>
    <p:extLst>
      <p:ext uri="{BB962C8B-B14F-4D97-AF65-F5344CB8AC3E}">
        <p14:creationId xmlns:p14="http://schemas.microsoft.com/office/powerpoint/2010/main" val="140175165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30120F-0C95-1352-C990-5E79E752EED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A3D7B9C-63E5-50C4-81DD-3917F997E2FE}"/>
              </a:ext>
            </a:extLst>
          </p:cNvPr>
          <p:cNvSpPr>
            <a:spLocks noGrp="1"/>
          </p:cNvSpPr>
          <p:nvPr>
            <p:ph type="title"/>
          </p:nvPr>
        </p:nvSpPr>
        <p:spPr/>
        <p:txBody>
          <a:bodyPr>
            <a:normAutofit fontScale="90000"/>
          </a:bodyPr>
          <a:lstStyle/>
          <a:p>
            <a:r>
              <a:rPr lang="en-GB" noProof="0" dirty="0"/>
              <a:t>Repository – Pagination &amp; Sorting</a:t>
            </a:r>
          </a:p>
        </p:txBody>
      </p:sp>
      <p:sp>
        <p:nvSpPr>
          <p:cNvPr id="3" name="Segnaposto contenuto 2">
            <a:extLst>
              <a:ext uri="{FF2B5EF4-FFF2-40B4-BE49-F238E27FC236}">
                <a16:creationId xmlns:a16="http://schemas.microsoft.com/office/drawing/2014/main" id="{B6C046D4-8155-79B0-8C23-43583294C226}"/>
              </a:ext>
            </a:extLst>
          </p:cNvPr>
          <p:cNvSpPr>
            <a:spLocks noGrp="1"/>
          </p:cNvSpPr>
          <p:nvPr>
            <p:ph idx="1"/>
          </p:nvPr>
        </p:nvSpPr>
        <p:spPr>
          <a:xfrm>
            <a:off x="685800" y="1295400"/>
            <a:ext cx="8150225" cy="5157936"/>
          </a:xfrm>
        </p:spPr>
        <p:txBody>
          <a:bodyPr>
            <a:normAutofit fontScale="85000" lnSpcReduction="20000"/>
          </a:bodyPr>
          <a:lstStyle/>
          <a:p>
            <a:r>
              <a:rPr lang="en-GB" noProof="0" dirty="0"/>
              <a:t>When handling large datasets, repositories provide mechanisms for efficient pagination and sorting.</a:t>
            </a:r>
          </a:p>
          <a:p>
            <a:r>
              <a:rPr lang="en-GB" noProof="0" dirty="0"/>
              <a:t>Pagination: Limits the number of results returned per request to improve performance.</a:t>
            </a:r>
          </a:p>
          <a:p>
            <a:pPr lvl="1"/>
            <a:r>
              <a:rPr lang="en-GB" noProof="0" dirty="0"/>
              <a:t>Example strategies: limit/offset, cursor-based pagination.</a:t>
            </a:r>
          </a:p>
          <a:p>
            <a:r>
              <a:rPr lang="en-GB" noProof="0" dirty="0"/>
              <a:t>Sorting: Orders results based on specified fields.</a:t>
            </a:r>
          </a:p>
          <a:p>
            <a:pPr lvl="1"/>
            <a:r>
              <a:rPr lang="en-GB" noProof="0" dirty="0"/>
              <a:t>Example: </a:t>
            </a:r>
            <a:r>
              <a:rPr lang="en-GB" noProof="0" dirty="0" err="1"/>
              <a:t>findAll</a:t>
            </a:r>
            <a:r>
              <a:rPr lang="en-GB" noProof="0" dirty="0"/>
              <a:t>(</a:t>
            </a:r>
            <a:r>
              <a:rPr lang="en-GB" noProof="0" dirty="0" err="1"/>
              <a:t>Sort.by</a:t>
            </a:r>
            <a:r>
              <a:rPr lang="en-GB" noProof="0" dirty="0"/>
              <a:t>("name").ascending()).</a:t>
            </a:r>
          </a:p>
          <a:p>
            <a:r>
              <a:rPr lang="en-GB" noProof="0" dirty="0"/>
              <a:t>Proper use of pagination and sorting prevents excessive memory consumption and speeds up query execution.</a:t>
            </a:r>
          </a:p>
        </p:txBody>
      </p:sp>
    </p:spTree>
    <p:extLst>
      <p:ext uri="{BB962C8B-B14F-4D97-AF65-F5344CB8AC3E}">
        <p14:creationId xmlns:p14="http://schemas.microsoft.com/office/powerpoint/2010/main" val="380276196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E2DE8F-D770-3785-3DC0-5AEF4ADC88F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716E99A-276A-36A7-E066-E3357A78B8E8}"/>
              </a:ext>
            </a:extLst>
          </p:cNvPr>
          <p:cNvSpPr>
            <a:spLocks noGrp="1"/>
          </p:cNvSpPr>
          <p:nvPr>
            <p:ph type="title"/>
          </p:nvPr>
        </p:nvSpPr>
        <p:spPr/>
        <p:txBody>
          <a:bodyPr>
            <a:normAutofit/>
          </a:bodyPr>
          <a:lstStyle/>
          <a:p>
            <a:r>
              <a:rPr lang="en-GB" noProof="0" dirty="0"/>
              <a:t>Repository – Testing</a:t>
            </a:r>
          </a:p>
        </p:txBody>
      </p:sp>
      <p:sp>
        <p:nvSpPr>
          <p:cNvPr id="3" name="Segnaposto contenuto 2">
            <a:extLst>
              <a:ext uri="{FF2B5EF4-FFF2-40B4-BE49-F238E27FC236}">
                <a16:creationId xmlns:a16="http://schemas.microsoft.com/office/drawing/2014/main" id="{A637D3CD-AF68-2C4C-16D7-B39D014F2897}"/>
              </a:ext>
            </a:extLst>
          </p:cNvPr>
          <p:cNvSpPr>
            <a:spLocks noGrp="1"/>
          </p:cNvSpPr>
          <p:nvPr>
            <p:ph idx="1"/>
          </p:nvPr>
        </p:nvSpPr>
        <p:spPr>
          <a:xfrm>
            <a:off x="685800" y="1295400"/>
            <a:ext cx="8150225" cy="4941912"/>
          </a:xfrm>
        </p:spPr>
        <p:txBody>
          <a:bodyPr>
            <a:normAutofit fontScale="77500" lnSpcReduction="20000"/>
          </a:bodyPr>
          <a:lstStyle/>
          <a:p>
            <a:r>
              <a:rPr lang="en-GB" noProof="0" dirty="0"/>
              <a:t>A repository should be tested at different levels while ensuring that database interactions are always mocked.</a:t>
            </a:r>
          </a:p>
          <a:p>
            <a:r>
              <a:rPr lang="en-GB" noProof="0" dirty="0"/>
              <a:t>Unit Testing the Repository</a:t>
            </a:r>
          </a:p>
          <a:p>
            <a:pPr lvl="1"/>
            <a:r>
              <a:rPr lang="en-GB" noProof="0" dirty="0"/>
              <a:t>Standard ORM operations (save(), </a:t>
            </a:r>
            <a:r>
              <a:rPr lang="en-GB" noProof="0" dirty="0" err="1"/>
              <a:t>findById</a:t>
            </a:r>
            <a:r>
              <a:rPr lang="en-GB" noProof="0" dirty="0"/>
              <a:t>(), delete()) should be mocked, ensuring the repository correctly interacts with the ORM.</a:t>
            </a:r>
          </a:p>
          <a:p>
            <a:r>
              <a:rPr lang="en-GB" noProof="0" dirty="0"/>
              <a:t>Unit Testing Higher-Level Components</a:t>
            </a:r>
          </a:p>
          <a:p>
            <a:pPr lvl="1"/>
            <a:r>
              <a:rPr lang="en-GB" noProof="0" dirty="0"/>
              <a:t>Repository itself, if involved, should be mocked entirely. </a:t>
            </a:r>
          </a:p>
          <a:p>
            <a:r>
              <a:rPr lang="en-GB" noProof="0" dirty="0"/>
              <a:t>Integration Testing the Repository</a:t>
            </a:r>
          </a:p>
          <a:p>
            <a:pPr lvl="1"/>
            <a:r>
              <a:rPr lang="en-GB" noProof="0" dirty="0"/>
              <a:t>The repository itself should not be mocked</a:t>
            </a:r>
          </a:p>
          <a:p>
            <a:pPr lvl="1"/>
            <a:r>
              <a:rPr lang="en-GB" noProof="0" dirty="0"/>
              <a:t>All its internal ORM operations (save, delete, find) must be mocked.</a:t>
            </a:r>
          </a:p>
        </p:txBody>
      </p:sp>
    </p:spTree>
    <p:extLst>
      <p:ext uri="{BB962C8B-B14F-4D97-AF65-F5344CB8AC3E}">
        <p14:creationId xmlns:p14="http://schemas.microsoft.com/office/powerpoint/2010/main" val="140137746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95A176-0F09-1791-166A-8F929FE45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37B0E-8A2E-8B03-0CB4-35F8A19D7B5E}"/>
              </a:ext>
            </a:extLst>
          </p:cNvPr>
          <p:cNvSpPr>
            <a:spLocks noGrp="1"/>
          </p:cNvSpPr>
          <p:nvPr>
            <p:ph type="title"/>
          </p:nvPr>
        </p:nvSpPr>
        <p:spPr/>
        <p:txBody>
          <a:bodyPr/>
          <a:lstStyle/>
          <a:p>
            <a:r>
              <a:rPr lang="en-GB" noProof="0" dirty="0"/>
              <a:t>Designing a Layered ORM-Based Application</a:t>
            </a:r>
          </a:p>
        </p:txBody>
      </p:sp>
      <p:sp>
        <p:nvSpPr>
          <p:cNvPr id="4" name="Text Placeholder 3">
            <a:extLst>
              <a:ext uri="{FF2B5EF4-FFF2-40B4-BE49-F238E27FC236}">
                <a16:creationId xmlns:a16="http://schemas.microsoft.com/office/drawing/2014/main" id="{2D41C3B4-DEAE-1C10-A342-5993F80D1CC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167174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79668D4-AEE8-C93E-DC7B-DEA5E8240861}"/>
              </a:ext>
            </a:extLst>
          </p:cNvPr>
          <p:cNvSpPr>
            <a:spLocks noGrp="1"/>
          </p:cNvSpPr>
          <p:nvPr>
            <p:ph type="title"/>
          </p:nvPr>
        </p:nvSpPr>
        <p:spPr/>
        <p:txBody>
          <a:bodyPr>
            <a:normAutofit/>
          </a:bodyPr>
          <a:lstStyle/>
          <a:p>
            <a:r>
              <a:rPr lang="en-GB" sz="3500" noProof="0" dirty="0"/>
              <a:t>Layered Structure - Definition</a:t>
            </a:r>
          </a:p>
        </p:txBody>
      </p:sp>
      <p:sp>
        <p:nvSpPr>
          <p:cNvPr id="3" name="Segnaposto contenuto 2">
            <a:extLst>
              <a:ext uri="{FF2B5EF4-FFF2-40B4-BE49-F238E27FC236}">
                <a16:creationId xmlns:a16="http://schemas.microsoft.com/office/drawing/2014/main" id="{22658A4C-5C1C-CA1E-E0E6-A8D6EFCA230A}"/>
              </a:ext>
            </a:extLst>
          </p:cNvPr>
          <p:cNvSpPr>
            <a:spLocks noGrp="1"/>
          </p:cNvSpPr>
          <p:nvPr>
            <p:ph idx="1"/>
          </p:nvPr>
        </p:nvSpPr>
        <p:spPr>
          <a:xfrm>
            <a:off x="685800" y="1295400"/>
            <a:ext cx="8150225" cy="5085928"/>
          </a:xfrm>
        </p:spPr>
        <p:txBody>
          <a:bodyPr>
            <a:normAutofit fontScale="92500" lnSpcReduction="10000"/>
          </a:bodyPr>
          <a:lstStyle/>
          <a:p>
            <a:pPr marL="0" indent="0">
              <a:buNone/>
            </a:pPr>
            <a:r>
              <a:rPr lang="en-GB" noProof="0" dirty="0"/>
              <a:t>A layered architecture is a software design pattern that organizes an application into multiple, distinct levels, each with a specific responsibility. </a:t>
            </a:r>
          </a:p>
          <a:p>
            <a:pPr marL="0" indent="0">
              <a:buNone/>
            </a:pPr>
            <a:r>
              <a:rPr lang="en-GB" noProof="0" dirty="0"/>
              <a:t>Each layer communicates only with adjacent layers, maintaining a structured and predictable flow of data. </a:t>
            </a:r>
          </a:p>
          <a:p>
            <a:pPr marL="0" indent="0">
              <a:buNone/>
            </a:pPr>
            <a:r>
              <a:rPr lang="en-GB" noProof="0" dirty="0"/>
              <a:t>This structure enforces a clear separation of concerns, preventing different parts of the application from becoming tightly coupled. </a:t>
            </a:r>
          </a:p>
        </p:txBody>
      </p:sp>
    </p:spTree>
    <p:extLst>
      <p:ext uri="{BB962C8B-B14F-4D97-AF65-F5344CB8AC3E}">
        <p14:creationId xmlns:p14="http://schemas.microsoft.com/office/powerpoint/2010/main" val="98549427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D3193E-4CCE-6327-B34A-DABCA8859CB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05789DB-9E6E-85BC-D0D0-79E2ACC30ADD}"/>
              </a:ext>
            </a:extLst>
          </p:cNvPr>
          <p:cNvSpPr>
            <a:spLocks noGrp="1"/>
          </p:cNvSpPr>
          <p:nvPr>
            <p:ph type="title"/>
          </p:nvPr>
        </p:nvSpPr>
        <p:spPr/>
        <p:txBody>
          <a:bodyPr>
            <a:normAutofit/>
          </a:bodyPr>
          <a:lstStyle/>
          <a:p>
            <a:r>
              <a:rPr lang="en-GB" sz="3000" noProof="0" dirty="0"/>
              <a:t>ORM-based Layered Structure – Key Features</a:t>
            </a:r>
          </a:p>
        </p:txBody>
      </p:sp>
      <p:sp>
        <p:nvSpPr>
          <p:cNvPr id="3" name="Segnaposto contenuto 2">
            <a:extLst>
              <a:ext uri="{FF2B5EF4-FFF2-40B4-BE49-F238E27FC236}">
                <a16:creationId xmlns:a16="http://schemas.microsoft.com/office/drawing/2014/main" id="{BC9AADE6-FB79-414F-A97E-A013D0B0B541}"/>
              </a:ext>
            </a:extLst>
          </p:cNvPr>
          <p:cNvSpPr>
            <a:spLocks noGrp="1"/>
          </p:cNvSpPr>
          <p:nvPr>
            <p:ph idx="1"/>
          </p:nvPr>
        </p:nvSpPr>
        <p:spPr>
          <a:xfrm>
            <a:off x="685800" y="1295400"/>
            <a:ext cx="8150225" cy="5085928"/>
          </a:xfrm>
        </p:spPr>
        <p:txBody>
          <a:bodyPr>
            <a:normAutofit fontScale="92500" lnSpcReduction="20000"/>
          </a:bodyPr>
          <a:lstStyle/>
          <a:p>
            <a:r>
              <a:rPr lang="en-GB" noProof="0" dirty="0"/>
              <a:t>Encapsulates responsibilities, making the application modular and maintainable.</a:t>
            </a:r>
          </a:p>
          <a:p>
            <a:r>
              <a:rPr lang="en-GB" noProof="0" dirty="0"/>
              <a:t>Decouples concerns, preventing business logic from mixing with database operations.</a:t>
            </a:r>
          </a:p>
          <a:p>
            <a:r>
              <a:rPr lang="en-GB" noProof="0" dirty="0"/>
              <a:t>Enhances testability, allowing independent testing of each layer.</a:t>
            </a:r>
          </a:p>
          <a:p>
            <a:r>
              <a:rPr lang="en-GB" noProof="0" dirty="0"/>
              <a:t>Facilitates scalability, as layers can be modified independently.</a:t>
            </a:r>
          </a:p>
          <a:p>
            <a:r>
              <a:rPr lang="en-GB" noProof="0" dirty="0"/>
              <a:t>Improves security, ensuring controlled access to data through repositories.</a:t>
            </a:r>
          </a:p>
        </p:txBody>
      </p:sp>
    </p:spTree>
    <p:extLst>
      <p:ext uri="{BB962C8B-B14F-4D97-AF65-F5344CB8AC3E}">
        <p14:creationId xmlns:p14="http://schemas.microsoft.com/office/powerpoint/2010/main" val="3579896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C7F4E7-CEE0-9ABF-898B-F6A9AAC0FE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AC2D5D9-F240-98C8-9534-60D2305166D4}"/>
              </a:ext>
            </a:extLst>
          </p:cNvPr>
          <p:cNvSpPr>
            <a:spLocks noGrp="1"/>
          </p:cNvSpPr>
          <p:nvPr>
            <p:ph type="title"/>
          </p:nvPr>
        </p:nvSpPr>
        <p:spPr/>
        <p:txBody>
          <a:bodyPr>
            <a:normAutofit/>
          </a:bodyPr>
          <a:lstStyle/>
          <a:p>
            <a:r>
              <a:rPr lang="en-GB" sz="3500" noProof="0" dirty="0"/>
              <a:t>ORM-based Layered Structure – Layers</a:t>
            </a:r>
          </a:p>
        </p:txBody>
      </p:sp>
      <p:sp>
        <p:nvSpPr>
          <p:cNvPr id="3" name="Segnaposto contenuto 2">
            <a:extLst>
              <a:ext uri="{FF2B5EF4-FFF2-40B4-BE49-F238E27FC236}">
                <a16:creationId xmlns:a16="http://schemas.microsoft.com/office/drawing/2014/main" id="{798C3DEE-AB14-6345-C354-EBFB4DF91938}"/>
              </a:ext>
            </a:extLst>
          </p:cNvPr>
          <p:cNvSpPr>
            <a:spLocks noGrp="1"/>
          </p:cNvSpPr>
          <p:nvPr>
            <p:ph idx="1"/>
          </p:nvPr>
        </p:nvSpPr>
        <p:spPr>
          <a:xfrm>
            <a:off x="685800" y="1295400"/>
            <a:ext cx="8150225" cy="5085928"/>
          </a:xfrm>
        </p:spPr>
        <p:txBody>
          <a:bodyPr>
            <a:normAutofit fontScale="77500" lnSpcReduction="20000"/>
          </a:bodyPr>
          <a:lstStyle/>
          <a:p>
            <a:r>
              <a:rPr lang="en-GB" noProof="0" dirty="0"/>
              <a:t>Interface Layer</a:t>
            </a:r>
          </a:p>
          <a:p>
            <a:pPr lvl="1"/>
            <a:r>
              <a:rPr lang="en-GB" noProof="0" dirty="0"/>
              <a:t>Manages external interactions (HTTP, API, message queues).</a:t>
            </a:r>
          </a:p>
          <a:p>
            <a:r>
              <a:rPr lang="en-GB" noProof="0" dirty="0"/>
              <a:t>Controller Layer</a:t>
            </a:r>
          </a:p>
          <a:p>
            <a:pPr lvl="1"/>
            <a:r>
              <a:rPr lang="en-GB" noProof="0" dirty="0"/>
              <a:t>Aggregates data, orchestrates repositories and services.</a:t>
            </a:r>
          </a:p>
          <a:p>
            <a:r>
              <a:rPr lang="en-GB" noProof="0" dirty="0"/>
              <a:t>Service Layer (Business Logic)</a:t>
            </a:r>
          </a:p>
          <a:p>
            <a:pPr lvl="1"/>
            <a:r>
              <a:rPr lang="en-GB" noProof="0" dirty="0"/>
              <a:t>Implements core logic (data transformation, calculations, specific domain operations).</a:t>
            </a:r>
          </a:p>
          <a:p>
            <a:r>
              <a:rPr lang="en-GB" noProof="0" dirty="0"/>
              <a:t>Repository Layer</a:t>
            </a:r>
          </a:p>
          <a:p>
            <a:pPr lvl="1"/>
            <a:r>
              <a:rPr lang="en-GB" noProof="0" dirty="0"/>
              <a:t>Encapsulates database access, interacts with ORM.</a:t>
            </a:r>
          </a:p>
          <a:p>
            <a:r>
              <a:rPr lang="en-GB" noProof="0" dirty="0"/>
              <a:t>Model Layer</a:t>
            </a:r>
          </a:p>
          <a:p>
            <a:pPr lvl="1"/>
            <a:r>
              <a:rPr lang="en-GB" noProof="0" dirty="0"/>
              <a:t>Defines entities and relationships, representing the application domain.</a:t>
            </a:r>
          </a:p>
        </p:txBody>
      </p:sp>
    </p:spTree>
    <p:extLst>
      <p:ext uri="{BB962C8B-B14F-4D97-AF65-F5344CB8AC3E}">
        <p14:creationId xmlns:p14="http://schemas.microsoft.com/office/powerpoint/2010/main" val="288339452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859D80-F6C4-0D16-898D-AD509DB3BD00}"/>
              </a:ext>
            </a:extLst>
          </p:cNvPr>
          <p:cNvSpPr>
            <a:spLocks noGrp="1"/>
          </p:cNvSpPr>
          <p:nvPr>
            <p:ph type="title"/>
          </p:nvPr>
        </p:nvSpPr>
        <p:spPr/>
        <p:txBody>
          <a:bodyPr/>
          <a:lstStyle/>
          <a:p>
            <a:r>
              <a:rPr lang="en-GB" noProof="0" dirty="0"/>
              <a:t>Design - Best practices</a:t>
            </a:r>
          </a:p>
        </p:txBody>
      </p:sp>
      <p:sp>
        <p:nvSpPr>
          <p:cNvPr id="3" name="Segnaposto contenuto 2">
            <a:extLst>
              <a:ext uri="{FF2B5EF4-FFF2-40B4-BE49-F238E27FC236}">
                <a16:creationId xmlns:a16="http://schemas.microsoft.com/office/drawing/2014/main" id="{6B49D5C0-5946-C326-898D-6342AAE0F310}"/>
              </a:ext>
            </a:extLst>
          </p:cNvPr>
          <p:cNvSpPr>
            <a:spLocks noGrp="1"/>
          </p:cNvSpPr>
          <p:nvPr>
            <p:ph idx="1"/>
          </p:nvPr>
        </p:nvSpPr>
        <p:spPr/>
        <p:txBody>
          <a:bodyPr>
            <a:normAutofit fontScale="85000" lnSpcReduction="20000"/>
          </a:bodyPr>
          <a:lstStyle/>
          <a:p>
            <a:r>
              <a:rPr lang="en-GB" noProof="0" dirty="0"/>
              <a:t>Follow the layered approach to achieve Separation of Concerns.</a:t>
            </a:r>
          </a:p>
          <a:p>
            <a:r>
              <a:rPr lang="en-GB" noProof="0" dirty="0"/>
              <a:t>Do not access ORM outside of repositories.</a:t>
            </a:r>
          </a:p>
          <a:p>
            <a:r>
              <a:rPr lang="en-GB" noProof="0" dirty="0"/>
              <a:t>Use services for non-trivial business logic, keeping controllers lightweight.</a:t>
            </a:r>
          </a:p>
          <a:p>
            <a:r>
              <a:rPr lang="en-GB" noProof="0" dirty="0"/>
              <a:t>Optimize entity relationships (eager vs. lazy loading) to prevent unnecessary queries.</a:t>
            </a:r>
          </a:p>
          <a:p>
            <a:r>
              <a:rPr lang="en-GB" noProof="0" dirty="0"/>
              <a:t>Leverage transaction management to ensure data consistency.</a:t>
            </a:r>
          </a:p>
          <a:p>
            <a:r>
              <a:rPr lang="en-GB" noProof="0" dirty="0"/>
              <a:t>Use repository methods instead of raw SQL, unless optimization is needed.</a:t>
            </a:r>
          </a:p>
        </p:txBody>
      </p:sp>
    </p:spTree>
    <p:extLst>
      <p:ext uri="{BB962C8B-B14F-4D97-AF65-F5344CB8AC3E}">
        <p14:creationId xmlns:p14="http://schemas.microsoft.com/office/powerpoint/2010/main" val="248701085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AF66FA-1719-7C17-BBF8-E38D600C3184}"/>
              </a:ext>
            </a:extLst>
          </p:cNvPr>
          <p:cNvSpPr>
            <a:spLocks noGrp="1"/>
          </p:cNvSpPr>
          <p:nvPr>
            <p:ph type="title"/>
          </p:nvPr>
        </p:nvSpPr>
        <p:spPr/>
        <p:txBody>
          <a:bodyPr/>
          <a:lstStyle/>
          <a:p>
            <a:r>
              <a:rPr lang="en-GB" noProof="0" dirty="0"/>
              <a:t>Design - Pitfalls to Avoid</a:t>
            </a:r>
          </a:p>
        </p:txBody>
      </p:sp>
      <p:sp>
        <p:nvSpPr>
          <p:cNvPr id="3" name="Segnaposto contenuto 2">
            <a:extLst>
              <a:ext uri="{FF2B5EF4-FFF2-40B4-BE49-F238E27FC236}">
                <a16:creationId xmlns:a16="http://schemas.microsoft.com/office/drawing/2014/main" id="{555D7240-780C-D101-32CA-A0A5E6E8E8D3}"/>
              </a:ext>
            </a:extLst>
          </p:cNvPr>
          <p:cNvSpPr>
            <a:spLocks noGrp="1"/>
          </p:cNvSpPr>
          <p:nvPr>
            <p:ph idx="1"/>
          </p:nvPr>
        </p:nvSpPr>
        <p:spPr/>
        <p:txBody>
          <a:bodyPr>
            <a:normAutofit fontScale="85000" lnSpcReduction="20000"/>
          </a:bodyPr>
          <a:lstStyle/>
          <a:p>
            <a:r>
              <a:rPr lang="en-GB" noProof="0" dirty="0"/>
              <a:t>Skipping layers arbitrarily, leading to inconsistent architecture.</a:t>
            </a:r>
          </a:p>
          <a:p>
            <a:r>
              <a:rPr lang="en-GB" noProof="0" dirty="0"/>
              <a:t>Placing business logic in controllers, making them too complex.</a:t>
            </a:r>
          </a:p>
          <a:p>
            <a:r>
              <a:rPr lang="en-GB" noProof="0" dirty="0"/>
              <a:t>Overloading repositories with business logic, reducing their clarity.</a:t>
            </a:r>
          </a:p>
          <a:p>
            <a:r>
              <a:rPr lang="en-GB" noProof="0" dirty="0"/>
              <a:t>Ignoring pagination and filtering, leading to performance issues.</a:t>
            </a:r>
          </a:p>
          <a:p>
            <a:r>
              <a:rPr lang="en-GB" noProof="0" dirty="0"/>
              <a:t>Hardcoding queries, making maintenance harder.</a:t>
            </a:r>
          </a:p>
          <a:p>
            <a:r>
              <a:rPr lang="en-GB" noProof="0" dirty="0"/>
              <a:t>Neglecting testing at different levels, increasing debugging difficulty.</a:t>
            </a:r>
          </a:p>
        </p:txBody>
      </p:sp>
    </p:spTree>
    <p:extLst>
      <p:ext uri="{BB962C8B-B14F-4D97-AF65-F5344CB8AC3E}">
        <p14:creationId xmlns:p14="http://schemas.microsoft.com/office/powerpoint/2010/main" val="42762653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378E9A-7981-FB7D-7728-49AFF28FD53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5219BC3-A3F4-55C7-EFF3-795A3F121A1F}"/>
              </a:ext>
            </a:extLst>
          </p:cNvPr>
          <p:cNvSpPr>
            <a:spLocks noGrp="1"/>
          </p:cNvSpPr>
          <p:nvPr>
            <p:ph type="title"/>
          </p:nvPr>
        </p:nvSpPr>
        <p:spPr/>
        <p:txBody>
          <a:bodyPr>
            <a:normAutofit/>
          </a:bodyPr>
          <a:lstStyle/>
          <a:p>
            <a:r>
              <a:rPr lang="en-GB" sz="3300" noProof="0" dirty="0"/>
              <a:t>ORM-based Layered Structure – Example</a:t>
            </a:r>
          </a:p>
        </p:txBody>
      </p:sp>
      <p:pic>
        <p:nvPicPr>
          <p:cNvPr id="5" name="Segnaposto contenuto 4" descr="Immagine che contiene testo, schermata, Carattere, design&#10;&#10;Il contenuto generato dall'IA potrebbe non essere corretto.">
            <a:extLst>
              <a:ext uri="{FF2B5EF4-FFF2-40B4-BE49-F238E27FC236}">
                <a16:creationId xmlns:a16="http://schemas.microsoft.com/office/drawing/2014/main" id="{987B9B29-B166-6867-EB41-EA579EFA2E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3775" y="1643062"/>
            <a:ext cx="7534275" cy="4391025"/>
          </a:xfrm>
        </p:spPr>
      </p:pic>
    </p:spTree>
    <p:extLst>
      <p:ext uri="{BB962C8B-B14F-4D97-AF65-F5344CB8AC3E}">
        <p14:creationId xmlns:p14="http://schemas.microsoft.com/office/powerpoint/2010/main" val="353677365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3CFF3-74C0-DB64-17E5-6AE18364E902}"/>
              </a:ext>
            </a:extLst>
          </p:cNvPr>
          <p:cNvSpPr>
            <a:spLocks noGrp="1"/>
          </p:cNvSpPr>
          <p:nvPr>
            <p:ph type="title"/>
          </p:nvPr>
        </p:nvSpPr>
        <p:spPr/>
        <p:txBody>
          <a:bodyPr/>
          <a:lstStyle/>
          <a:p>
            <a:r>
              <a:rPr lang="en-GB" noProof="0" dirty="0"/>
              <a:t>Hibernate &amp; H2</a:t>
            </a:r>
          </a:p>
        </p:txBody>
      </p:sp>
      <p:sp>
        <p:nvSpPr>
          <p:cNvPr id="4" name="Text Placeholder 3">
            <a:extLst>
              <a:ext uri="{FF2B5EF4-FFF2-40B4-BE49-F238E27FC236}">
                <a16:creationId xmlns:a16="http://schemas.microsoft.com/office/drawing/2014/main" id="{41451EDF-C2A4-A3CD-E3A9-FDF94A51FA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7662177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B964C-A814-06D9-0F8C-DC14588F76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685BE-6FCF-8694-7BCA-06A8F7EFBC02}"/>
              </a:ext>
            </a:extLst>
          </p:cNvPr>
          <p:cNvSpPr>
            <a:spLocks noGrp="1"/>
          </p:cNvSpPr>
          <p:nvPr>
            <p:ph type="title"/>
          </p:nvPr>
        </p:nvSpPr>
        <p:spPr/>
        <p:txBody>
          <a:bodyPr/>
          <a:lstStyle/>
          <a:p>
            <a:r>
              <a:rPr lang="en-GB" noProof="0" dirty="0"/>
              <a:t>Hibernate</a:t>
            </a:r>
          </a:p>
        </p:txBody>
      </p:sp>
      <p:sp>
        <p:nvSpPr>
          <p:cNvPr id="3" name="Content Placeholder 2">
            <a:extLst>
              <a:ext uri="{FF2B5EF4-FFF2-40B4-BE49-F238E27FC236}">
                <a16:creationId xmlns:a16="http://schemas.microsoft.com/office/drawing/2014/main" id="{A435229B-CC90-BBF5-79CF-5954FAE459B9}"/>
              </a:ext>
            </a:extLst>
          </p:cNvPr>
          <p:cNvSpPr>
            <a:spLocks noGrp="1"/>
          </p:cNvSpPr>
          <p:nvPr>
            <p:ph idx="1"/>
          </p:nvPr>
        </p:nvSpPr>
        <p:spPr/>
        <p:txBody>
          <a:bodyPr>
            <a:normAutofit fontScale="77500" lnSpcReduction="20000"/>
          </a:bodyPr>
          <a:lstStyle/>
          <a:p>
            <a:pPr marL="0" indent="0">
              <a:buNone/>
            </a:pPr>
            <a:r>
              <a:rPr lang="en-GB" noProof="0" dirty="0"/>
              <a:t>Hibernate is an Object-Relational Mapping (ORM) framework for Java that simplifies database interactions by allowing developers to work with Java objects instead of writing SQL queries manually.</a:t>
            </a:r>
          </a:p>
          <a:p>
            <a:pPr marL="0" indent="0">
              <a:buNone/>
            </a:pPr>
            <a:r>
              <a:rPr lang="en-GB" noProof="0" dirty="0"/>
              <a:t>It fully implements the Jakarta Persistence API (JPA), meaning it can function as a pure JPA provider, following all JPA specifications without requiring additional features. However, Hibernate is more than just a JPA provider. When integrated into higher-level frameworks such as Spring or Jakarta EE, it extends JPA with advanced capabilities such as caching, batch processing, and more efficient query execution</a:t>
            </a:r>
          </a:p>
        </p:txBody>
      </p:sp>
    </p:spTree>
    <p:extLst>
      <p:ext uri="{BB962C8B-B14F-4D97-AF65-F5344CB8AC3E}">
        <p14:creationId xmlns:p14="http://schemas.microsoft.com/office/powerpoint/2010/main" val="149755884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58585-62A9-2CF5-28DA-AB5B126D8603}"/>
              </a:ext>
            </a:extLst>
          </p:cNvPr>
          <p:cNvSpPr>
            <a:spLocks noGrp="1"/>
          </p:cNvSpPr>
          <p:nvPr>
            <p:ph type="title"/>
          </p:nvPr>
        </p:nvSpPr>
        <p:spPr/>
        <p:txBody>
          <a:bodyPr/>
          <a:lstStyle/>
          <a:p>
            <a:r>
              <a:rPr lang="en-GB" noProof="0" dirty="0"/>
              <a:t>Hibernate as JPA Provider</a:t>
            </a:r>
          </a:p>
        </p:txBody>
      </p:sp>
      <p:sp>
        <p:nvSpPr>
          <p:cNvPr id="3" name="Content Placeholder 2">
            <a:extLst>
              <a:ext uri="{FF2B5EF4-FFF2-40B4-BE49-F238E27FC236}">
                <a16:creationId xmlns:a16="http://schemas.microsoft.com/office/drawing/2014/main" id="{7E9F1AD9-DC34-8B3D-CB7B-ECB587919656}"/>
              </a:ext>
            </a:extLst>
          </p:cNvPr>
          <p:cNvSpPr>
            <a:spLocks noGrp="1"/>
          </p:cNvSpPr>
          <p:nvPr>
            <p:ph idx="1"/>
          </p:nvPr>
        </p:nvSpPr>
        <p:spPr/>
        <p:txBody>
          <a:bodyPr>
            <a:normAutofit fontScale="77500" lnSpcReduction="20000"/>
          </a:bodyPr>
          <a:lstStyle/>
          <a:p>
            <a:r>
              <a:rPr lang="en-GB" noProof="0" dirty="0"/>
              <a:t>When used as a pure JPA provider, Hibernate strictly adheres to the JPA specification</a:t>
            </a:r>
          </a:p>
          <a:p>
            <a:pPr lvl="1"/>
            <a:r>
              <a:rPr lang="en-GB" noProof="0" dirty="0"/>
              <a:t>Uses JPA interfaces, such as </a:t>
            </a:r>
            <a:r>
              <a:rPr lang="en-GB" noProof="0" dirty="0" err="1"/>
              <a:t>EntityManagerFactory</a:t>
            </a:r>
            <a:r>
              <a:rPr lang="en-GB" noProof="0" dirty="0"/>
              <a:t> and </a:t>
            </a:r>
            <a:r>
              <a:rPr lang="en-GB" noProof="0" dirty="0" err="1"/>
              <a:t>EntityManager</a:t>
            </a:r>
            <a:r>
              <a:rPr lang="en-GB" noProof="0" dirty="0"/>
              <a:t>, to handle persistence</a:t>
            </a:r>
          </a:p>
          <a:p>
            <a:pPr lvl="1"/>
            <a:r>
              <a:rPr lang="en-GB" noProof="0" dirty="0"/>
              <a:t>Manages transactions through </a:t>
            </a:r>
            <a:r>
              <a:rPr lang="en-GB" noProof="0" dirty="0" err="1"/>
              <a:t>EntityTransaction</a:t>
            </a:r>
            <a:endParaRPr lang="en-GB" noProof="0" dirty="0"/>
          </a:p>
          <a:p>
            <a:pPr lvl="1"/>
            <a:r>
              <a:rPr lang="en-GB" noProof="0" dirty="0"/>
              <a:t>Provides its implementation of all the interfaces defined by JPA, making them available to work with</a:t>
            </a:r>
          </a:p>
          <a:p>
            <a:pPr lvl="1"/>
            <a:r>
              <a:rPr lang="en-GB" noProof="0" dirty="0"/>
              <a:t>Supports JPQL and Criteria API as query languages</a:t>
            </a:r>
          </a:p>
          <a:p>
            <a:pPr lvl="1"/>
            <a:r>
              <a:rPr lang="en-GB" noProof="0" dirty="0"/>
              <a:t>Reads standard </a:t>
            </a:r>
            <a:r>
              <a:rPr lang="en-GB" noProof="0" dirty="0" err="1"/>
              <a:t>persistence.xml</a:t>
            </a:r>
            <a:r>
              <a:rPr lang="en-GB" noProof="0" dirty="0"/>
              <a:t> configuration, allowing easy portability across different JPA providers</a:t>
            </a:r>
          </a:p>
        </p:txBody>
      </p:sp>
    </p:spTree>
    <p:extLst>
      <p:ext uri="{BB962C8B-B14F-4D97-AF65-F5344CB8AC3E}">
        <p14:creationId xmlns:p14="http://schemas.microsoft.com/office/powerpoint/2010/main" val="371453652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5FC7D7-BB08-649F-AA74-009C44A7D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74658-82C3-E1C3-EF78-06BACBB32186}"/>
              </a:ext>
            </a:extLst>
          </p:cNvPr>
          <p:cNvSpPr>
            <a:spLocks noGrp="1"/>
          </p:cNvSpPr>
          <p:nvPr>
            <p:ph type="title"/>
          </p:nvPr>
        </p:nvSpPr>
        <p:spPr/>
        <p:txBody>
          <a:bodyPr/>
          <a:lstStyle/>
          <a:p>
            <a:r>
              <a:rPr lang="en-GB" noProof="0" dirty="0"/>
              <a:t>Hibernate - Advanced features</a:t>
            </a:r>
          </a:p>
        </p:txBody>
      </p:sp>
      <p:sp>
        <p:nvSpPr>
          <p:cNvPr id="3" name="Content Placeholder 2">
            <a:extLst>
              <a:ext uri="{FF2B5EF4-FFF2-40B4-BE49-F238E27FC236}">
                <a16:creationId xmlns:a16="http://schemas.microsoft.com/office/drawing/2014/main" id="{F771E56C-E115-DCF6-1A31-97B6A6A35260}"/>
              </a:ext>
            </a:extLst>
          </p:cNvPr>
          <p:cNvSpPr>
            <a:spLocks noGrp="1"/>
          </p:cNvSpPr>
          <p:nvPr>
            <p:ph idx="1"/>
          </p:nvPr>
        </p:nvSpPr>
        <p:spPr/>
        <p:txBody>
          <a:bodyPr>
            <a:normAutofit fontScale="62500" lnSpcReduction="20000"/>
          </a:bodyPr>
          <a:lstStyle/>
          <a:p>
            <a:r>
              <a:rPr lang="en-GB" noProof="0" dirty="0"/>
              <a:t>When integrated with higher-level frameworks like Spring or Jakarta EE, Hibernate extends its basic JPA implementation with additional features, including:</a:t>
            </a:r>
          </a:p>
          <a:p>
            <a:pPr lvl="1"/>
            <a:r>
              <a:rPr lang="en-GB" noProof="0" dirty="0"/>
              <a:t>Sessions: a flexible and powerful alternative to </a:t>
            </a:r>
            <a:r>
              <a:rPr lang="en-GB" noProof="0" dirty="0" err="1"/>
              <a:t>EntityManager</a:t>
            </a:r>
            <a:r>
              <a:rPr lang="en-GB" noProof="0" dirty="0"/>
              <a:t> with automatic transaction control capabilities</a:t>
            </a:r>
          </a:p>
          <a:p>
            <a:pPr lvl="1"/>
            <a:r>
              <a:rPr lang="en-GB" noProof="0" dirty="0"/>
              <a:t>HQL (Hibernate Query Language): a more powerful alternative to JPQL with additional flexibility</a:t>
            </a:r>
          </a:p>
          <a:p>
            <a:pPr lvl="1"/>
            <a:r>
              <a:rPr lang="en-GB" noProof="0" dirty="0"/>
              <a:t>Advanced Caching Mechanisms: first-level cache (always active) and optional second-level cache for optimized performance</a:t>
            </a:r>
          </a:p>
          <a:p>
            <a:pPr lvl="1"/>
            <a:r>
              <a:rPr lang="en-GB" noProof="0" dirty="0"/>
              <a:t>Batch Processing: efficient handling of bulk data operations to improve write performance</a:t>
            </a:r>
          </a:p>
          <a:p>
            <a:pPr lvl="1"/>
            <a:r>
              <a:rPr lang="en-GB" noProof="0" dirty="0"/>
              <a:t>Event Listeners and Interceptors: hooks that allow executing custom logic during entity lifecycle events</a:t>
            </a:r>
          </a:p>
          <a:p>
            <a:pPr lvl="1"/>
            <a:r>
              <a:rPr lang="en-GB" noProof="0" dirty="0"/>
              <a:t>Flexible Fetch Strategies: advanced options for lazy and eager loading to optimize database queries</a:t>
            </a:r>
          </a:p>
          <a:p>
            <a:pPr lvl="1"/>
            <a:r>
              <a:rPr lang="en-GB" noProof="0" dirty="0"/>
              <a:t>NoSQL Support: ability to interact with NoSQL databases</a:t>
            </a:r>
          </a:p>
        </p:txBody>
      </p:sp>
    </p:spTree>
    <p:extLst>
      <p:ext uri="{BB962C8B-B14F-4D97-AF65-F5344CB8AC3E}">
        <p14:creationId xmlns:p14="http://schemas.microsoft.com/office/powerpoint/2010/main" val="60780297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B5E17C-FAC1-22DF-9684-F953C6902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A8DD3-3598-7AAB-4EB7-F7BB09EE86BB}"/>
              </a:ext>
            </a:extLst>
          </p:cNvPr>
          <p:cNvSpPr>
            <a:spLocks noGrp="1"/>
          </p:cNvSpPr>
          <p:nvPr>
            <p:ph type="title"/>
          </p:nvPr>
        </p:nvSpPr>
        <p:spPr/>
        <p:txBody>
          <a:bodyPr/>
          <a:lstStyle/>
          <a:p>
            <a:r>
              <a:rPr lang="en-GB" noProof="0" dirty="0"/>
              <a:t>Configuration</a:t>
            </a:r>
          </a:p>
        </p:txBody>
      </p:sp>
      <p:sp>
        <p:nvSpPr>
          <p:cNvPr id="3" name="Content Placeholder 2">
            <a:extLst>
              <a:ext uri="{FF2B5EF4-FFF2-40B4-BE49-F238E27FC236}">
                <a16:creationId xmlns:a16="http://schemas.microsoft.com/office/drawing/2014/main" id="{E35D53CE-DEC4-AAC8-B335-FC883851D2E5}"/>
              </a:ext>
            </a:extLst>
          </p:cNvPr>
          <p:cNvSpPr>
            <a:spLocks noGrp="1"/>
          </p:cNvSpPr>
          <p:nvPr>
            <p:ph idx="1"/>
          </p:nvPr>
        </p:nvSpPr>
        <p:spPr/>
        <p:txBody>
          <a:bodyPr>
            <a:normAutofit fontScale="55000" lnSpcReduction="20000"/>
          </a:bodyPr>
          <a:lstStyle/>
          <a:p>
            <a:r>
              <a:rPr lang="en-GB" noProof="0" dirty="0"/>
              <a:t>Although Hibernate works as a pure JPA provider, it also provides additional properties that enhance performance and database interaction.</a:t>
            </a:r>
          </a:p>
          <a:p>
            <a:pPr lvl="1"/>
            <a:r>
              <a:rPr lang="en-GB" noProof="0" dirty="0"/>
              <a:t>Some database-related settings are better optimized using Hibernate properties</a:t>
            </a:r>
          </a:p>
          <a:p>
            <a:pPr lvl="1"/>
            <a:r>
              <a:rPr lang="en-GB" noProof="0" dirty="0"/>
              <a:t>Hibernate adds dialect support, which allows it to optimize SQL for different DBMS</a:t>
            </a:r>
          </a:p>
          <a:p>
            <a:pPr lvl="1"/>
            <a:r>
              <a:rPr lang="en-GB" noProof="0" dirty="0"/>
              <a:t>Schema generation via Hibernate is faster and more efficient than the standard JPA mechanism</a:t>
            </a:r>
          </a:p>
          <a:p>
            <a:r>
              <a:rPr lang="en-GB" noProof="0" dirty="0"/>
              <a:t>Key Hibernate-Specific Properties</a:t>
            </a:r>
          </a:p>
          <a:p>
            <a:pPr lvl="1"/>
            <a:r>
              <a:rPr lang="en-GB" b="1" noProof="0" dirty="0" err="1">
                <a:latin typeface="Courier New" panose="02070309020205020404" pitchFamily="49" charset="0"/>
                <a:cs typeface="Courier New" panose="02070309020205020404" pitchFamily="49" charset="0"/>
              </a:rPr>
              <a:t>hibernate.dialect</a:t>
            </a:r>
            <a:r>
              <a:rPr lang="en-GB" noProof="0" dirty="0"/>
              <a:t>: defines the database type, allowing Hibernate to generate optimized SQL</a:t>
            </a:r>
          </a:p>
          <a:p>
            <a:pPr lvl="1"/>
            <a:r>
              <a:rPr lang="en-GB" b="1" noProof="0" dirty="0">
                <a:latin typeface="Courier New" panose="02070309020205020404" pitchFamily="49" charset="0"/>
                <a:cs typeface="Courier New" panose="02070309020205020404" pitchFamily="49" charset="0"/>
              </a:rPr>
              <a:t>hibernate.hbm2ddl.auto</a:t>
            </a:r>
            <a:r>
              <a:rPr lang="en-GB" noProof="0" dirty="0"/>
              <a:t>: handles schema generation with more flexibility than JPA’s standard option</a:t>
            </a:r>
          </a:p>
          <a:p>
            <a:pPr lvl="1"/>
            <a:r>
              <a:rPr lang="en-GB" b="1" noProof="0" dirty="0" err="1">
                <a:latin typeface="Courier New" panose="02070309020205020404" pitchFamily="49" charset="0"/>
                <a:cs typeface="Courier New" panose="02070309020205020404" pitchFamily="49" charset="0"/>
              </a:rPr>
              <a:t>hibernate.show_sql</a:t>
            </a:r>
            <a:r>
              <a:rPr lang="en-GB" noProof="0" dirty="0"/>
              <a:t>: enables logging of SQL statements executed by Hibernate</a:t>
            </a:r>
          </a:p>
          <a:p>
            <a:pPr lvl="1"/>
            <a:r>
              <a:rPr lang="en-GB" b="1" noProof="0" dirty="0" err="1">
                <a:latin typeface="Courier New" panose="02070309020205020404" pitchFamily="49" charset="0"/>
                <a:cs typeface="Courier New" panose="02070309020205020404" pitchFamily="49" charset="0"/>
              </a:rPr>
              <a:t>hibernate.format_sql</a:t>
            </a:r>
            <a:r>
              <a:rPr lang="en-GB" noProof="0" dirty="0"/>
              <a:t>: formats SQL output for better readability</a:t>
            </a:r>
          </a:p>
        </p:txBody>
      </p:sp>
    </p:spTree>
    <p:extLst>
      <p:ext uri="{BB962C8B-B14F-4D97-AF65-F5344CB8AC3E}">
        <p14:creationId xmlns:p14="http://schemas.microsoft.com/office/powerpoint/2010/main" val="356917092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D1C3F12-4E08-FAD2-2C05-7205D8FA6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5B293-45E0-8518-7C2C-AB85F205C378}"/>
              </a:ext>
            </a:extLst>
          </p:cNvPr>
          <p:cNvSpPr>
            <a:spLocks noGrp="1"/>
          </p:cNvSpPr>
          <p:nvPr>
            <p:ph type="title"/>
          </p:nvPr>
        </p:nvSpPr>
        <p:spPr/>
        <p:txBody>
          <a:bodyPr/>
          <a:lstStyle/>
          <a:p>
            <a:r>
              <a:rPr lang="en-GB" noProof="0" dirty="0"/>
              <a:t>Caching</a:t>
            </a:r>
          </a:p>
        </p:txBody>
      </p:sp>
      <p:sp>
        <p:nvSpPr>
          <p:cNvPr id="3" name="Content Placeholder 2">
            <a:extLst>
              <a:ext uri="{FF2B5EF4-FFF2-40B4-BE49-F238E27FC236}">
                <a16:creationId xmlns:a16="http://schemas.microsoft.com/office/drawing/2014/main" id="{DC1C4BA9-4434-AB0F-507C-D01AE40F632B}"/>
              </a:ext>
            </a:extLst>
          </p:cNvPr>
          <p:cNvSpPr>
            <a:spLocks noGrp="1"/>
          </p:cNvSpPr>
          <p:nvPr>
            <p:ph idx="1"/>
          </p:nvPr>
        </p:nvSpPr>
        <p:spPr/>
        <p:txBody>
          <a:bodyPr>
            <a:normAutofit/>
          </a:bodyPr>
          <a:lstStyle/>
          <a:p>
            <a:r>
              <a:rPr lang="en-GB" noProof="0" dirty="0"/>
              <a:t>Hibernate automatically enables first-level caching, even when used as a JPA provider.</a:t>
            </a:r>
          </a:p>
          <a:p>
            <a:r>
              <a:rPr lang="en-GB" noProof="0" dirty="0"/>
              <a:t>Entities retrieved within the same transaction are stored in the persistence context, avoiding redundant queries</a:t>
            </a:r>
          </a:p>
        </p:txBody>
      </p:sp>
    </p:spTree>
    <p:extLst>
      <p:ext uri="{BB962C8B-B14F-4D97-AF65-F5344CB8AC3E}">
        <p14:creationId xmlns:p14="http://schemas.microsoft.com/office/powerpoint/2010/main" val="33160797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EC0025B-67CA-B555-F78F-04ED64356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0C10E-CB5E-647E-E7AE-F816BA4BEB9B}"/>
              </a:ext>
            </a:extLst>
          </p:cNvPr>
          <p:cNvSpPr>
            <a:spLocks noGrp="1"/>
          </p:cNvSpPr>
          <p:nvPr>
            <p:ph type="title"/>
          </p:nvPr>
        </p:nvSpPr>
        <p:spPr/>
        <p:txBody>
          <a:bodyPr/>
          <a:lstStyle/>
          <a:p>
            <a:r>
              <a:rPr lang="en-GB" noProof="0" dirty="0"/>
              <a:t>Lazy loading</a:t>
            </a:r>
          </a:p>
        </p:txBody>
      </p:sp>
      <p:sp>
        <p:nvSpPr>
          <p:cNvPr id="3" name="Content Placeholder 2">
            <a:extLst>
              <a:ext uri="{FF2B5EF4-FFF2-40B4-BE49-F238E27FC236}">
                <a16:creationId xmlns:a16="http://schemas.microsoft.com/office/drawing/2014/main" id="{500C2D5D-A2CE-A0B3-9397-5992B78221BB}"/>
              </a:ext>
            </a:extLst>
          </p:cNvPr>
          <p:cNvSpPr>
            <a:spLocks noGrp="1"/>
          </p:cNvSpPr>
          <p:nvPr>
            <p:ph idx="1"/>
          </p:nvPr>
        </p:nvSpPr>
        <p:spPr/>
        <p:txBody>
          <a:bodyPr>
            <a:normAutofit fontScale="70000" lnSpcReduction="20000"/>
          </a:bodyPr>
          <a:lstStyle/>
          <a:p>
            <a:r>
              <a:rPr lang="en-GB" noProof="0" dirty="0"/>
              <a:t>Hibernate supports lazy loading using proxy objects, even when acting as a JPA provider</a:t>
            </a:r>
          </a:p>
          <a:p>
            <a:r>
              <a:rPr lang="en-GB" noProof="0" dirty="0"/>
              <a:t>When an entity is marked as </a:t>
            </a:r>
            <a:r>
              <a:rPr lang="en-GB" noProof="0" dirty="0" err="1"/>
              <a:t>FetchType.LAZY</a:t>
            </a:r>
            <a:r>
              <a:rPr lang="en-GB" noProof="0" dirty="0"/>
              <a:t>, Hibernate does not load the related entity immediately</a:t>
            </a:r>
          </a:p>
          <a:p>
            <a:r>
              <a:rPr lang="en-GB" noProof="0" dirty="0"/>
              <a:t>Hibernate automatically loads lazy associations when accessed, unless the session is closed</a:t>
            </a:r>
          </a:p>
          <a:p>
            <a:r>
              <a:rPr lang="en-GB" noProof="0" dirty="0"/>
              <a:t>It does not require explicit calls to JOIN FETCH to load lazy associations</a:t>
            </a:r>
          </a:p>
          <a:p>
            <a:r>
              <a:rPr lang="en-GB" noProof="0" dirty="0"/>
              <a:t>Common issue: </a:t>
            </a:r>
            <a:r>
              <a:rPr lang="en-GB" noProof="0" dirty="0" err="1"/>
              <a:t>LazyInitializationException</a:t>
            </a:r>
            <a:endParaRPr lang="en-GB" noProof="0" dirty="0"/>
          </a:p>
          <a:p>
            <a:pPr lvl="1"/>
            <a:r>
              <a:rPr lang="en-GB" noProof="0" dirty="0"/>
              <a:t>Occurs if an entity with a lazy-loaded relation is accessed outside an active transaction</a:t>
            </a:r>
          </a:p>
          <a:p>
            <a:pPr lvl="1"/>
            <a:r>
              <a:rPr lang="en-GB" noProof="0" dirty="0"/>
              <a:t>Hibernate expects the session to be open when accessing proxies</a:t>
            </a:r>
          </a:p>
        </p:txBody>
      </p:sp>
    </p:spTree>
    <p:extLst>
      <p:ext uri="{BB962C8B-B14F-4D97-AF65-F5344CB8AC3E}">
        <p14:creationId xmlns:p14="http://schemas.microsoft.com/office/powerpoint/2010/main" val="124962306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18E1A81-1562-E68F-E497-3DCD4C471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C2592-00B8-1612-D3B4-27E3B739A883}"/>
              </a:ext>
            </a:extLst>
          </p:cNvPr>
          <p:cNvSpPr>
            <a:spLocks noGrp="1"/>
          </p:cNvSpPr>
          <p:nvPr>
            <p:ph type="title"/>
          </p:nvPr>
        </p:nvSpPr>
        <p:spPr/>
        <p:txBody>
          <a:bodyPr/>
          <a:lstStyle/>
          <a:p>
            <a:r>
              <a:rPr lang="en-GB" noProof="0" dirty="0"/>
              <a:t>Customized lazy loading</a:t>
            </a:r>
          </a:p>
        </p:txBody>
      </p:sp>
      <p:sp>
        <p:nvSpPr>
          <p:cNvPr id="4" name="Rettangolo 3">
            <a:extLst>
              <a:ext uri="{FF2B5EF4-FFF2-40B4-BE49-F238E27FC236}">
                <a16:creationId xmlns:a16="http://schemas.microsoft.com/office/drawing/2014/main" id="{B5F06ECA-211D-0CD1-2FCC-C7506D86FD96}"/>
              </a:ext>
            </a:extLst>
          </p:cNvPr>
          <p:cNvSpPr/>
          <p:nvPr/>
        </p:nvSpPr>
        <p:spPr bwMode="auto">
          <a:xfrm>
            <a:off x="611560" y="1916832"/>
            <a:ext cx="7776864" cy="64807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5" name="Rettangolo 4">
            <a:extLst>
              <a:ext uri="{FF2B5EF4-FFF2-40B4-BE49-F238E27FC236}">
                <a16:creationId xmlns:a16="http://schemas.microsoft.com/office/drawing/2014/main" id="{43C0A4DA-01AF-4C6E-DCD6-B8993EBE6C7F}"/>
              </a:ext>
            </a:extLst>
          </p:cNvPr>
          <p:cNvSpPr/>
          <p:nvPr/>
        </p:nvSpPr>
        <p:spPr bwMode="auto">
          <a:xfrm>
            <a:off x="611560" y="3609020"/>
            <a:ext cx="7846640" cy="64807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6" name="Rettangolo 5">
            <a:extLst>
              <a:ext uri="{FF2B5EF4-FFF2-40B4-BE49-F238E27FC236}">
                <a16:creationId xmlns:a16="http://schemas.microsoft.com/office/drawing/2014/main" id="{A7041B0A-548E-B9AF-D97B-666469F0A706}"/>
              </a:ext>
            </a:extLst>
          </p:cNvPr>
          <p:cNvSpPr/>
          <p:nvPr/>
        </p:nvSpPr>
        <p:spPr bwMode="auto">
          <a:xfrm>
            <a:off x="611560" y="5013176"/>
            <a:ext cx="7846640" cy="504056"/>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03FDC6B0-8CEF-A1FA-AFE1-771F876EACCA}"/>
              </a:ext>
            </a:extLst>
          </p:cNvPr>
          <p:cNvSpPr>
            <a:spLocks noGrp="1"/>
          </p:cNvSpPr>
          <p:nvPr>
            <p:ph idx="1"/>
          </p:nvPr>
        </p:nvSpPr>
        <p:spPr>
          <a:xfrm>
            <a:off x="685800" y="1052736"/>
            <a:ext cx="8150225" cy="5544616"/>
          </a:xfrm>
        </p:spPr>
        <p:txBody>
          <a:bodyPr>
            <a:normAutofit fontScale="55000" lnSpcReduction="20000"/>
          </a:bodyPr>
          <a:lstStyle/>
          <a:p>
            <a:r>
              <a:rPr lang="en-GB" noProof="0" dirty="0"/>
              <a:t>Hibernate offers ways to customize the default lazy loading </a:t>
            </a:r>
            <a:r>
              <a:rPr lang="en-GB" noProof="0" dirty="0" err="1"/>
              <a:t>behavior</a:t>
            </a:r>
            <a:endParaRPr lang="en-GB" noProof="0" dirty="0"/>
          </a:p>
          <a:p>
            <a:r>
              <a:rPr lang="en-GB" noProof="0" dirty="0"/>
              <a:t>@</a:t>
            </a:r>
            <a:r>
              <a:rPr lang="en-GB" noProof="0" dirty="0" err="1"/>
              <a:t>BatchSize</a:t>
            </a:r>
            <a:r>
              <a:rPr lang="en-GB" noProof="0" dirty="0"/>
              <a:t>(n)</a:t>
            </a:r>
          </a:p>
          <a:p>
            <a:pPr marL="0" indent="0">
              <a:buNone/>
            </a:pP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OneToMany</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mappedBy</a:t>
            </a:r>
            <a:r>
              <a:rPr lang="en-GB" noProof="0" dirty="0">
                <a:latin typeface="Courier New" panose="02070309020205020404" pitchFamily="49" charset="0"/>
                <a:cs typeface="Courier New" panose="02070309020205020404" pitchFamily="49" charset="0"/>
              </a:rPr>
              <a:t> = "user", fetch = </a:t>
            </a:r>
            <a:r>
              <a:rPr lang="en-GB" noProof="0" dirty="0" err="1">
                <a:latin typeface="Courier New" panose="02070309020205020404" pitchFamily="49" charset="0"/>
                <a:cs typeface="Courier New" panose="02070309020205020404" pitchFamily="49" charset="0"/>
              </a:rPr>
              <a:t>FetchType.LAZY</a:t>
            </a:r>
            <a:r>
              <a:rPr lang="en-GB" noProof="0" dirty="0">
                <a:latin typeface="Courier New" panose="02070309020205020404" pitchFamily="49" charset="0"/>
                <a:cs typeface="Courier New" panose="02070309020205020404" pitchFamily="49" charset="0"/>
              </a:rPr>
              <a:t>)</a:t>
            </a:r>
          </a:p>
          <a:p>
            <a:pPr marL="0" indent="0">
              <a:buNone/>
            </a:pP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BatchSize</a:t>
            </a:r>
            <a:r>
              <a:rPr lang="en-GB" noProof="0" dirty="0">
                <a:latin typeface="Courier New" panose="02070309020205020404" pitchFamily="49" charset="0"/>
                <a:cs typeface="Courier New" panose="02070309020205020404" pitchFamily="49" charset="0"/>
              </a:rPr>
              <a:t>(size = 10)</a:t>
            </a:r>
          </a:p>
          <a:p>
            <a:pPr lvl="1"/>
            <a:r>
              <a:rPr lang="en-GB" noProof="0" dirty="0"/>
              <a:t>Used to fetch multiple related entities in batches instead of retrieving them one by one.</a:t>
            </a:r>
          </a:p>
          <a:p>
            <a:pPr lvl="1"/>
            <a:r>
              <a:rPr lang="en-GB" noProof="0" dirty="0"/>
              <a:t>Applied at the entity level.</a:t>
            </a:r>
            <a:endParaRPr lang="en-GB" noProof="0" dirty="0">
              <a:latin typeface="Courier New" panose="02070309020205020404" pitchFamily="49" charset="0"/>
              <a:cs typeface="Courier New" panose="02070309020205020404" pitchFamily="49" charset="0"/>
            </a:endParaRPr>
          </a:p>
          <a:p>
            <a:pPr marL="0" indent="0">
              <a:buNone/>
            </a:pPr>
            <a:r>
              <a:rPr lang="en-GB" noProof="0" dirty="0"/>
              <a:t>@Fetch(</a:t>
            </a:r>
            <a:r>
              <a:rPr lang="en-GB" noProof="0" dirty="0" err="1"/>
              <a:t>FetchMode.SUBSELECT</a:t>
            </a:r>
            <a:r>
              <a:rPr lang="en-GB" noProof="0" dirty="0"/>
              <a:t>)</a:t>
            </a:r>
          </a:p>
          <a:p>
            <a:pPr marL="0" indent="0">
              <a:buNone/>
            </a:pP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OneToMany</a:t>
            </a:r>
            <a:r>
              <a:rPr lang="en-GB" noProof="0" dirty="0">
                <a:latin typeface="Courier New" panose="02070309020205020404" pitchFamily="49" charset="0"/>
                <a:cs typeface="Courier New" panose="02070309020205020404" pitchFamily="49" charset="0"/>
              </a:rPr>
              <a:t>(</a:t>
            </a:r>
            <a:r>
              <a:rPr lang="en-GB" noProof="0" dirty="0" err="1">
                <a:latin typeface="Courier New" panose="02070309020205020404" pitchFamily="49" charset="0"/>
                <a:cs typeface="Courier New" panose="02070309020205020404" pitchFamily="49" charset="0"/>
              </a:rPr>
              <a:t>mappedBy</a:t>
            </a:r>
            <a:r>
              <a:rPr lang="en-GB" noProof="0" dirty="0">
                <a:latin typeface="Courier New" panose="02070309020205020404" pitchFamily="49" charset="0"/>
                <a:cs typeface="Courier New" panose="02070309020205020404" pitchFamily="49" charset="0"/>
              </a:rPr>
              <a:t> = "user", fetch = </a:t>
            </a:r>
            <a:r>
              <a:rPr lang="en-GB" noProof="0" dirty="0" err="1">
                <a:latin typeface="Courier New" panose="02070309020205020404" pitchFamily="49" charset="0"/>
                <a:cs typeface="Courier New" panose="02070309020205020404" pitchFamily="49" charset="0"/>
              </a:rPr>
              <a:t>FetchType.LAZY</a:t>
            </a:r>
            <a:r>
              <a:rPr lang="en-GB" noProof="0" dirty="0">
                <a:latin typeface="Courier New" panose="02070309020205020404" pitchFamily="49" charset="0"/>
                <a:cs typeface="Courier New" panose="02070309020205020404" pitchFamily="49" charset="0"/>
              </a:rPr>
              <a:t>)</a:t>
            </a:r>
          </a:p>
          <a:p>
            <a:pPr marL="0" indent="0">
              <a:buNone/>
            </a:pPr>
            <a:r>
              <a:rPr lang="en-GB" noProof="0" dirty="0">
                <a:latin typeface="Courier New" panose="02070309020205020404" pitchFamily="49" charset="0"/>
                <a:cs typeface="Courier New" panose="02070309020205020404" pitchFamily="49" charset="0"/>
              </a:rPr>
              <a:t>@Fetch(</a:t>
            </a:r>
            <a:r>
              <a:rPr lang="en-GB" noProof="0" dirty="0" err="1">
                <a:latin typeface="Courier New" panose="02070309020205020404" pitchFamily="49" charset="0"/>
                <a:cs typeface="Courier New" panose="02070309020205020404" pitchFamily="49" charset="0"/>
              </a:rPr>
              <a:t>FetchMode.SUBSELECT</a:t>
            </a:r>
            <a:r>
              <a:rPr lang="en-GB" noProof="0" dirty="0">
                <a:latin typeface="Courier New" panose="02070309020205020404" pitchFamily="49" charset="0"/>
                <a:cs typeface="Courier New" panose="02070309020205020404" pitchFamily="49" charset="0"/>
              </a:rPr>
              <a:t>)</a:t>
            </a:r>
          </a:p>
          <a:p>
            <a:pPr lvl="1"/>
            <a:r>
              <a:rPr lang="en-GB" noProof="0" dirty="0"/>
              <a:t>Instead of executing a query for each parent entity, Hibernate fetches all children at once in one additional query</a:t>
            </a:r>
            <a:endParaRPr lang="en-GB" noProof="0" dirty="0">
              <a:latin typeface="Courier New" panose="02070309020205020404" pitchFamily="49" charset="0"/>
              <a:cs typeface="Courier New" panose="02070309020205020404" pitchFamily="49" charset="0"/>
            </a:endParaRPr>
          </a:p>
          <a:p>
            <a:r>
              <a:rPr lang="en-GB" noProof="0" dirty="0"/>
              <a:t>JOIN FETCH</a:t>
            </a:r>
          </a:p>
          <a:p>
            <a:pPr marL="0" indent="0">
              <a:buNone/>
            </a:pPr>
            <a:r>
              <a:rPr lang="en-GB" noProof="0" dirty="0">
                <a:latin typeface="Courier New" panose="02070309020205020404" pitchFamily="49" charset="0"/>
                <a:cs typeface="Courier New" panose="02070309020205020404" pitchFamily="49" charset="0"/>
              </a:rPr>
              <a:t>String </a:t>
            </a:r>
            <a:r>
              <a:rPr lang="en-GB" noProof="0" dirty="0" err="1">
                <a:latin typeface="Courier New" panose="02070309020205020404" pitchFamily="49" charset="0"/>
                <a:cs typeface="Courier New" panose="02070309020205020404" pitchFamily="49" charset="0"/>
              </a:rPr>
              <a:t>jpql</a:t>
            </a:r>
            <a:r>
              <a:rPr lang="en-GB" noProof="0" dirty="0">
                <a:latin typeface="Courier New" panose="02070309020205020404" pitchFamily="49" charset="0"/>
                <a:cs typeface="Courier New" panose="02070309020205020404" pitchFamily="49" charset="0"/>
              </a:rPr>
              <a:t> = "SELECT u FROM User u JOIN FETCH </a:t>
            </a:r>
            <a:r>
              <a:rPr lang="en-GB" noProof="0" dirty="0" err="1">
                <a:latin typeface="Courier New" panose="02070309020205020404" pitchFamily="49" charset="0"/>
                <a:cs typeface="Courier New" panose="02070309020205020404" pitchFamily="49" charset="0"/>
              </a:rPr>
              <a:t>u.orders</a:t>
            </a:r>
            <a:r>
              <a:rPr lang="en-GB" noProof="0" dirty="0">
                <a:latin typeface="Courier New" panose="02070309020205020404" pitchFamily="49" charset="0"/>
                <a:cs typeface="Courier New" panose="02070309020205020404" pitchFamily="49" charset="0"/>
              </a:rPr>
              <a:t> WHERE </a:t>
            </a:r>
            <a:r>
              <a:rPr lang="en-GB" noProof="0" dirty="0" err="1">
                <a:latin typeface="Courier New" panose="02070309020205020404" pitchFamily="49" charset="0"/>
                <a:cs typeface="Courier New" panose="02070309020205020404" pitchFamily="49" charset="0"/>
              </a:rPr>
              <a:t>u.id</a:t>
            </a:r>
            <a:r>
              <a:rPr lang="en-GB" noProof="0" dirty="0">
                <a:latin typeface="Courier New" panose="02070309020205020404" pitchFamily="49" charset="0"/>
                <a:cs typeface="Courier New" panose="02070309020205020404" pitchFamily="49" charset="0"/>
              </a:rPr>
              <a:t> = 1";</a:t>
            </a:r>
          </a:p>
          <a:p>
            <a:pPr lvl="1"/>
            <a:r>
              <a:rPr lang="en-GB" noProof="0" dirty="0"/>
              <a:t>Part of JPQL/HQL queries to optimize joins.</a:t>
            </a:r>
          </a:p>
          <a:p>
            <a:pPr lvl="1"/>
            <a:r>
              <a:rPr lang="en-GB" noProof="0" dirty="0"/>
              <a:t>Prevents the "N+1 query problem" by fetching related entities in a single query, avoiding multiple SQL calls</a:t>
            </a:r>
          </a:p>
          <a:p>
            <a:pPr marL="457200" lvl="1" indent="0">
              <a:buNone/>
            </a:pPr>
            <a:endParaRPr lang="en-GB"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37382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D8BF-1B86-C37B-3DC9-A212DC039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41DCC-B3C1-644E-D0B3-2149AA95BC46}"/>
              </a:ext>
            </a:extLst>
          </p:cNvPr>
          <p:cNvSpPr>
            <a:spLocks noGrp="1"/>
          </p:cNvSpPr>
          <p:nvPr>
            <p:ph type="title"/>
          </p:nvPr>
        </p:nvSpPr>
        <p:spPr/>
        <p:txBody>
          <a:bodyPr/>
          <a:lstStyle/>
          <a:p>
            <a:r>
              <a:rPr lang="en-GB" noProof="0" dirty="0"/>
              <a:t>H2</a:t>
            </a:r>
          </a:p>
        </p:txBody>
      </p:sp>
      <p:sp>
        <p:nvSpPr>
          <p:cNvPr id="3" name="Content Placeholder 2">
            <a:extLst>
              <a:ext uri="{FF2B5EF4-FFF2-40B4-BE49-F238E27FC236}">
                <a16:creationId xmlns:a16="http://schemas.microsoft.com/office/drawing/2014/main" id="{19ECBBC2-3085-89BC-5146-194E618309CD}"/>
              </a:ext>
            </a:extLst>
          </p:cNvPr>
          <p:cNvSpPr>
            <a:spLocks noGrp="1"/>
          </p:cNvSpPr>
          <p:nvPr>
            <p:ph idx="1"/>
          </p:nvPr>
        </p:nvSpPr>
        <p:spPr>
          <a:xfrm>
            <a:off x="685800" y="1295400"/>
            <a:ext cx="8150225" cy="5157936"/>
          </a:xfrm>
        </p:spPr>
        <p:txBody>
          <a:bodyPr>
            <a:normAutofit fontScale="77500" lnSpcReduction="20000"/>
          </a:bodyPr>
          <a:lstStyle/>
          <a:p>
            <a:pPr marL="0" indent="0">
              <a:buNone/>
            </a:pPr>
            <a:r>
              <a:rPr lang="en-GB" noProof="0" dirty="0"/>
              <a:t>H2 is an open-source relational database written in Java, designed to be lightweight, fast, and easy to integrate into Java applications. It requires no installation and supports standard SQL, JDBC, and in-memory operations, making it a flexible solution for both development and testing environments.</a:t>
            </a:r>
          </a:p>
          <a:p>
            <a:pPr marL="0" indent="0">
              <a:buNone/>
            </a:pPr>
            <a:r>
              <a:rPr lang="en-GB" noProof="0" dirty="0"/>
              <a:t>H2 is fully compatible with JPA and ORM frameworks, allowing seamless integration with Hibernate. It also includes a web-based console that enables developers to debug queries and inspect the database structure efficiently.</a:t>
            </a:r>
          </a:p>
          <a:p>
            <a:pPr marL="0" indent="0">
              <a:buNone/>
            </a:pPr>
            <a:r>
              <a:rPr lang="en-GB" noProof="0" dirty="0"/>
              <a:t>This database supports three different execution modes.</a:t>
            </a:r>
          </a:p>
        </p:txBody>
      </p:sp>
    </p:spTree>
    <p:extLst>
      <p:ext uri="{BB962C8B-B14F-4D97-AF65-F5344CB8AC3E}">
        <p14:creationId xmlns:p14="http://schemas.microsoft.com/office/powerpoint/2010/main" val="4182698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29144-CBD9-C51D-5D30-6C4D1B258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ED95C1-D46A-4C0A-AC44-61D39139C72E}"/>
              </a:ext>
            </a:extLst>
          </p:cNvPr>
          <p:cNvSpPr>
            <a:spLocks noGrp="1"/>
          </p:cNvSpPr>
          <p:nvPr>
            <p:ph type="title"/>
          </p:nvPr>
        </p:nvSpPr>
        <p:spPr/>
        <p:txBody>
          <a:bodyPr/>
          <a:lstStyle/>
          <a:p>
            <a:r>
              <a:rPr lang="en-GB" noProof="0" dirty="0"/>
              <a:t>Execution modes</a:t>
            </a:r>
          </a:p>
        </p:txBody>
      </p:sp>
      <p:sp>
        <p:nvSpPr>
          <p:cNvPr id="3" name="Content Placeholder 2">
            <a:extLst>
              <a:ext uri="{FF2B5EF4-FFF2-40B4-BE49-F238E27FC236}">
                <a16:creationId xmlns:a16="http://schemas.microsoft.com/office/drawing/2014/main" id="{30C2F8AE-0281-07ED-B780-1A500FC1C922}"/>
              </a:ext>
            </a:extLst>
          </p:cNvPr>
          <p:cNvSpPr>
            <a:spLocks noGrp="1"/>
          </p:cNvSpPr>
          <p:nvPr>
            <p:ph idx="1"/>
          </p:nvPr>
        </p:nvSpPr>
        <p:spPr>
          <a:xfrm>
            <a:off x="685800" y="1295400"/>
            <a:ext cx="8150225" cy="5157936"/>
          </a:xfrm>
        </p:spPr>
        <p:txBody>
          <a:bodyPr>
            <a:normAutofit fontScale="77500" lnSpcReduction="20000"/>
          </a:bodyPr>
          <a:lstStyle/>
          <a:p>
            <a:r>
              <a:rPr lang="en-GB" noProof="0" dirty="0"/>
              <a:t>In-Memory Mode</a:t>
            </a:r>
          </a:p>
          <a:p>
            <a:pPr lvl="1"/>
            <a:r>
              <a:rPr lang="en-GB" noProof="0" dirty="0"/>
              <a:t>The </a:t>
            </a:r>
            <a:r>
              <a:rPr lang="en-GB" noProof="0" dirty="0" err="1"/>
              <a:t>db</a:t>
            </a:r>
            <a:r>
              <a:rPr lang="en-GB" noProof="0" dirty="0"/>
              <a:t> exists in RAM and is lost when the app stops</a:t>
            </a:r>
          </a:p>
          <a:p>
            <a:pPr lvl="1"/>
            <a:r>
              <a:rPr lang="en-GB" noProof="0" dirty="0"/>
              <a:t>Ideal for unit tests and temporary data storage</a:t>
            </a:r>
          </a:p>
          <a:p>
            <a:pPr lvl="1"/>
            <a:r>
              <a:rPr lang="en-GB" noProof="0" dirty="0"/>
              <a:t>JDBC URL: </a:t>
            </a:r>
            <a:r>
              <a:rPr lang="en-GB" b="1" noProof="0" dirty="0">
                <a:solidFill>
                  <a:schemeClr val="accent6">
                    <a:lumMod val="75000"/>
                  </a:schemeClr>
                </a:solidFill>
                <a:latin typeface="Courier New" panose="02070309020205020404" pitchFamily="49" charset="0"/>
                <a:cs typeface="Courier New" panose="02070309020205020404" pitchFamily="49" charset="0"/>
              </a:rPr>
              <a:t>jdbc:h2:mem:</a:t>
            </a:r>
            <a:r>
              <a:rPr lang="en-GB" b="1" noProof="0" dirty="0">
                <a:latin typeface="Courier New" panose="02070309020205020404" pitchFamily="49" charset="0"/>
                <a:cs typeface="Courier New" panose="02070309020205020404" pitchFamily="49" charset="0"/>
              </a:rPr>
              <a:t>testdb</a:t>
            </a:r>
          </a:p>
          <a:p>
            <a:r>
              <a:rPr lang="en-GB" noProof="0" dirty="0"/>
              <a:t>Embedded Mode</a:t>
            </a:r>
          </a:p>
          <a:p>
            <a:pPr lvl="1"/>
            <a:r>
              <a:rPr lang="en-GB" noProof="0" dirty="0"/>
              <a:t>The database is stored in a local file</a:t>
            </a:r>
          </a:p>
          <a:p>
            <a:pPr lvl="1"/>
            <a:r>
              <a:rPr lang="en-GB" noProof="0" dirty="0"/>
              <a:t>Suitable for small standalone applications</a:t>
            </a:r>
          </a:p>
          <a:p>
            <a:pPr lvl="1"/>
            <a:r>
              <a:rPr lang="en-GB" noProof="0" dirty="0"/>
              <a:t>JDBC URL: </a:t>
            </a:r>
            <a:r>
              <a:rPr lang="en-GB" b="1" noProof="0" dirty="0">
                <a:solidFill>
                  <a:schemeClr val="accent6">
                    <a:lumMod val="75000"/>
                  </a:schemeClr>
                </a:solidFill>
                <a:latin typeface="Courier New" panose="02070309020205020404" pitchFamily="49" charset="0"/>
                <a:cs typeface="Courier New" panose="02070309020205020404" pitchFamily="49" charset="0"/>
              </a:rPr>
              <a:t>jdbc:h2:file:</a:t>
            </a:r>
            <a:r>
              <a:rPr lang="en-GB" b="1" noProof="0" dirty="0">
                <a:latin typeface="Courier New" panose="02070309020205020404" pitchFamily="49" charset="0"/>
                <a:cs typeface="Courier New" panose="02070309020205020404" pitchFamily="49" charset="0"/>
              </a:rPr>
              <a:t>./data/</a:t>
            </a:r>
            <a:r>
              <a:rPr lang="en-GB" b="1" noProof="0" dirty="0" err="1">
                <a:latin typeface="Courier New" panose="02070309020205020404" pitchFamily="49" charset="0"/>
                <a:cs typeface="Courier New" panose="02070309020205020404" pitchFamily="49" charset="0"/>
              </a:rPr>
              <a:t>mydb</a:t>
            </a:r>
            <a:endParaRPr lang="en-GB" b="1" noProof="0" dirty="0">
              <a:latin typeface="Courier New" panose="02070309020205020404" pitchFamily="49" charset="0"/>
              <a:cs typeface="Courier New" panose="02070309020205020404" pitchFamily="49" charset="0"/>
            </a:endParaRPr>
          </a:p>
          <a:p>
            <a:r>
              <a:rPr lang="en-GB" noProof="0" dirty="0"/>
              <a:t>Server Mode</a:t>
            </a:r>
          </a:p>
          <a:p>
            <a:pPr lvl="1"/>
            <a:r>
              <a:rPr lang="en-GB" noProof="0" dirty="0"/>
              <a:t>H2 runs as a separate process, allowing multiple clients to connect, can be accessed remotely via TCP or Web API</a:t>
            </a:r>
          </a:p>
          <a:p>
            <a:pPr lvl="1"/>
            <a:r>
              <a:rPr lang="en-GB" noProof="0" dirty="0"/>
              <a:t>Useful when multiple applications share the same </a:t>
            </a:r>
            <a:r>
              <a:rPr lang="en-GB" noProof="0" dirty="0" err="1"/>
              <a:t>db</a:t>
            </a:r>
            <a:endParaRPr lang="en-GB" noProof="0" dirty="0"/>
          </a:p>
          <a:p>
            <a:pPr lvl="1"/>
            <a:r>
              <a:rPr lang="en-GB" noProof="0" dirty="0"/>
              <a:t>JDBC URL: </a:t>
            </a:r>
            <a:r>
              <a:rPr lang="en-GB" b="1" noProof="0" dirty="0">
                <a:solidFill>
                  <a:schemeClr val="accent6">
                    <a:lumMod val="75000"/>
                  </a:schemeClr>
                </a:solidFill>
                <a:latin typeface="Courier New" panose="02070309020205020404" pitchFamily="49" charset="0"/>
                <a:cs typeface="Courier New" panose="02070309020205020404" pitchFamily="49" charset="0"/>
              </a:rPr>
              <a:t>jdbc:h2:tcp:</a:t>
            </a:r>
            <a:r>
              <a:rPr lang="en-GB" b="1" noProof="0" dirty="0">
                <a:latin typeface="Courier New" panose="02070309020205020404" pitchFamily="49" charset="0"/>
                <a:cs typeface="Courier New" panose="02070309020205020404" pitchFamily="49" charset="0"/>
              </a:rPr>
              <a:t>//localhost/~/</a:t>
            </a:r>
            <a:r>
              <a:rPr lang="en-GB" b="1" noProof="0" dirty="0" err="1">
                <a:latin typeface="Courier New" panose="02070309020205020404" pitchFamily="49" charset="0"/>
                <a:cs typeface="Courier New" panose="02070309020205020404" pitchFamily="49" charset="0"/>
              </a:rPr>
              <a:t>mydb</a:t>
            </a:r>
            <a:endParaRPr lang="en-GB" b="1"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713302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C8C40-DC93-EF95-D5EF-4F09F405E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1B941-89E0-BE6B-BE68-0D77869A970C}"/>
              </a:ext>
            </a:extLst>
          </p:cNvPr>
          <p:cNvSpPr>
            <a:spLocks noGrp="1"/>
          </p:cNvSpPr>
          <p:nvPr>
            <p:ph type="title"/>
          </p:nvPr>
        </p:nvSpPr>
        <p:spPr/>
        <p:txBody>
          <a:bodyPr/>
          <a:lstStyle/>
          <a:p>
            <a:r>
              <a:rPr lang="en-GB" noProof="0" dirty="0"/>
              <a:t>Web-based Console</a:t>
            </a:r>
          </a:p>
        </p:txBody>
      </p:sp>
      <p:sp>
        <p:nvSpPr>
          <p:cNvPr id="3" name="Content Placeholder 2">
            <a:extLst>
              <a:ext uri="{FF2B5EF4-FFF2-40B4-BE49-F238E27FC236}">
                <a16:creationId xmlns:a16="http://schemas.microsoft.com/office/drawing/2014/main" id="{484541C7-3978-AB73-0204-FA74A989B3ED}"/>
              </a:ext>
            </a:extLst>
          </p:cNvPr>
          <p:cNvSpPr>
            <a:spLocks noGrp="1"/>
          </p:cNvSpPr>
          <p:nvPr>
            <p:ph idx="1"/>
          </p:nvPr>
        </p:nvSpPr>
        <p:spPr/>
        <p:txBody>
          <a:bodyPr>
            <a:normAutofit fontScale="85000" lnSpcReduction="10000"/>
          </a:bodyPr>
          <a:lstStyle/>
          <a:p>
            <a:r>
              <a:rPr lang="en-GB" noProof="0" dirty="0"/>
              <a:t>The H2 database includes a built-in web-based management interface</a:t>
            </a:r>
          </a:p>
          <a:p>
            <a:pPr lvl="1"/>
            <a:r>
              <a:rPr lang="en-GB" noProof="0" dirty="0"/>
              <a:t>Provides access to the database for executing queries, modifying data, and managing schemas</a:t>
            </a:r>
          </a:p>
          <a:p>
            <a:pPr lvl="1"/>
            <a:r>
              <a:rPr lang="en-GB" noProof="0" dirty="0"/>
              <a:t>Useful for debugging, testing, and database administration</a:t>
            </a:r>
          </a:p>
          <a:p>
            <a:r>
              <a:rPr lang="en-GB" noProof="0" dirty="0"/>
              <a:t>To start the console manually:</a:t>
            </a:r>
          </a:p>
          <a:p>
            <a:pPr lvl="1"/>
            <a:r>
              <a:rPr lang="en-GB" noProof="0" dirty="0"/>
              <a:t>On CLI: </a:t>
            </a:r>
            <a:r>
              <a:rPr lang="en-GB" b="1" noProof="0" dirty="0">
                <a:latin typeface="Courier New" panose="02070309020205020404" pitchFamily="49" charset="0"/>
                <a:cs typeface="Courier New" panose="02070309020205020404" pitchFamily="49" charset="0"/>
              </a:rPr>
              <a:t>java -jar h2.jar</a:t>
            </a:r>
          </a:p>
          <a:p>
            <a:pPr lvl="1"/>
            <a:r>
              <a:rPr lang="en-GB" noProof="0" dirty="0"/>
              <a:t>or: </a:t>
            </a:r>
            <a:r>
              <a:rPr lang="en-GB" sz="2600" b="1" noProof="0" dirty="0" err="1">
                <a:latin typeface="Courier New" panose="02070309020205020404" pitchFamily="49" charset="0"/>
                <a:cs typeface="Courier New" panose="02070309020205020404" pitchFamily="49" charset="0"/>
              </a:rPr>
              <a:t>Server.createWebServer</a:t>
            </a:r>
            <a:r>
              <a:rPr lang="en-GB" sz="2600" b="1" noProof="0" dirty="0">
                <a:latin typeface="Courier New" panose="02070309020205020404" pitchFamily="49" charset="0"/>
                <a:cs typeface="Courier New" panose="02070309020205020404" pitchFamily="49" charset="0"/>
              </a:rPr>
              <a:t>("-web").start();</a:t>
            </a:r>
          </a:p>
          <a:p>
            <a:r>
              <a:rPr lang="en-GB" noProof="0" dirty="0"/>
              <a:t>The console runs by default on port 8082</a:t>
            </a:r>
          </a:p>
          <a:p>
            <a:pPr lvl="1"/>
            <a:r>
              <a:rPr lang="en-GB" noProof="0" dirty="0"/>
              <a:t>http://localhost:8082</a:t>
            </a:r>
          </a:p>
        </p:txBody>
      </p:sp>
    </p:spTree>
    <p:extLst>
      <p:ext uri="{BB962C8B-B14F-4D97-AF65-F5344CB8AC3E}">
        <p14:creationId xmlns:p14="http://schemas.microsoft.com/office/powerpoint/2010/main" val="392097718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8CB46-C183-CF73-A03D-F1D225DAC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2B27C-F2F0-EA72-18DA-6F5B776F61EF}"/>
              </a:ext>
            </a:extLst>
          </p:cNvPr>
          <p:cNvSpPr>
            <a:spLocks noGrp="1"/>
          </p:cNvSpPr>
          <p:nvPr>
            <p:ph type="title"/>
          </p:nvPr>
        </p:nvSpPr>
        <p:spPr/>
        <p:txBody>
          <a:bodyPr/>
          <a:lstStyle/>
          <a:p>
            <a:r>
              <a:rPr lang="en-GB" noProof="0" dirty="0"/>
              <a:t>Configuration - Properties</a:t>
            </a:r>
          </a:p>
        </p:txBody>
      </p:sp>
      <p:sp>
        <p:nvSpPr>
          <p:cNvPr id="3" name="Content Placeholder 2">
            <a:extLst>
              <a:ext uri="{FF2B5EF4-FFF2-40B4-BE49-F238E27FC236}">
                <a16:creationId xmlns:a16="http://schemas.microsoft.com/office/drawing/2014/main" id="{1F84DE73-CB8E-649F-9B9A-082CCA5E31BB}"/>
              </a:ext>
            </a:extLst>
          </p:cNvPr>
          <p:cNvSpPr>
            <a:spLocks noGrp="1"/>
          </p:cNvSpPr>
          <p:nvPr>
            <p:ph idx="1"/>
          </p:nvPr>
        </p:nvSpPr>
        <p:spPr>
          <a:xfrm>
            <a:off x="685800" y="1196752"/>
            <a:ext cx="8150225" cy="5157936"/>
          </a:xfrm>
        </p:spPr>
        <p:txBody>
          <a:bodyPr>
            <a:normAutofit fontScale="70000" lnSpcReduction="20000"/>
          </a:bodyPr>
          <a:lstStyle/>
          <a:p>
            <a:r>
              <a:rPr lang="en-GB" noProof="0" dirty="0"/>
              <a:t>These are the basic properties to configure</a:t>
            </a:r>
          </a:p>
          <a:p>
            <a:r>
              <a:rPr lang="en-GB" noProof="0" dirty="0"/>
              <a:t>Database Connection</a:t>
            </a:r>
          </a:p>
          <a:p>
            <a:pPr lvl="1"/>
            <a:r>
              <a:rPr lang="en-GB" noProof="0" dirty="0"/>
              <a:t>Defines how the application connects to H2</a:t>
            </a:r>
          </a:p>
          <a:p>
            <a:pPr lvl="1"/>
            <a:r>
              <a:rPr lang="en-GB" noProof="0" dirty="0"/>
              <a:t>The JDBC URL determines whether the database runs in memory, as a file, or as a server</a:t>
            </a:r>
          </a:p>
          <a:p>
            <a:r>
              <a:rPr lang="en-GB" noProof="0" dirty="0"/>
              <a:t>Driver and Dialect</a:t>
            </a:r>
          </a:p>
          <a:p>
            <a:pPr lvl="1"/>
            <a:r>
              <a:rPr lang="en-GB" noProof="0" dirty="0"/>
              <a:t>The JDBC driver must be specified to allow the application to interact with H2</a:t>
            </a:r>
          </a:p>
          <a:p>
            <a:pPr lvl="1"/>
            <a:r>
              <a:rPr lang="en-GB" noProof="0" dirty="0"/>
              <a:t>The SQL dialect helps Hibernate generate database-specific queries</a:t>
            </a:r>
          </a:p>
          <a:p>
            <a:r>
              <a:rPr lang="en-GB" noProof="0" dirty="0"/>
              <a:t>Schema Management</a:t>
            </a:r>
          </a:p>
          <a:p>
            <a:pPr lvl="1"/>
            <a:r>
              <a:rPr lang="en-GB" noProof="0" dirty="0"/>
              <a:t>Controls automatic table creation and migration</a:t>
            </a:r>
          </a:p>
          <a:p>
            <a:r>
              <a:rPr lang="en-GB" noProof="0" dirty="0"/>
              <a:t>SQL Logging</a:t>
            </a:r>
          </a:p>
          <a:p>
            <a:pPr lvl="1"/>
            <a:r>
              <a:rPr lang="en-GB" noProof="0" dirty="0"/>
              <a:t>Enables logging of executed queries for debugging and performance analysis</a:t>
            </a:r>
          </a:p>
        </p:txBody>
      </p:sp>
    </p:spTree>
    <p:extLst>
      <p:ext uri="{BB962C8B-B14F-4D97-AF65-F5344CB8AC3E}">
        <p14:creationId xmlns:p14="http://schemas.microsoft.com/office/powerpoint/2010/main" val="38633225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3472A-3DE7-BDFC-5868-050859FBA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55149-AA6D-AE69-6722-4C0B3F7012CC}"/>
              </a:ext>
            </a:extLst>
          </p:cNvPr>
          <p:cNvSpPr>
            <a:spLocks noGrp="1"/>
          </p:cNvSpPr>
          <p:nvPr>
            <p:ph type="title"/>
          </p:nvPr>
        </p:nvSpPr>
        <p:spPr/>
        <p:txBody>
          <a:bodyPr/>
          <a:lstStyle/>
          <a:p>
            <a:r>
              <a:rPr lang="en-GB" noProof="0" dirty="0"/>
              <a:t>Configuration</a:t>
            </a:r>
          </a:p>
        </p:txBody>
      </p:sp>
      <p:sp>
        <p:nvSpPr>
          <p:cNvPr id="3" name="Content Placeholder 2">
            <a:extLst>
              <a:ext uri="{FF2B5EF4-FFF2-40B4-BE49-F238E27FC236}">
                <a16:creationId xmlns:a16="http://schemas.microsoft.com/office/drawing/2014/main" id="{13A55FED-CE84-9831-844C-772359235653}"/>
              </a:ext>
            </a:extLst>
          </p:cNvPr>
          <p:cNvSpPr>
            <a:spLocks noGrp="1"/>
          </p:cNvSpPr>
          <p:nvPr>
            <p:ph idx="1"/>
          </p:nvPr>
        </p:nvSpPr>
        <p:spPr/>
        <p:txBody>
          <a:bodyPr>
            <a:normAutofit fontScale="62500" lnSpcReduction="20000"/>
          </a:bodyPr>
          <a:lstStyle/>
          <a:p>
            <a:r>
              <a:rPr lang="en-GB" noProof="0" dirty="0"/>
              <a:t>These properties must be set in </a:t>
            </a:r>
            <a:r>
              <a:rPr lang="en-GB" noProof="0" dirty="0" err="1"/>
              <a:t>persistence.xml</a:t>
            </a:r>
            <a:endParaRPr lang="en-GB" noProof="0" dirty="0"/>
          </a:p>
          <a:p>
            <a:r>
              <a:rPr lang="en-GB" noProof="0" dirty="0"/>
              <a:t>Database Connection</a:t>
            </a:r>
          </a:p>
          <a:p>
            <a:pPr lvl="1"/>
            <a:r>
              <a:rPr lang="en-GB" b="1" noProof="0" dirty="0" err="1">
                <a:latin typeface="Courier New" panose="02070309020205020404" pitchFamily="49" charset="0"/>
                <a:cs typeface="Courier New" panose="02070309020205020404" pitchFamily="49" charset="0"/>
              </a:rPr>
              <a:t>jakarta.persistence.jdbc.driver</a:t>
            </a:r>
            <a:r>
              <a:rPr lang="en-GB" b="1" noProof="0" dirty="0">
                <a:latin typeface="Courier New" panose="02070309020205020404" pitchFamily="49" charset="0"/>
                <a:cs typeface="Courier New" panose="02070309020205020404" pitchFamily="49" charset="0"/>
              </a:rPr>
              <a:t> = org.h2.Driver</a:t>
            </a:r>
          </a:p>
          <a:p>
            <a:pPr lvl="1"/>
            <a:r>
              <a:rPr lang="en-GB" b="1" noProof="0" dirty="0" err="1">
                <a:latin typeface="Courier New" panose="02070309020205020404" pitchFamily="49" charset="0"/>
                <a:cs typeface="Courier New" panose="02070309020205020404" pitchFamily="49" charset="0"/>
              </a:rPr>
              <a:t>jakarta.persistence.jdbc.url</a:t>
            </a:r>
            <a:r>
              <a:rPr lang="en-GB" b="1" noProof="0" dirty="0">
                <a:latin typeface="Courier New" panose="02070309020205020404" pitchFamily="49" charset="0"/>
                <a:cs typeface="Courier New" panose="02070309020205020404" pitchFamily="49" charset="0"/>
              </a:rPr>
              <a:t> = jdbc:h2:mem:testdb</a:t>
            </a:r>
          </a:p>
          <a:p>
            <a:pPr lvl="1"/>
            <a:r>
              <a:rPr lang="en-GB" b="1" noProof="0" dirty="0" err="1">
                <a:latin typeface="Courier New" panose="02070309020205020404" pitchFamily="49" charset="0"/>
                <a:cs typeface="Courier New" panose="02070309020205020404" pitchFamily="49" charset="0"/>
              </a:rPr>
              <a:t>jakarta.persistence.jdbc.user</a:t>
            </a:r>
            <a:r>
              <a:rPr lang="en-GB" b="1" noProof="0" dirty="0">
                <a:latin typeface="Courier New" panose="02070309020205020404" pitchFamily="49" charset="0"/>
                <a:cs typeface="Courier New" panose="02070309020205020404" pitchFamily="49" charset="0"/>
              </a:rPr>
              <a:t> = </a:t>
            </a:r>
            <a:r>
              <a:rPr lang="en-GB" b="1" noProof="0" dirty="0" err="1">
                <a:latin typeface="Courier New" panose="02070309020205020404" pitchFamily="49" charset="0"/>
                <a:cs typeface="Courier New" panose="02070309020205020404" pitchFamily="49" charset="0"/>
              </a:rPr>
              <a:t>sa</a:t>
            </a:r>
            <a:r>
              <a:rPr lang="en-GB" noProof="0" dirty="0"/>
              <a:t> </a:t>
            </a:r>
            <a:r>
              <a:rPr lang="en-GB" i="1" noProof="0" dirty="0"/>
              <a:t>(default value)</a:t>
            </a:r>
          </a:p>
          <a:p>
            <a:pPr lvl="1"/>
            <a:r>
              <a:rPr lang="en-GB" b="1" noProof="0" dirty="0" err="1">
                <a:latin typeface="Courier New" panose="02070309020205020404" pitchFamily="49" charset="0"/>
                <a:cs typeface="Courier New" panose="02070309020205020404" pitchFamily="49" charset="0"/>
              </a:rPr>
              <a:t>jakarta.persistence.jdbc.password</a:t>
            </a:r>
            <a:r>
              <a:rPr lang="en-GB" b="1" noProof="0" dirty="0">
                <a:latin typeface="Courier New" panose="02070309020205020404" pitchFamily="49" charset="0"/>
                <a:cs typeface="Courier New" panose="02070309020205020404" pitchFamily="49" charset="0"/>
              </a:rPr>
              <a:t> =</a:t>
            </a:r>
            <a:r>
              <a:rPr lang="en-GB" noProof="0" dirty="0"/>
              <a:t> </a:t>
            </a:r>
            <a:r>
              <a:rPr lang="en-GB" i="1" noProof="0" dirty="0"/>
              <a:t>(empty by default)</a:t>
            </a:r>
          </a:p>
          <a:p>
            <a:r>
              <a:rPr lang="en-GB" noProof="0" dirty="0"/>
              <a:t>Dialect and Schema Management (implemented by hibernate)</a:t>
            </a:r>
          </a:p>
          <a:p>
            <a:pPr lvl="1"/>
            <a:r>
              <a:rPr lang="en-GB" b="1" noProof="0" dirty="0" err="1">
                <a:latin typeface="Courier New" panose="02070309020205020404" pitchFamily="49" charset="0"/>
                <a:cs typeface="Courier New" panose="02070309020205020404" pitchFamily="49" charset="0"/>
              </a:rPr>
              <a:t>hibernate.dialect</a:t>
            </a:r>
            <a:r>
              <a:rPr lang="en-GB" b="1" noProof="0" dirty="0">
                <a:latin typeface="Courier New" panose="02070309020205020404" pitchFamily="49" charset="0"/>
                <a:cs typeface="Courier New" panose="02070309020205020404" pitchFamily="49" charset="0"/>
              </a:rPr>
              <a:t> = org.hibernate.dialect.H2Dialect</a:t>
            </a:r>
          </a:p>
          <a:p>
            <a:pPr lvl="1"/>
            <a:r>
              <a:rPr lang="en-GB" b="1" noProof="0" dirty="0">
                <a:latin typeface="Courier New" panose="02070309020205020404" pitchFamily="49" charset="0"/>
                <a:cs typeface="Courier New" panose="02070309020205020404" pitchFamily="49" charset="0"/>
              </a:rPr>
              <a:t>hibernate.hbm2ddl.auto = update</a:t>
            </a:r>
          </a:p>
          <a:p>
            <a:r>
              <a:rPr lang="en-GB" noProof="0" dirty="0"/>
              <a:t>SQL Logging (implemented by hibernate)</a:t>
            </a:r>
          </a:p>
          <a:p>
            <a:pPr lvl="1"/>
            <a:r>
              <a:rPr lang="en-GB" b="1" noProof="0" dirty="0" err="1">
                <a:latin typeface="Courier New" panose="02070309020205020404" pitchFamily="49" charset="0"/>
                <a:cs typeface="Courier New" panose="02070309020205020404" pitchFamily="49" charset="0"/>
              </a:rPr>
              <a:t>hibernate.show_sql</a:t>
            </a:r>
            <a:r>
              <a:rPr lang="en-GB" b="1" noProof="0" dirty="0">
                <a:latin typeface="Courier New" panose="02070309020205020404" pitchFamily="49" charset="0"/>
                <a:cs typeface="Courier New" panose="02070309020205020404" pitchFamily="49" charset="0"/>
              </a:rPr>
              <a:t> = true</a:t>
            </a:r>
          </a:p>
          <a:p>
            <a:pPr lvl="1"/>
            <a:r>
              <a:rPr lang="en-GB" b="1" noProof="0" dirty="0" err="1">
                <a:latin typeface="Courier New" panose="02070309020205020404" pitchFamily="49" charset="0"/>
                <a:cs typeface="Courier New" panose="02070309020205020404" pitchFamily="49" charset="0"/>
              </a:rPr>
              <a:t>hibernate.format_sql</a:t>
            </a:r>
            <a:r>
              <a:rPr lang="en-GB" b="1" noProof="0" dirty="0">
                <a:latin typeface="Courier New" panose="02070309020205020404" pitchFamily="49" charset="0"/>
                <a:cs typeface="Courier New" panose="02070309020205020404" pitchFamily="49" charset="0"/>
              </a:rPr>
              <a:t> = true</a:t>
            </a:r>
          </a:p>
        </p:txBody>
      </p:sp>
    </p:spTree>
    <p:extLst>
      <p:ext uri="{BB962C8B-B14F-4D97-AF65-F5344CB8AC3E}">
        <p14:creationId xmlns:p14="http://schemas.microsoft.com/office/powerpoint/2010/main" val="271264132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E8F56-D5BE-0A81-7504-B7A3DC48B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6AF70-CF00-2A4E-5FF5-4F274E334CD3}"/>
              </a:ext>
            </a:extLst>
          </p:cNvPr>
          <p:cNvSpPr>
            <a:spLocks noGrp="1"/>
          </p:cNvSpPr>
          <p:nvPr>
            <p:ph type="title"/>
          </p:nvPr>
        </p:nvSpPr>
        <p:spPr/>
        <p:txBody>
          <a:bodyPr/>
          <a:lstStyle/>
          <a:p>
            <a:r>
              <a:rPr lang="en-GB" noProof="0" dirty="0"/>
              <a:t>Schema management</a:t>
            </a:r>
          </a:p>
        </p:txBody>
      </p:sp>
      <p:sp>
        <p:nvSpPr>
          <p:cNvPr id="3" name="Content Placeholder 2">
            <a:extLst>
              <a:ext uri="{FF2B5EF4-FFF2-40B4-BE49-F238E27FC236}">
                <a16:creationId xmlns:a16="http://schemas.microsoft.com/office/drawing/2014/main" id="{80A70FA6-7647-B46D-CA66-9A591E098FEA}"/>
              </a:ext>
            </a:extLst>
          </p:cNvPr>
          <p:cNvSpPr>
            <a:spLocks noGrp="1"/>
          </p:cNvSpPr>
          <p:nvPr>
            <p:ph idx="1"/>
          </p:nvPr>
        </p:nvSpPr>
        <p:spPr>
          <a:xfrm>
            <a:off x="539552" y="1268760"/>
            <a:ext cx="8424936" cy="5040560"/>
          </a:xfrm>
        </p:spPr>
        <p:txBody>
          <a:bodyPr>
            <a:normAutofit fontScale="70000" lnSpcReduction="20000"/>
          </a:bodyPr>
          <a:lstStyle/>
          <a:p>
            <a:r>
              <a:rPr lang="en-GB" noProof="0" dirty="0"/>
              <a:t>The property hibernate.hbm2ddl.auto has a set of available values</a:t>
            </a:r>
          </a:p>
          <a:p>
            <a:pPr lvl="1"/>
            <a:r>
              <a:rPr lang="en-GB" noProof="0" dirty="0"/>
              <a:t>none</a:t>
            </a:r>
          </a:p>
          <a:p>
            <a:pPr lvl="2"/>
            <a:r>
              <a:rPr lang="en-GB" noProof="0" dirty="0"/>
              <a:t>No automatic schema generation. The database schema must be created manually.</a:t>
            </a:r>
          </a:p>
          <a:p>
            <a:pPr lvl="1"/>
            <a:r>
              <a:rPr lang="en-GB" noProof="0" dirty="0"/>
              <a:t>validate</a:t>
            </a:r>
          </a:p>
          <a:p>
            <a:pPr lvl="2"/>
            <a:r>
              <a:rPr lang="en-GB" noProof="0" dirty="0"/>
              <a:t>Verifies that the database schema matches the entity definitions but does not create or modify tables. It throws an error if the schema is incorrect</a:t>
            </a:r>
          </a:p>
          <a:p>
            <a:pPr lvl="1"/>
            <a:r>
              <a:rPr lang="en-GB" noProof="0" dirty="0"/>
              <a:t>update</a:t>
            </a:r>
          </a:p>
          <a:p>
            <a:pPr lvl="2"/>
            <a:r>
              <a:rPr lang="en-GB" noProof="0" dirty="0"/>
              <a:t>Updates the schema without dropping existing tables, it adds missing columns or constraints but does not remove them. </a:t>
            </a:r>
          </a:p>
          <a:p>
            <a:pPr lvl="1"/>
            <a:r>
              <a:rPr lang="en-GB" noProof="0" dirty="0"/>
              <a:t>create</a:t>
            </a:r>
          </a:p>
          <a:p>
            <a:pPr lvl="2"/>
            <a:r>
              <a:rPr lang="en-GB" noProof="0" dirty="0"/>
              <a:t>Drops existing tables and creates the schema from scratch every time the application starts. </a:t>
            </a:r>
          </a:p>
          <a:p>
            <a:pPr lvl="1"/>
            <a:r>
              <a:rPr lang="en-GB" noProof="0" dirty="0"/>
              <a:t>create-drop</a:t>
            </a:r>
          </a:p>
          <a:p>
            <a:pPr lvl="2"/>
            <a:r>
              <a:rPr lang="en-GB" noProof="0" dirty="0"/>
              <a:t>Creates the schema from scratch every time the application starts drops it when the session factory is closed.</a:t>
            </a:r>
          </a:p>
        </p:txBody>
      </p:sp>
    </p:spTree>
    <p:extLst>
      <p:ext uri="{BB962C8B-B14F-4D97-AF65-F5344CB8AC3E}">
        <p14:creationId xmlns:p14="http://schemas.microsoft.com/office/powerpoint/2010/main" val="390247354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F53AF-7776-AB1E-6516-AFD775D30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D8FCB-428F-5F86-021B-9896C10FE2E2}"/>
              </a:ext>
            </a:extLst>
          </p:cNvPr>
          <p:cNvSpPr>
            <a:spLocks noGrp="1"/>
          </p:cNvSpPr>
          <p:nvPr>
            <p:ph type="title"/>
          </p:nvPr>
        </p:nvSpPr>
        <p:spPr/>
        <p:txBody>
          <a:bodyPr/>
          <a:lstStyle/>
          <a:p>
            <a:r>
              <a:rPr lang="en-GB" noProof="0" dirty="0"/>
              <a:t>Implementation of an ORM-based application</a:t>
            </a:r>
          </a:p>
        </p:txBody>
      </p:sp>
      <p:sp>
        <p:nvSpPr>
          <p:cNvPr id="4" name="Text Placeholder 3">
            <a:extLst>
              <a:ext uri="{FF2B5EF4-FFF2-40B4-BE49-F238E27FC236}">
                <a16:creationId xmlns:a16="http://schemas.microsoft.com/office/drawing/2014/main" id="{6F2E0462-6CB1-806C-FCEA-0CE5AA9B3BF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244405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64C1-5606-5385-4036-444E862A2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3643F-FA55-70FB-294F-E5408D750F89}"/>
              </a:ext>
            </a:extLst>
          </p:cNvPr>
          <p:cNvSpPr>
            <a:spLocks noGrp="1"/>
          </p:cNvSpPr>
          <p:nvPr>
            <p:ph type="title"/>
          </p:nvPr>
        </p:nvSpPr>
        <p:spPr/>
        <p:txBody>
          <a:bodyPr/>
          <a:lstStyle/>
          <a:p>
            <a:r>
              <a:rPr lang="en-GB" noProof="0" dirty="0"/>
              <a:t>ORM-based application</a:t>
            </a:r>
          </a:p>
        </p:txBody>
      </p:sp>
      <p:sp>
        <p:nvSpPr>
          <p:cNvPr id="3" name="Content Placeholder 2">
            <a:extLst>
              <a:ext uri="{FF2B5EF4-FFF2-40B4-BE49-F238E27FC236}">
                <a16:creationId xmlns:a16="http://schemas.microsoft.com/office/drawing/2014/main" id="{573341D6-C122-3FC8-5779-6635717EF7B7}"/>
              </a:ext>
            </a:extLst>
          </p:cNvPr>
          <p:cNvSpPr>
            <a:spLocks noGrp="1"/>
          </p:cNvSpPr>
          <p:nvPr>
            <p:ph idx="1"/>
          </p:nvPr>
        </p:nvSpPr>
        <p:spPr/>
        <p:txBody>
          <a:bodyPr>
            <a:normAutofit fontScale="92500" lnSpcReduction="10000"/>
          </a:bodyPr>
          <a:lstStyle/>
          <a:p>
            <a:r>
              <a:rPr lang="en-GB" noProof="0" dirty="0"/>
              <a:t>In this section, we will implement a simple ORM-based application using Hibernate and H2 step-by-step</a:t>
            </a:r>
          </a:p>
          <a:p>
            <a:pPr lvl="1"/>
            <a:r>
              <a:rPr lang="en-GB" noProof="0" dirty="0"/>
              <a:t>Dependencies and imports</a:t>
            </a:r>
          </a:p>
          <a:p>
            <a:pPr lvl="1"/>
            <a:r>
              <a:rPr lang="en-GB" noProof="0" dirty="0"/>
              <a:t>Persistence configuration</a:t>
            </a:r>
          </a:p>
          <a:p>
            <a:pPr lvl="1"/>
            <a:r>
              <a:rPr lang="en-GB" noProof="0" dirty="0"/>
              <a:t>Handling </a:t>
            </a:r>
            <a:r>
              <a:rPr lang="en-GB" noProof="0" dirty="0" err="1"/>
              <a:t>EntityManager</a:t>
            </a:r>
            <a:endParaRPr lang="en-GB" noProof="0" dirty="0"/>
          </a:p>
          <a:p>
            <a:pPr lvl="1"/>
            <a:r>
              <a:rPr lang="en-GB" noProof="0" dirty="0"/>
              <a:t>Defining entities</a:t>
            </a:r>
          </a:p>
          <a:p>
            <a:pPr lvl="1"/>
            <a:r>
              <a:rPr lang="en-GB" noProof="0" dirty="0"/>
              <a:t>Implementing repositories</a:t>
            </a:r>
          </a:p>
          <a:p>
            <a:pPr lvl="1"/>
            <a:r>
              <a:rPr lang="en-GB" noProof="0" dirty="0"/>
              <a:t>Implementing a main executor for our application</a:t>
            </a:r>
          </a:p>
        </p:txBody>
      </p:sp>
    </p:spTree>
    <p:extLst>
      <p:ext uri="{BB962C8B-B14F-4D97-AF65-F5344CB8AC3E}">
        <p14:creationId xmlns:p14="http://schemas.microsoft.com/office/powerpoint/2010/main" val="136141674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73255-FDF0-AF0F-022E-7E6098662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155B6-E966-A3D8-9DD5-B2B8BA0FE01A}"/>
              </a:ext>
            </a:extLst>
          </p:cNvPr>
          <p:cNvSpPr>
            <a:spLocks noGrp="1"/>
          </p:cNvSpPr>
          <p:nvPr>
            <p:ph type="title"/>
          </p:nvPr>
        </p:nvSpPr>
        <p:spPr/>
        <p:txBody>
          <a:bodyPr/>
          <a:lstStyle/>
          <a:p>
            <a:r>
              <a:rPr lang="en-GB" noProof="0" dirty="0"/>
              <a:t>Dependencies import</a:t>
            </a:r>
          </a:p>
        </p:txBody>
      </p:sp>
      <p:sp>
        <p:nvSpPr>
          <p:cNvPr id="3" name="Content Placeholder 2">
            <a:extLst>
              <a:ext uri="{FF2B5EF4-FFF2-40B4-BE49-F238E27FC236}">
                <a16:creationId xmlns:a16="http://schemas.microsoft.com/office/drawing/2014/main" id="{3EE72B95-832C-0E61-D973-8E28ABD72618}"/>
              </a:ext>
            </a:extLst>
          </p:cNvPr>
          <p:cNvSpPr>
            <a:spLocks noGrp="1"/>
          </p:cNvSpPr>
          <p:nvPr>
            <p:ph idx="1"/>
          </p:nvPr>
        </p:nvSpPr>
        <p:spPr>
          <a:xfrm>
            <a:off x="539552" y="1268760"/>
            <a:ext cx="8424936" cy="5040560"/>
          </a:xfrm>
        </p:spPr>
        <p:txBody>
          <a:bodyPr>
            <a:normAutofit/>
          </a:bodyPr>
          <a:lstStyle/>
          <a:p>
            <a:r>
              <a:rPr lang="en-GB" noProof="0" dirty="0"/>
              <a:t>First step is to define the </a:t>
            </a:r>
            <a:r>
              <a:rPr lang="en-GB" noProof="0" dirty="0" err="1"/>
              <a:t>pom.xml</a:t>
            </a:r>
            <a:r>
              <a:rPr lang="en-GB" noProof="0" dirty="0"/>
              <a:t> file of the application, to import the necessary dependencies</a:t>
            </a:r>
          </a:p>
          <a:p>
            <a:pPr lvl="1"/>
            <a:r>
              <a:rPr lang="en-GB" noProof="0" dirty="0" err="1"/>
              <a:t>jakarta.persistence-api</a:t>
            </a:r>
            <a:r>
              <a:rPr lang="en-GB" noProof="0" dirty="0"/>
              <a:t>: JPA API for ORM</a:t>
            </a:r>
          </a:p>
          <a:p>
            <a:pPr lvl="1"/>
            <a:r>
              <a:rPr lang="en-GB" noProof="0" dirty="0"/>
              <a:t>hibernate-core: Hibernate as the JPA provider</a:t>
            </a:r>
          </a:p>
          <a:p>
            <a:pPr lvl="1"/>
            <a:r>
              <a:rPr lang="en-GB" noProof="0" dirty="0"/>
              <a:t>h2: the database</a:t>
            </a:r>
          </a:p>
        </p:txBody>
      </p:sp>
    </p:spTree>
    <p:extLst>
      <p:ext uri="{BB962C8B-B14F-4D97-AF65-F5344CB8AC3E}">
        <p14:creationId xmlns:p14="http://schemas.microsoft.com/office/powerpoint/2010/main" val="297765647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7EB1-D9BA-8D1F-29C8-E87B14B67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34DC6-8C00-268A-F633-C8AF8E27CA68}"/>
              </a:ext>
            </a:extLst>
          </p:cNvPr>
          <p:cNvSpPr>
            <a:spLocks noGrp="1"/>
          </p:cNvSpPr>
          <p:nvPr>
            <p:ph type="title"/>
          </p:nvPr>
        </p:nvSpPr>
        <p:spPr/>
        <p:txBody>
          <a:bodyPr/>
          <a:lstStyle/>
          <a:p>
            <a:r>
              <a:rPr lang="en-GB" noProof="0" dirty="0"/>
              <a:t>Dependencies import</a:t>
            </a:r>
          </a:p>
        </p:txBody>
      </p:sp>
      <p:sp>
        <p:nvSpPr>
          <p:cNvPr id="4" name="Rettangolo 3">
            <a:extLst>
              <a:ext uri="{FF2B5EF4-FFF2-40B4-BE49-F238E27FC236}">
                <a16:creationId xmlns:a16="http://schemas.microsoft.com/office/drawing/2014/main" id="{C3D7ADF9-A817-A811-0CB5-C89DF2822198}"/>
              </a:ext>
            </a:extLst>
          </p:cNvPr>
          <p:cNvSpPr/>
          <p:nvPr/>
        </p:nvSpPr>
        <p:spPr bwMode="auto">
          <a:xfrm>
            <a:off x="899592" y="1052736"/>
            <a:ext cx="7848872" cy="532859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1DDCA34F-BD8E-94A7-6C83-6ABB15AA53F8}"/>
              </a:ext>
            </a:extLst>
          </p:cNvPr>
          <p:cNvSpPr>
            <a:spLocks noGrp="1"/>
          </p:cNvSpPr>
          <p:nvPr>
            <p:ph idx="1"/>
          </p:nvPr>
        </p:nvSpPr>
        <p:spPr>
          <a:xfrm>
            <a:off x="0" y="1124744"/>
            <a:ext cx="8964488" cy="5400600"/>
          </a:xfrm>
        </p:spPr>
        <p:txBody>
          <a:bodyPr>
            <a:normAutofit fontScale="55000" lnSpcReduction="20000"/>
          </a:bodyPr>
          <a:lstStyle/>
          <a:p>
            <a:pPr marL="0" indent="0">
              <a:buNone/>
            </a:pPr>
            <a:r>
              <a:rPr lang="en-GB" b="1" noProof="0" dirty="0">
                <a:latin typeface="Courier New" panose="02070309020205020404" pitchFamily="49" charset="0"/>
                <a:cs typeface="Courier New" panose="02070309020205020404" pitchFamily="49" charset="0"/>
              </a:rPr>
              <a:t>        &lt;dependency&gt;</a:t>
            </a:r>
          </a:p>
          <a:p>
            <a:pPr marL="0" indent="0">
              <a:buNone/>
            </a:pPr>
            <a:r>
              <a:rPr lang="en-GB" b="1" noProof="0" dirty="0">
                <a:latin typeface="Courier New" panose="02070309020205020404" pitchFamily="49" charset="0"/>
                <a:cs typeface="Courier New" panose="02070309020205020404" pitchFamily="49" charset="0"/>
              </a:rPr>
              <a:t>            &lt;</a:t>
            </a:r>
            <a:r>
              <a:rPr lang="en-GB" b="1" noProof="0" dirty="0" err="1">
                <a:latin typeface="Courier New" panose="02070309020205020404" pitchFamily="49" charset="0"/>
                <a:cs typeface="Courier New" panose="02070309020205020404" pitchFamily="49" charset="0"/>
              </a:rPr>
              <a:t>groupId</a:t>
            </a:r>
            <a:r>
              <a:rPr lang="en-GB" b="1" noProof="0" dirty="0">
                <a:latin typeface="Courier New" panose="02070309020205020404" pitchFamily="49" charset="0"/>
                <a:cs typeface="Courier New" panose="02070309020205020404" pitchFamily="49" charset="0"/>
              </a:rPr>
              <a:t>&gt;</a:t>
            </a:r>
            <a:r>
              <a:rPr lang="en-GB" b="1" noProof="0" dirty="0" err="1">
                <a:latin typeface="Courier New" panose="02070309020205020404" pitchFamily="49" charset="0"/>
                <a:cs typeface="Courier New" panose="02070309020205020404" pitchFamily="49" charset="0"/>
              </a:rPr>
              <a:t>org.hibernate</a:t>
            </a:r>
            <a:r>
              <a:rPr lang="en-GB" b="1" noProof="0" dirty="0">
                <a:latin typeface="Courier New" panose="02070309020205020404" pitchFamily="49" charset="0"/>
                <a:cs typeface="Courier New" panose="02070309020205020404" pitchFamily="49" charset="0"/>
              </a:rPr>
              <a:t>&lt;/</a:t>
            </a:r>
            <a:r>
              <a:rPr lang="en-GB" b="1" noProof="0" dirty="0" err="1">
                <a:latin typeface="Courier New" panose="02070309020205020404" pitchFamily="49" charset="0"/>
                <a:cs typeface="Courier New" panose="02070309020205020404" pitchFamily="49" charset="0"/>
              </a:rPr>
              <a:t>groupId</a:t>
            </a:r>
            <a:r>
              <a:rPr lang="en-GB" b="1" noProof="0" dirty="0">
                <a:latin typeface="Courier New" panose="02070309020205020404" pitchFamily="49" charset="0"/>
                <a:cs typeface="Courier New" panose="02070309020205020404" pitchFamily="49" charset="0"/>
              </a:rPr>
              <a:t>&gt;</a:t>
            </a:r>
          </a:p>
          <a:p>
            <a:pPr marL="0" indent="0">
              <a:buNone/>
            </a:pPr>
            <a:r>
              <a:rPr lang="en-GB" b="1" noProof="0" dirty="0">
                <a:latin typeface="Courier New" panose="02070309020205020404" pitchFamily="49" charset="0"/>
                <a:cs typeface="Courier New" panose="02070309020205020404" pitchFamily="49" charset="0"/>
              </a:rPr>
              <a:t>            &lt;</a:t>
            </a:r>
            <a:r>
              <a:rPr lang="en-GB" b="1" noProof="0" dirty="0" err="1">
                <a:latin typeface="Courier New" panose="02070309020205020404" pitchFamily="49" charset="0"/>
                <a:cs typeface="Courier New" panose="02070309020205020404" pitchFamily="49" charset="0"/>
              </a:rPr>
              <a:t>artifactId</a:t>
            </a:r>
            <a:r>
              <a:rPr lang="en-GB" b="1" noProof="0" dirty="0">
                <a:latin typeface="Courier New" panose="02070309020205020404" pitchFamily="49" charset="0"/>
                <a:cs typeface="Courier New" panose="02070309020205020404" pitchFamily="49" charset="0"/>
              </a:rPr>
              <a:t>&gt;hibernate-core&lt;/</a:t>
            </a:r>
            <a:r>
              <a:rPr lang="en-GB" b="1" noProof="0" dirty="0" err="1">
                <a:latin typeface="Courier New" panose="02070309020205020404" pitchFamily="49" charset="0"/>
                <a:cs typeface="Courier New" panose="02070309020205020404" pitchFamily="49" charset="0"/>
              </a:rPr>
              <a:t>artifactId</a:t>
            </a:r>
            <a:r>
              <a:rPr lang="en-GB" b="1" noProof="0" dirty="0">
                <a:latin typeface="Courier New" panose="02070309020205020404" pitchFamily="49" charset="0"/>
                <a:cs typeface="Courier New" panose="02070309020205020404" pitchFamily="49" charset="0"/>
              </a:rPr>
              <a:t>&gt;</a:t>
            </a:r>
          </a:p>
          <a:p>
            <a:pPr marL="0" indent="0">
              <a:buNone/>
            </a:pPr>
            <a:r>
              <a:rPr lang="en-GB" b="1" noProof="0" dirty="0">
                <a:latin typeface="Courier New" panose="02070309020205020404" pitchFamily="49" charset="0"/>
                <a:cs typeface="Courier New" panose="02070309020205020404" pitchFamily="49" charset="0"/>
              </a:rPr>
              <a:t>            &lt;version&gt;6.4.0.Final&lt;/version&gt;</a:t>
            </a:r>
          </a:p>
          <a:p>
            <a:pPr marL="0" indent="0">
              <a:buNone/>
            </a:pPr>
            <a:r>
              <a:rPr lang="en-GB" b="1" noProof="0" dirty="0">
                <a:latin typeface="Courier New" panose="02070309020205020404" pitchFamily="49" charset="0"/>
                <a:cs typeface="Courier New" panose="02070309020205020404" pitchFamily="49" charset="0"/>
              </a:rPr>
              <a:t>        &lt;/dependency&gt;</a:t>
            </a:r>
          </a:p>
          <a:p>
            <a:pPr marL="0" indent="0">
              <a:buNone/>
            </a:pPr>
            <a:r>
              <a:rPr lang="en-GB" b="1" noProof="0" dirty="0">
                <a:latin typeface="Courier New" panose="02070309020205020404" pitchFamily="49" charset="0"/>
                <a:cs typeface="Courier New" panose="02070309020205020404" pitchFamily="49" charset="0"/>
              </a:rPr>
              <a:t>        &lt;dependency&gt;</a:t>
            </a:r>
          </a:p>
          <a:p>
            <a:pPr marL="0" indent="0">
              <a:buNone/>
            </a:pPr>
            <a:r>
              <a:rPr lang="en-GB" b="1" noProof="0" dirty="0">
                <a:latin typeface="Courier New" panose="02070309020205020404" pitchFamily="49" charset="0"/>
                <a:cs typeface="Courier New" panose="02070309020205020404" pitchFamily="49" charset="0"/>
              </a:rPr>
              <a:t>            &lt;</a:t>
            </a:r>
            <a:r>
              <a:rPr lang="en-GB" b="1" noProof="0" dirty="0" err="1">
                <a:latin typeface="Courier New" panose="02070309020205020404" pitchFamily="49" charset="0"/>
                <a:cs typeface="Courier New" panose="02070309020205020404" pitchFamily="49" charset="0"/>
              </a:rPr>
              <a:t>groupId</a:t>
            </a:r>
            <a:r>
              <a:rPr lang="en-GB" b="1" noProof="0" dirty="0">
                <a:latin typeface="Courier New" panose="02070309020205020404" pitchFamily="49" charset="0"/>
                <a:cs typeface="Courier New" panose="02070309020205020404" pitchFamily="49" charset="0"/>
              </a:rPr>
              <a:t>&gt;</a:t>
            </a:r>
            <a:r>
              <a:rPr lang="en-GB" b="1" noProof="0" dirty="0" err="1">
                <a:latin typeface="Courier New" panose="02070309020205020404" pitchFamily="49" charset="0"/>
                <a:cs typeface="Courier New" panose="02070309020205020404" pitchFamily="49" charset="0"/>
              </a:rPr>
              <a:t>jakarta.persistence</a:t>
            </a:r>
            <a:r>
              <a:rPr lang="en-GB" b="1" noProof="0" dirty="0">
                <a:latin typeface="Courier New" panose="02070309020205020404" pitchFamily="49" charset="0"/>
                <a:cs typeface="Courier New" panose="02070309020205020404" pitchFamily="49" charset="0"/>
              </a:rPr>
              <a:t>&lt;/</a:t>
            </a:r>
            <a:r>
              <a:rPr lang="en-GB" b="1" noProof="0" dirty="0" err="1">
                <a:latin typeface="Courier New" panose="02070309020205020404" pitchFamily="49" charset="0"/>
                <a:cs typeface="Courier New" panose="02070309020205020404" pitchFamily="49" charset="0"/>
              </a:rPr>
              <a:t>groupId</a:t>
            </a:r>
            <a:r>
              <a:rPr lang="en-GB" b="1" noProof="0" dirty="0">
                <a:latin typeface="Courier New" panose="02070309020205020404" pitchFamily="49" charset="0"/>
                <a:cs typeface="Courier New" panose="02070309020205020404" pitchFamily="49" charset="0"/>
              </a:rPr>
              <a:t>&gt;</a:t>
            </a:r>
          </a:p>
          <a:p>
            <a:pPr marL="0" indent="0">
              <a:buNone/>
            </a:pPr>
            <a:r>
              <a:rPr lang="en-GB" b="1" noProof="0" dirty="0">
                <a:latin typeface="Courier New" panose="02070309020205020404" pitchFamily="49" charset="0"/>
                <a:cs typeface="Courier New" panose="02070309020205020404" pitchFamily="49" charset="0"/>
              </a:rPr>
              <a:t>            &lt;</a:t>
            </a:r>
            <a:r>
              <a:rPr lang="en-GB" b="1" noProof="0" dirty="0" err="1">
                <a:latin typeface="Courier New" panose="02070309020205020404" pitchFamily="49" charset="0"/>
                <a:cs typeface="Courier New" panose="02070309020205020404" pitchFamily="49" charset="0"/>
              </a:rPr>
              <a:t>artifactId</a:t>
            </a:r>
            <a:r>
              <a:rPr lang="en-GB" b="1" noProof="0" dirty="0">
                <a:latin typeface="Courier New" panose="02070309020205020404" pitchFamily="49" charset="0"/>
                <a:cs typeface="Courier New" panose="02070309020205020404" pitchFamily="49" charset="0"/>
              </a:rPr>
              <a:t>&gt;</a:t>
            </a:r>
            <a:r>
              <a:rPr lang="en-GB" b="1" noProof="0" dirty="0" err="1">
                <a:latin typeface="Courier New" panose="02070309020205020404" pitchFamily="49" charset="0"/>
                <a:cs typeface="Courier New" panose="02070309020205020404" pitchFamily="49" charset="0"/>
              </a:rPr>
              <a:t>jakarta.persistence-api</a:t>
            </a:r>
            <a:r>
              <a:rPr lang="en-GB" b="1" noProof="0" dirty="0">
                <a:latin typeface="Courier New" panose="02070309020205020404" pitchFamily="49" charset="0"/>
                <a:cs typeface="Courier New" panose="02070309020205020404" pitchFamily="49" charset="0"/>
              </a:rPr>
              <a:t>&lt;/</a:t>
            </a:r>
            <a:r>
              <a:rPr lang="en-GB" b="1" noProof="0" dirty="0" err="1">
                <a:latin typeface="Courier New" panose="02070309020205020404" pitchFamily="49" charset="0"/>
                <a:cs typeface="Courier New" panose="02070309020205020404" pitchFamily="49" charset="0"/>
              </a:rPr>
              <a:t>artifactId</a:t>
            </a:r>
            <a:r>
              <a:rPr lang="en-GB" b="1" noProof="0" dirty="0">
                <a:latin typeface="Courier New" panose="02070309020205020404" pitchFamily="49" charset="0"/>
                <a:cs typeface="Courier New" panose="02070309020205020404" pitchFamily="49" charset="0"/>
              </a:rPr>
              <a:t>&gt;</a:t>
            </a:r>
          </a:p>
          <a:p>
            <a:pPr marL="0" indent="0">
              <a:buNone/>
            </a:pPr>
            <a:r>
              <a:rPr lang="en-GB" b="1" noProof="0" dirty="0">
                <a:latin typeface="Courier New" panose="02070309020205020404" pitchFamily="49" charset="0"/>
                <a:cs typeface="Courier New" panose="02070309020205020404" pitchFamily="49" charset="0"/>
              </a:rPr>
              <a:t>            &lt;version&gt;3.1.0&lt;/version&gt;</a:t>
            </a:r>
          </a:p>
          <a:p>
            <a:pPr marL="0" indent="0">
              <a:buNone/>
            </a:pPr>
            <a:r>
              <a:rPr lang="en-GB" b="1" noProof="0" dirty="0">
                <a:latin typeface="Courier New" panose="02070309020205020404" pitchFamily="49" charset="0"/>
                <a:cs typeface="Courier New" panose="02070309020205020404" pitchFamily="49" charset="0"/>
              </a:rPr>
              <a:t>        &lt;/dependency&gt;</a:t>
            </a:r>
          </a:p>
          <a:p>
            <a:pPr marL="0" indent="0">
              <a:buNone/>
            </a:pPr>
            <a:r>
              <a:rPr lang="en-GB" b="1" noProof="0" dirty="0">
                <a:latin typeface="Courier New" panose="02070309020205020404" pitchFamily="49" charset="0"/>
                <a:cs typeface="Courier New" panose="02070309020205020404" pitchFamily="49" charset="0"/>
              </a:rPr>
              <a:t>        &lt;dependency&gt;</a:t>
            </a:r>
          </a:p>
          <a:p>
            <a:pPr marL="0" indent="0">
              <a:buNone/>
            </a:pPr>
            <a:r>
              <a:rPr lang="en-GB" b="1" noProof="0" dirty="0">
                <a:latin typeface="Courier New" panose="02070309020205020404" pitchFamily="49" charset="0"/>
                <a:cs typeface="Courier New" panose="02070309020205020404" pitchFamily="49" charset="0"/>
              </a:rPr>
              <a:t>            &lt;</a:t>
            </a:r>
            <a:r>
              <a:rPr lang="en-GB" b="1" noProof="0" dirty="0" err="1">
                <a:latin typeface="Courier New" panose="02070309020205020404" pitchFamily="49" charset="0"/>
                <a:cs typeface="Courier New" panose="02070309020205020404" pitchFamily="49" charset="0"/>
              </a:rPr>
              <a:t>groupId</a:t>
            </a:r>
            <a:r>
              <a:rPr lang="en-GB" b="1" noProof="0" dirty="0">
                <a:latin typeface="Courier New" panose="02070309020205020404" pitchFamily="49" charset="0"/>
                <a:cs typeface="Courier New" panose="02070309020205020404" pitchFamily="49" charset="0"/>
              </a:rPr>
              <a:t>&gt;com.h2database&lt;/</a:t>
            </a:r>
            <a:r>
              <a:rPr lang="en-GB" b="1" noProof="0" dirty="0" err="1">
                <a:latin typeface="Courier New" panose="02070309020205020404" pitchFamily="49" charset="0"/>
                <a:cs typeface="Courier New" panose="02070309020205020404" pitchFamily="49" charset="0"/>
              </a:rPr>
              <a:t>groupId</a:t>
            </a:r>
            <a:r>
              <a:rPr lang="en-GB" b="1" noProof="0" dirty="0">
                <a:latin typeface="Courier New" panose="02070309020205020404" pitchFamily="49" charset="0"/>
                <a:cs typeface="Courier New" panose="02070309020205020404" pitchFamily="49" charset="0"/>
              </a:rPr>
              <a:t>&gt;</a:t>
            </a:r>
          </a:p>
          <a:p>
            <a:pPr marL="0" indent="0">
              <a:buNone/>
            </a:pPr>
            <a:r>
              <a:rPr lang="en-GB" b="1" noProof="0" dirty="0">
                <a:latin typeface="Courier New" panose="02070309020205020404" pitchFamily="49" charset="0"/>
                <a:cs typeface="Courier New" panose="02070309020205020404" pitchFamily="49" charset="0"/>
              </a:rPr>
              <a:t>            &lt;</a:t>
            </a:r>
            <a:r>
              <a:rPr lang="en-GB" b="1" noProof="0" dirty="0" err="1">
                <a:latin typeface="Courier New" panose="02070309020205020404" pitchFamily="49" charset="0"/>
                <a:cs typeface="Courier New" panose="02070309020205020404" pitchFamily="49" charset="0"/>
              </a:rPr>
              <a:t>artifactId</a:t>
            </a:r>
            <a:r>
              <a:rPr lang="en-GB" b="1" noProof="0" dirty="0">
                <a:latin typeface="Courier New" panose="02070309020205020404" pitchFamily="49" charset="0"/>
                <a:cs typeface="Courier New" panose="02070309020205020404" pitchFamily="49" charset="0"/>
              </a:rPr>
              <a:t>&gt;h2&lt;/</a:t>
            </a:r>
            <a:r>
              <a:rPr lang="en-GB" b="1" noProof="0" dirty="0" err="1">
                <a:latin typeface="Courier New" panose="02070309020205020404" pitchFamily="49" charset="0"/>
                <a:cs typeface="Courier New" panose="02070309020205020404" pitchFamily="49" charset="0"/>
              </a:rPr>
              <a:t>artifactId</a:t>
            </a:r>
            <a:r>
              <a:rPr lang="en-GB" b="1" noProof="0" dirty="0">
                <a:latin typeface="Courier New" panose="02070309020205020404" pitchFamily="49" charset="0"/>
                <a:cs typeface="Courier New" panose="02070309020205020404" pitchFamily="49" charset="0"/>
              </a:rPr>
              <a:t>&gt;</a:t>
            </a:r>
          </a:p>
          <a:p>
            <a:pPr marL="0" indent="0">
              <a:buNone/>
            </a:pPr>
            <a:r>
              <a:rPr lang="en-GB" b="1" noProof="0" dirty="0">
                <a:latin typeface="Courier New" panose="02070309020205020404" pitchFamily="49" charset="0"/>
                <a:cs typeface="Courier New" panose="02070309020205020404" pitchFamily="49" charset="0"/>
              </a:rPr>
              <a:t>            &lt;version&gt;2.1.214&lt;/version&gt;</a:t>
            </a:r>
          </a:p>
          <a:p>
            <a:pPr marL="0" indent="0">
              <a:buNone/>
            </a:pPr>
            <a:r>
              <a:rPr lang="en-GB" b="1" noProof="0" dirty="0">
                <a:latin typeface="Courier New" panose="02070309020205020404" pitchFamily="49" charset="0"/>
                <a:cs typeface="Courier New" panose="02070309020205020404" pitchFamily="49" charset="0"/>
              </a:rPr>
              <a:t>        &lt;/dependency&gt;</a:t>
            </a:r>
          </a:p>
        </p:txBody>
      </p:sp>
    </p:spTree>
    <p:extLst>
      <p:ext uri="{BB962C8B-B14F-4D97-AF65-F5344CB8AC3E}">
        <p14:creationId xmlns:p14="http://schemas.microsoft.com/office/powerpoint/2010/main" val="477719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BE788-E8D1-402A-C7C7-F6C961042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BE0D0-1499-B906-ADF2-6029D69E029E}"/>
              </a:ext>
            </a:extLst>
          </p:cNvPr>
          <p:cNvSpPr>
            <a:spLocks noGrp="1"/>
          </p:cNvSpPr>
          <p:nvPr>
            <p:ph type="title"/>
          </p:nvPr>
        </p:nvSpPr>
        <p:spPr/>
        <p:txBody>
          <a:bodyPr/>
          <a:lstStyle/>
          <a:p>
            <a:r>
              <a:rPr lang="en-GB" noProof="0" dirty="0"/>
              <a:t>Persistence configuration</a:t>
            </a:r>
          </a:p>
        </p:txBody>
      </p:sp>
      <p:sp>
        <p:nvSpPr>
          <p:cNvPr id="3" name="Content Placeholder 2">
            <a:extLst>
              <a:ext uri="{FF2B5EF4-FFF2-40B4-BE49-F238E27FC236}">
                <a16:creationId xmlns:a16="http://schemas.microsoft.com/office/drawing/2014/main" id="{F26241DC-716A-E81B-783A-92EF72BCB8BB}"/>
              </a:ext>
            </a:extLst>
          </p:cNvPr>
          <p:cNvSpPr>
            <a:spLocks noGrp="1"/>
          </p:cNvSpPr>
          <p:nvPr>
            <p:ph idx="1"/>
          </p:nvPr>
        </p:nvSpPr>
        <p:spPr>
          <a:xfrm>
            <a:off x="539552" y="1268760"/>
            <a:ext cx="8424936" cy="5040560"/>
          </a:xfrm>
        </p:spPr>
        <p:txBody>
          <a:bodyPr>
            <a:normAutofit/>
          </a:bodyPr>
          <a:lstStyle/>
          <a:p>
            <a:r>
              <a:rPr lang="en-GB" noProof="0" dirty="0"/>
              <a:t>In </a:t>
            </a:r>
            <a:r>
              <a:rPr lang="en-GB" noProof="0" dirty="0" err="1"/>
              <a:t>persistence.xml</a:t>
            </a:r>
            <a:r>
              <a:rPr lang="en-GB" noProof="0" dirty="0"/>
              <a:t> we must set up</a:t>
            </a:r>
          </a:p>
          <a:p>
            <a:pPr lvl="1"/>
            <a:r>
              <a:rPr lang="en-GB" noProof="0" dirty="0"/>
              <a:t>persistence unit</a:t>
            </a:r>
          </a:p>
          <a:p>
            <a:pPr lvl="1"/>
            <a:r>
              <a:rPr lang="en-GB" noProof="0" dirty="0"/>
              <a:t>JPA provider (Hibernate)</a:t>
            </a:r>
          </a:p>
          <a:p>
            <a:pPr lvl="1"/>
            <a:r>
              <a:rPr lang="en-GB" noProof="0" dirty="0"/>
              <a:t>database connection</a:t>
            </a:r>
          </a:p>
          <a:p>
            <a:pPr lvl="2"/>
            <a:r>
              <a:rPr lang="en-GB" noProof="0" dirty="0"/>
              <a:t>driver, URL and access credentials</a:t>
            </a:r>
          </a:p>
          <a:p>
            <a:pPr lvl="1"/>
            <a:r>
              <a:rPr lang="en-GB" noProof="0" dirty="0" err="1"/>
              <a:t>sql</a:t>
            </a:r>
            <a:r>
              <a:rPr lang="en-GB" noProof="0" dirty="0"/>
              <a:t> dialect</a:t>
            </a:r>
          </a:p>
          <a:p>
            <a:pPr lvl="1"/>
            <a:r>
              <a:rPr lang="en-GB" noProof="0" dirty="0"/>
              <a:t>automatic schema generation</a:t>
            </a:r>
          </a:p>
          <a:p>
            <a:pPr lvl="1"/>
            <a:r>
              <a:rPr lang="en-GB" noProof="0" dirty="0"/>
              <a:t>logging and debugging features</a:t>
            </a:r>
          </a:p>
        </p:txBody>
      </p:sp>
    </p:spTree>
    <p:extLst>
      <p:ext uri="{BB962C8B-B14F-4D97-AF65-F5344CB8AC3E}">
        <p14:creationId xmlns:p14="http://schemas.microsoft.com/office/powerpoint/2010/main" val="69254492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544B1-F0F4-9540-2BCD-14E3ACF7F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D2F7A-6B72-0585-8A66-C60171BA6317}"/>
              </a:ext>
            </a:extLst>
          </p:cNvPr>
          <p:cNvSpPr>
            <a:spLocks noGrp="1"/>
          </p:cNvSpPr>
          <p:nvPr>
            <p:ph type="title"/>
          </p:nvPr>
        </p:nvSpPr>
        <p:spPr/>
        <p:txBody>
          <a:bodyPr/>
          <a:lstStyle/>
          <a:p>
            <a:r>
              <a:rPr lang="en-GB" noProof="0" dirty="0" err="1"/>
              <a:t>persistence.xml</a:t>
            </a:r>
            <a:endParaRPr lang="en-GB" noProof="0" dirty="0"/>
          </a:p>
        </p:txBody>
      </p:sp>
      <p:sp>
        <p:nvSpPr>
          <p:cNvPr id="4" name="Rettangolo 3">
            <a:extLst>
              <a:ext uri="{FF2B5EF4-FFF2-40B4-BE49-F238E27FC236}">
                <a16:creationId xmlns:a16="http://schemas.microsoft.com/office/drawing/2014/main" id="{5CD81DC3-2298-0B7E-8736-5390C1A1D593}"/>
              </a:ext>
            </a:extLst>
          </p:cNvPr>
          <p:cNvSpPr/>
          <p:nvPr/>
        </p:nvSpPr>
        <p:spPr bwMode="auto">
          <a:xfrm>
            <a:off x="323529" y="1268760"/>
            <a:ext cx="8712966" cy="4752528"/>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F3C30147-4F45-1A31-506D-117325E8072C}"/>
              </a:ext>
            </a:extLst>
          </p:cNvPr>
          <p:cNvSpPr>
            <a:spLocks noGrp="1"/>
          </p:cNvSpPr>
          <p:nvPr>
            <p:ph idx="1"/>
          </p:nvPr>
        </p:nvSpPr>
        <p:spPr>
          <a:xfrm>
            <a:off x="323528" y="1268760"/>
            <a:ext cx="8712967" cy="5040560"/>
          </a:xfrm>
        </p:spPr>
        <p:txBody>
          <a:bodyPr>
            <a:normAutofit fontScale="47500" lnSpcReduction="20000"/>
          </a:bodyPr>
          <a:lstStyle/>
          <a:p>
            <a:pPr marL="0" indent="0">
              <a:spcBef>
                <a:spcPts val="200"/>
              </a:spcBef>
              <a:buNone/>
            </a:pPr>
            <a:r>
              <a:rPr lang="en-GB" b="1" noProof="0" dirty="0">
                <a:latin typeface="Courier New" panose="02070309020205020404" pitchFamily="49" charset="0"/>
                <a:cs typeface="Courier New" panose="02070309020205020404" pitchFamily="49" charset="0"/>
              </a:rPr>
              <a:t>&lt;persistence </a:t>
            </a:r>
            <a:r>
              <a:rPr lang="en-GB" b="1" noProof="0" dirty="0" err="1">
                <a:latin typeface="Courier New" panose="02070309020205020404" pitchFamily="49" charset="0"/>
                <a:cs typeface="Courier New" panose="02070309020205020404" pitchFamily="49" charset="0"/>
              </a:rPr>
              <a:t>xmlns</a:t>
            </a:r>
            <a:r>
              <a:rPr lang="en-GB" b="1" noProof="0" dirty="0">
                <a:latin typeface="Courier New" panose="02070309020205020404" pitchFamily="49" charset="0"/>
                <a:cs typeface="Courier New" panose="02070309020205020404" pitchFamily="49" charset="0"/>
              </a:rPr>
              <a:t>="http://</a:t>
            </a:r>
            <a:r>
              <a:rPr lang="en-GB" b="1" noProof="0" dirty="0" err="1">
                <a:latin typeface="Courier New" panose="02070309020205020404" pitchFamily="49" charset="0"/>
                <a:cs typeface="Courier New" panose="02070309020205020404" pitchFamily="49" charset="0"/>
              </a:rPr>
              <a:t>xmlns.jcp.org</a:t>
            </a:r>
            <a:r>
              <a:rPr lang="en-GB" b="1" noProof="0" dirty="0">
                <a:latin typeface="Courier New" panose="02070309020205020404" pitchFamily="49" charset="0"/>
                <a:cs typeface="Courier New" panose="02070309020205020404" pitchFamily="49" charset="0"/>
              </a:rPr>
              <a:t>/xml/ns/persistence" </a:t>
            </a:r>
          </a:p>
          <a:p>
            <a:pPr marL="0" indent="0">
              <a:spcBef>
                <a:spcPts val="200"/>
              </a:spcBef>
              <a:buNone/>
            </a:pPr>
            <a:r>
              <a:rPr lang="en-GB" b="1" dirty="0">
                <a:latin typeface="Courier New" panose="02070309020205020404" pitchFamily="49" charset="0"/>
                <a:cs typeface="Courier New" panose="02070309020205020404" pitchFamily="49" charset="0"/>
              </a:rPr>
              <a:t>		     </a:t>
            </a:r>
            <a:r>
              <a:rPr lang="en-GB" b="1" noProof="0" dirty="0">
                <a:latin typeface="Courier New" panose="02070309020205020404" pitchFamily="49" charset="0"/>
                <a:cs typeface="Courier New" panose="02070309020205020404" pitchFamily="49" charset="0"/>
              </a:rPr>
              <a:t>version="2.1"&gt;</a:t>
            </a:r>
          </a:p>
          <a:p>
            <a:pPr marL="0" indent="0">
              <a:spcBef>
                <a:spcPts val="200"/>
              </a:spcBef>
              <a:buNone/>
            </a:pPr>
            <a:r>
              <a:rPr lang="en-GB" b="1" noProof="0" dirty="0">
                <a:latin typeface="Courier New" panose="02070309020205020404" pitchFamily="49" charset="0"/>
                <a:cs typeface="Courier New" panose="02070309020205020404" pitchFamily="49" charset="0"/>
              </a:rPr>
              <a:t>  &lt;persistence-unit name="</a:t>
            </a:r>
            <a:r>
              <a:rPr lang="en-GB" b="1" noProof="0" dirty="0" err="1">
                <a:solidFill>
                  <a:schemeClr val="accent6">
                    <a:lumMod val="75000"/>
                  </a:schemeClr>
                </a:solidFill>
                <a:latin typeface="Courier New" panose="02070309020205020404" pitchFamily="49" charset="0"/>
                <a:cs typeface="Courier New" panose="02070309020205020404" pitchFamily="49" charset="0"/>
              </a:rPr>
              <a:t>flightPU</a:t>
            </a:r>
            <a:r>
              <a:rPr lang="en-GB" b="1" noProof="0" dirty="0">
                <a:latin typeface="Courier New" panose="02070309020205020404" pitchFamily="49" charset="0"/>
                <a:cs typeface="Courier New" panose="02070309020205020404" pitchFamily="49" charset="0"/>
              </a:rPr>
              <a:t>"&gt;</a:t>
            </a:r>
          </a:p>
          <a:p>
            <a:pPr marL="0" indent="0">
              <a:spcBef>
                <a:spcPts val="200"/>
              </a:spcBef>
              <a:buNone/>
            </a:pPr>
            <a:r>
              <a:rPr lang="en-GB" b="1" noProof="0" dirty="0">
                <a:latin typeface="Courier New" panose="02070309020205020404" pitchFamily="49" charset="0"/>
                <a:cs typeface="Courier New" panose="02070309020205020404" pitchFamily="49" charset="0"/>
              </a:rPr>
              <a:t>      &lt;provider&gt;</a:t>
            </a:r>
            <a:r>
              <a:rPr lang="en-GB" b="1" noProof="0" dirty="0" err="1">
                <a:latin typeface="Courier New" panose="02070309020205020404" pitchFamily="49" charset="0"/>
                <a:cs typeface="Courier New" panose="02070309020205020404" pitchFamily="49" charset="0"/>
              </a:rPr>
              <a:t>org.hibernate.jpa.HibernatePersistenceProvider</a:t>
            </a:r>
            <a:r>
              <a:rPr lang="en-GB" sz="3400" b="1" noProof="0" dirty="0">
                <a:latin typeface="Courier New" panose="02070309020205020404" pitchFamily="49" charset="0"/>
                <a:cs typeface="Courier New" panose="02070309020205020404" pitchFamily="49" charset="0"/>
              </a:rPr>
              <a:t>&lt;/provider&gt;</a:t>
            </a:r>
            <a:endParaRPr lang="en-GB" sz="2500" b="1" noProof="0" dirty="0">
              <a:latin typeface="Courier New" panose="02070309020205020404" pitchFamily="49" charset="0"/>
              <a:cs typeface="Courier New" panose="02070309020205020404" pitchFamily="49" charset="0"/>
            </a:endParaRPr>
          </a:p>
          <a:p>
            <a:pPr marL="0" indent="0">
              <a:spcBef>
                <a:spcPts val="200"/>
              </a:spcBef>
              <a:buNone/>
            </a:pPr>
            <a:r>
              <a:rPr lang="en-GB" b="1" noProof="0" dirty="0">
                <a:latin typeface="Courier New" panose="02070309020205020404" pitchFamily="49" charset="0"/>
                <a:cs typeface="Courier New" panose="02070309020205020404" pitchFamily="49" charset="0"/>
              </a:rPr>
              <a:t>      &lt;properties&gt;</a:t>
            </a:r>
          </a:p>
          <a:p>
            <a:pPr marL="0" indent="0">
              <a:spcBef>
                <a:spcPts val="200"/>
              </a:spcBef>
              <a:buNone/>
            </a:pPr>
            <a:r>
              <a:rPr lang="en-GB" b="1" noProof="0" dirty="0">
                <a:latin typeface="Courier New" panose="02070309020205020404" pitchFamily="49" charset="0"/>
                <a:cs typeface="Courier New" panose="02070309020205020404" pitchFamily="49" charset="0"/>
              </a:rPr>
              <a:t>        &lt;property name="</a:t>
            </a:r>
            <a:r>
              <a:rPr lang="en-GB" b="1" noProof="0" dirty="0" err="1">
                <a:latin typeface="Courier New" panose="02070309020205020404" pitchFamily="49" charset="0"/>
                <a:cs typeface="Courier New" panose="02070309020205020404" pitchFamily="49" charset="0"/>
              </a:rPr>
              <a:t>jakarta.persistence.jdbc.driver</a:t>
            </a:r>
            <a:r>
              <a:rPr lang="en-GB" b="1" noProof="0" dirty="0">
                <a:latin typeface="Courier New" panose="02070309020205020404" pitchFamily="49" charset="0"/>
                <a:cs typeface="Courier New" panose="02070309020205020404" pitchFamily="49" charset="0"/>
              </a:rPr>
              <a:t>" </a:t>
            </a:r>
          </a:p>
          <a:p>
            <a:pPr marL="0" indent="0">
              <a:spcBef>
                <a:spcPts val="200"/>
              </a:spcBef>
              <a:buNone/>
            </a:pPr>
            <a:r>
              <a:rPr lang="en-GB" b="1" dirty="0">
                <a:latin typeface="Courier New" panose="02070309020205020404" pitchFamily="49" charset="0"/>
                <a:cs typeface="Courier New" panose="02070309020205020404" pitchFamily="49" charset="0"/>
              </a:rPr>
              <a:t>			     </a:t>
            </a:r>
            <a:r>
              <a:rPr lang="en-GB" b="1" noProof="0" dirty="0">
                <a:latin typeface="Courier New" panose="02070309020205020404" pitchFamily="49" charset="0"/>
                <a:cs typeface="Courier New" panose="02070309020205020404" pitchFamily="49" charset="0"/>
              </a:rPr>
              <a:t>value="org.h2.Driver"/&gt;</a:t>
            </a:r>
          </a:p>
          <a:p>
            <a:pPr marL="0" indent="0">
              <a:spcBef>
                <a:spcPts val="200"/>
              </a:spcBef>
              <a:buNone/>
            </a:pPr>
            <a:r>
              <a:rPr lang="en-GB" b="1" noProof="0" dirty="0">
                <a:latin typeface="Courier New" panose="02070309020205020404" pitchFamily="49" charset="0"/>
                <a:cs typeface="Courier New" panose="02070309020205020404" pitchFamily="49" charset="0"/>
              </a:rPr>
              <a:t>        &lt;property name="</a:t>
            </a:r>
            <a:r>
              <a:rPr lang="en-GB" b="1" noProof="0" dirty="0" err="1">
                <a:latin typeface="Courier New" panose="02070309020205020404" pitchFamily="49" charset="0"/>
                <a:cs typeface="Courier New" panose="02070309020205020404" pitchFamily="49" charset="0"/>
              </a:rPr>
              <a:t>jakarta.persistence.jdbc.url</a:t>
            </a:r>
            <a:r>
              <a:rPr lang="en-GB" b="1" noProof="0" dirty="0">
                <a:latin typeface="Courier New" panose="02070309020205020404" pitchFamily="49" charset="0"/>
                <a:cs typeface="Courier New" panose="02070309020205020404" pitchFamily="49" charset="0"/>
              </a:rPr>
              <a:t>" </a:t>
            </a:r>
          </a:p>
          <a:p>
            <a:pPr marL="0" indent="0">
              <a:spcBef>
                <a:spcPts val="200"/>
              </a:spcBef>
              <a:buNone/>
            </a:pPr>
            <a:r>
              <a:rPr lang="en-GB" b="1" dirty="0">
                <a:latin typeface="Courier New" panose="02070309020205020404" pitchFamily="49" charset="0"/>
                <a:cs typeface="Courier New" panose="02070309020205020404" pitchFamily="49" charset="0"/>
              </a:rPr>
              <a:t>				 </a:t>
            </a:r>
            <a:r>
              <a:rPr lang="en-GB" b="1" noProof="0" dirty="0">
                <a:latin typeface="Courier New" panose="02070309020205020404" pitchFamily="49" charset="0"/>
                <a:cs typeface="Courier New" panose="02070309020205020404" pitchFamily="49" charset="0"/>
              </a:rPr>
              <a:t>value="</a:t>
            </a:r>
            <a:r>
              <a:rPr lang="en-GB" b="1" noProof="0" dirty="0">
                <a:solidFill>
                  <a:schemeClr val="accent6">
                    <a:lumMod val="75000"/>
                  </a:schemeClr>
                </a:solidFill>
                <a:latin typeface="Courier New" panose="02070309020205020404" pitchFamily="49" charset="0"/>
                <a:cs typeface="Courier New" panose="02070309020205020404" pitchFamily="49" charset="0"/>
              </a:rPr>
              <a:t>jdbc:h2:file:./data/</a:t>
            </a:r>
            <a:r>
              <a:rPr lang="en-GB" b="1" noProof="0" dirty="0" err="1">
                <a:solidFill>
                  <a:schemeClr val="accent6">
                    <a:lumMod val="75000"/>
                  </a:schemeClr>
                </a:solidFill>
                <a:latin typeface="Courier New" panose="02070309020205020404" pitchFamily="49" charset="0"/>
                <a:cs typeface="Courier New" panose="02070309020205020404" pitchFamily="49" charset="0"/>
              </a:rPr>
              <a:t>flightdb</a:t>
            </a:r>
            <a:r>
              <a:rPr lang="en-GB" b="1" noProof="0" dirty="0">
                <a:latin typeface="Courier New" panose="02070309020205020404" pitchFamily="49" charset="0"/>
                <a:cs typeface="Courier New" panose="02070309020205020404" pitchFamily="49" charset="0"/>
              </a:rPr>
              <a:t>"/&gt;</a:t>
            </a:r>
          </a:p>
          <a:p>
            <a:pPr marL="0" indent="0">
              <a:spcBef>
                <a:spcPts val="200"/>
              </a:spcBef>
              <a:buNone/>
            </a:pPr>
            <a:r>
              <a:rPr lang="en-GB" b="1" noProof="0" dirty="0">
                <a:latin typeface="Courier New" panose="02070309020205020404" pitchFamily="49" charset="0"/>
                <a:cs typeface="Courier New" panose="02070309020205020404" pitchFamily="49" charset="0"/>
              </a:rPr>
              <a:t>        &lt;property name="</a:t>
            </a:r>
            <a:r>
              <a:rPr lang="en-GB" b="1" noProof="0" dirty="0" err="1">
                <a:latin typeface="Courier New" panose="02070309020205020404" pitchFamily="49" charset="0"/>
                <a:cs typeface="Courier New" panose="02070309020205020404" pitchFamily="49" charset="0"/>
              </a:rPr>
              <a:t>jakarta.persistence.jdbc.user</a:t>
            </a:r>
            <a:r>
              <a:rPr lang="en-GB" b="1" noProof="0" dirty="0">
                <a:latin typeface="Courier New" panose="02070309020205020404" pitchFamily="49" charset="0"/>
                <a:cs typeface="Courier New" panose="02070309020205020404" pitchFamily="49" charset="0"/>
              </a:rPr>
              <a:t>" value="</a:t>
            </a:r>
            <a:r>
              <a:rPr lang="en-GB" b="1" noProof="0" dirty="0" err="1">
                <a:latin typeface="Courier New" panose="02070309020205020404" pitchFamily="49" charset="0"/>
                <a:cs typeface="Courier New" panose="02070309020205020404" pitchFamily="49" charset="0"/>
              </a:rPr>
              <a:t>sa</a:t>
            </a:r>
            <a:r>
              <a:rPr lang="en-GB" b="1" noProof="0" dirty="0">
                <a:latin typeface="Courier New" panose="02070309020205020404" pitchFamily="49" charset="0"/>
                <a:cs typeface="Courier New" panose="02070309020205020404" pitchFamily="49" charset="0"/>
              </a:rPr>
              <a:t>"/&gt;</a:t>
            </a:r>
          </a:p>
          <a:p>
            <a:pPr marL="0" indent="0">
              <a:spcBef>
                <a:spcPts val="200"/>
              </a:spcBef>
              <a:buNone/>
            </a:pPr>
            <a:r>
              <a:rPr lang="en-GB" b="1" noProof="0" dirty="0">
                <a:latin typeface="Courier New" panose="02070309020205020404" pitchFamily="49" charset="0"/>
                <a:cs typeface="Courier New" panose="02070309020205020404" pitchFamily="49" charset="0"/>
              </a:rPr>
              <a:t>        &lt;property name="</a:t>
            </a:r>
            <a:r>
              <a:rPr lang="en-GB" b="1" noProof="0" dirty="0" err="1">
                <a:latin typeface="Courier New" panose="02070309020205020404" pitchFamily="49" charset="0"/>
                <a:cs typeface="Courier New" panose="02070309020205020404" pitchFamily="49" charset="0"/>
              </a:rPr>
              <a:t>jakarta.persistence.jdbc.password</a:t>
            </a:r>
            <a:r>
              <a:rPr lang="en-GB" b="1" noProof="0" dirty="0">
                <a:latin typeface="Courier New" panose="02070309020205020404" pitchFamily="49" charset="0"/>
                <a:cs typeface="Courier New" panose="02070309020205020404" pitchFamily="49" charset="0"/>
              </a:rPr>
              <a:t>" value=""/&gt;            </a:t>
            </a:r>
          </a:p>
          <a:p>
            <a:pPr marL="0" indent="0">
              <a:spcBef>
                <a:spcPts val="200"/>
              </a:spcBef>
              <a:buNone/>
            </a:pPr>
            <a:r>
              <a:rPr lang="en-GB" b="1" noProof="0" dirty="0">
                <a:latin typeface="Courier New" panose="02070309020205020404" pitchFamily="49" charset="0"/>
                <a:cs typeface="Courier New" panose="02070309020205020404" pitchFamily="49" charset="0"/>
              </a:rPr>
              <a:t>        &lt;property name="</a:t>
            </a:r>
            <a:r>
              <a:rPr lang="en-GB" b="1" noProof="0" dirty="0" err="1">
                <a:latin typeface="Courier New" panose="02070309020205020404" pitchFamily="49" charset="0"/>
                <a:cs typeface="Courier New" panose="02070309020205020404" pitchFamily="49" charset="0"/>
              </a:rPr>
              <a:t>hibernate.dialect</a:t>
            </a:r>
            <a:r>
              <a:rPr lang="en-GB" b="1" noProof="0" dirty="0">
                <a:latin typeface="Courier New" panose="02070309020205020404" pitchFamily="49" charset="0"/>
                <a:cs typeface="Courier New" panose="02070309020205020404" pitchFamily="49" charset="0"/>
              </a:rPr>
              <a:t>" </a:t>
            </a:r>
          </a:p>
          <a:p>
            <a:pPr marL="0" indent="0">
              <a:spcBef>
                <a:spcPts val="200"/>
              </a:spcBef>
              <a:buNone/>
            </a:pPr>
            <a:r>
              <a:rPr lang="en-GB" b="1" dirty="0">
                <a:latin typeface="Courier New" panose="02070309020205020404" pitchFamily="49" charset="0"/>
                <a:cs typeface="Courier New" panose="02070309020205020404" pitchFamily="49" charset="0"/>
              </a:rPr>
              <a:t>				 </a:t>
            </a:r>
            <a:r>
              <a:rPr lang="en-GB" b="1" noProof="0" dirty="0">
                <a:latin typeface="Courier New" panose="02070309020205020404" pitchFamily="49" charset="0"/>
                <a:cs typeface="Courier New" panose="02070309020205020404" pitchFamily="49" charset="0"/>
              </a:rPr>
              <a:t>value="org.hibernate.dialect.H2Dialect"/&gt;</a:t>
            </a:r>
          </a:p>
          <a:p>
            <a:pPr marL="0" indent="0">
              <a:spcBef>
                <a:spcPts val="200"/>
              </a:spcBef>
              <a:buNone/>
            </a:pPr>
            <a:r>
              <a:rPr lang="en-GB" b="1" noProof="0" dirty="0">
                <a:latin typeface="Courier New" panose="02070309020205020404" pitchFamily="49" charset="0"/>
                <a:cs typeface="Courier New" panose="02070309020205020404" pitchFamily="49" charset="0"/>
              </a:rPr>
              <a:t>        &lt;property name="hibernate.hbm2ddl.auto" value="</a:t>
            </a:r>
            <a:r>
              <a:rPr lang="en-GB" b="1" noProof="0" dirty="0">
                <a:solidFill>
                  <a:schemeClr val="accent6">
                    <a:lumMod val="75000"/>
                  </a:schemeClr>
                </a:solidFill>
                <a:latin typeface="Courier New" panose="02070309020205020404" pitchFamily="49" charset="0"/>
                <a:cs typeface="Courier New" panose="02070309020205020404" pitchFamily="49" charset="0"/>
              </a:rPr>
              <a:t>update</a:t>
            </a:r>
            <a:r>
              <a:rPr lang="en-GB" b="1" noProof="0" dirty="0">
                <a:latin typeface="Courier New" panose="02070309020205020404" pitchFamily="49" charset="0"/>
                <a:cs typeface="Courier New" panose="02070309020205020404" pitchFamily="49" charset="0"/>
              </a:rPr>
              <a:t>"/&gt;</a:t>
            </a:r>
          </a:p>
          <a:p>
            <a:pPr marL="0" indent="0">
              <a:spcBef>
                <a:spcPts val="200"/>
              </a:spcBef>
              <a:buNone/>
            </a:pPr>
            <a:r>
              <a:rPr lang="en-GB" b="1" noProof="0" dirty="0">
                <a:latin typeface="Courier New" panose="02070309020205020404" pitchFamily="49" charset="0"/>
                <a:cs typeface="Courier New" panose="02070309020205020404" pitchFamily="49" charset="0"/>
              </a:rPr>
              <a:t>        &lt;property name="</a:t>
            </a:r>
            <a:r>
              <a:rPr lang="en-GB" b="1" noProof="0" dirty="0" err="1">
                <a:latin typeface="Courier New" panose="02070309020205020404" pitchFamily="49" charset="0"/>
                <a:cs typeface="Courier New" panose="02070309020205020404" pitchFamily="49" charset="0"/>
              </a:rPr>
              <a:t>hibernate.show_sql</a:t>
            </a:r>
            <a:r>
              <a:rPr lang="en-GB" b="1" noProof="0" dirty="0">
                <a:latin typeface="Courier New" panose="02070309020205020404" pitchFamily="49" charset="0"/>
                <a:cs typeface="Courier New" panose="02070309020205020404" pitchFamily="49" charset="0"/>
              </a:rPr>
              <a:t>" value="true"/&gt;</a:t>
            </a:r>
          </a:p>
          <a:p>
            <a:pPr marL="0" indent="0">
              <a:spcBef>
                <a:spcPts val="200"/>
              </a:spcBef>
              <a:buNone/>
            </a:pPr>
            <a:r>
              <a:rPr lang="en-GB" b="1" noProof="0" dirty="0">
                <a:latin typeface="Courier New" panose="02070309020205020404" pitchFamily="49" charset="0"/>
                <a:cs typeface="Courier New" panose="02070309020205020404" pitchFamily="49" charset="0"/>
              </a:rPr>
              <a:t>        &lt;property name="</a:t>
            </a:r>
            <a:r>
              <a:rPr lang="en-GB" b="1" noProof="0" dirty="0" err="1">
                <a:latin typeface="Courier New" panose="02070309020205020404" pitchFamily="49" charset="0"/>
                <a:cs typeface="Courier New" panose="02070309020205020404" pitchFamily="49" charset="0"/>
              </a:rPr>
              <a:t>hibernate.format_sql</a:t>
            </a:r>
            <a:r>
              <a:rPr lang="en-GB" b="1" noProof="0" dirty="0">
                <a:latin typeface="Courier New" panose="02070309020205020404" pitchFamily="49" charset="0"/>
                <a:cs typeface="Courier New" panose="02070309020205020404" pitchFamily="49" charset="0"/>
              </a:rPr>
              <a:t>" value="true"/&gt;</a:t>
            </a:r>
          </a:p>
          <a:p>
            <a:pPr marL="0" indent="0">
              <a:spcBef>
                <a:spcPts val="200"/>
              </a:spcBef>
              <a:buNone/>
            </a:pPr>
            <a:r>
              <a:rPr lang="en-GB" b="1" noProof="0" dirty="0">
                <a:latin typeface="Courier New" panose="02070309020205020404" pitchFamily="49" charset="0"/>
                <a:cs typeface="Courier New" panose="02070309020205020404" pitchFamily="49" charset="0"/>
              </a:rPr>
              <a:t>      &lt;/properties&gt;</a:t>
            </a:r>
          </a:p>
          <a:p>
            <a:pPr marL="0" indent="0">
              <a:spcBef>
                <a:spcPts val="200"/>
              </a:spcBef>
              <a:buNone/>
            </a:pPr>
            <a:r>
              <a:rPr lang="en-GB" b="1" noProof="0" dirty="0">
                <a:latin typeface="Courier New" panose="02070309020205020404" pitchFamily="49" charset="0"/>
                <a:cs typeface="Courier New" panose="02070309020205020404" pitchFamily="49" charset="0"/>
              </a:rPr>
              <a:t>  &lt;/persistence-unit&gt;</a:t>
            </a:r>
          </a:p>
          <a:p>
            <a:pPr marL="0" indent="0">
              <a:spcBef>
                <a:spcPts val="200"/>
              </a:spcBef>
              <a:buNone/>
            </a:pPr>
            <a:r>
              <a:rPr lang="en-GB" b="1" noProof="0" dirty="0">
                <a:latin typeface="Courier New" panose="02070309020205020404" pitchFamily="49" charset="0"/>
                <a:cs typeface="Courier New" panose="02070309020205020404" pitchFamily="49" charset="0"/>
              </a:rPr>
              <a:t>&lt;/persistence&gt;</a:t>
            </a:r>
          </a:p>
        </p:txBody>
      </p:sp>
    </p:spTree>
    <p:extLst>
      <p:ext uri="{BB962C8B-B14F-4D97-AF65-F5344CB8AC3E}">
        <p14:creationId xmlns:p14="http://schemas.microsoft.com/office/powerpoint/2010/main" val="234546845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D0B81-C63E-1D4E-AB06-360C65A10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91777-6E46-E6C5-DBB7-E2053CD6CB06}"/>
              </a:ext>
            </a:extLst>
          </p:cNvPr>
          <p:cNvSpPr>
            <a:spLocks noGrp="1"/>
          </p:cNvSpPr>
          <p:nvPr>
            <p:ph type="title"/>
          </p:nvPr>
        </p:nvSpPr>
        <p:spPr/>
        <p:txBody>
          <a:bodyPr/>
          <a:lstStyle/>
          <a:p>
            <a:r>
              <a:rPr lang="en-GB" noProof="0" dirty="0" err="1"/>
              <a:t>EntityManager</a:t>
            </a:r>
            <a:r>
              <a:rPr lang="en-GB" noProof="0" dirty="0"/>
              <a:t> handling</a:t>
            </a:r>
          </a:p>
        </p:txBody>
      </p:sp>
      <p:sp>
        <p:nvSpPr>
          <p:cNvPr id="3" name="Content Placeholder 2">
            <a:extLst>
              <a:ext uri="{FF2B5EF4-FFF2-40B4-BE49-F238E27FC236}">
                <a16:creationId xmlns:a16="http://schemas.microsoft.com/office/drawing/2014/main" id="{B9D399AE-8FEB-FFD4-8E41-44DE59BD1770}"/>
              </a:ext>
            </a:extLst>
          </p:cNvPr>
          <p:cNvSpPr>
            <a:spLocks noGrp="1"/>
          </p:cNvSpPr>
          <p:nvPr>
            <p:ph idx="1"/>
          </p:nvPr>
        </p:nvSpPr>
        <p:spPr>
          <a:xfrm>
            <a:off x="539552" y="1268760"/>
            <a:ext cx="8424936" cy="5040560"/>
          </a:xfrm>
        </p:spPr>
        <p:txBody>
          <a:bodyPr>
            <a:normAutofit/>
          </a:bodyPr>
          <a:lstStyle/>
          <a:p>
            <a:r>
              <a:rPr lang="en-GB" sz="2400" noProof="0" dirty="0"/>
              <a:t>To avoid creating multiple </a:t>
            </a:r>
            <a:r>
              <a:rPr lang="en-GB" sz="2400" b="1" noProof="0" dirty="0" err="1">
                <a:latin typeface="Courier New" panose="02070309020205020404" pitchFamily="49" charset="0"/>
                <a:cs typeface="Courier New" panose="02070309020205020404" pitchFamily="49" charset="0"/>
              </a:rPr>
              <a:t>EntityManagerFactory</a:t>
            </a:r>
            <a:r>
              <a:rPr lang="en-GB" sz="2400" noProof="0" dirty="0"/>
              <a:t> instances, we use a singleton utility class</a:t>
            </a:r>
          </a:p>
          <a:p>
            <a:pPr lvl="1"/>
            <a:r>
              <a:rPr lang="en-GB" sz="2000" noProof="0" dirty="0"/>
              <a:t>Avoids </a:t>
            </a:r>
            <a:r>
              <a:rPr lang="en-GB" sz="2000" dirty="0"/>
              <a:t>redundant factory instances </a:t>
            </a:r>
            <a:r>
              <a:rPr lang="en-GB" sz="2000" b="1" dirty="0" err="1">
                <a:latin typeface="Courier New" panose="02070309020205020404" pitchFamily="49" charset="0"/>
                <a:cs typeface="Courier New" panose="02070309020205020404" pitchFamily="49" charset="0"/>
              </a:rPr>
              <a:t>EntityManagerFactory</a:t>
            </a:r>
            <a:r>
              <a:rPr lang="en-GB" sz="2000" dirty="0"/>
              <a:t> is expensive to create.</a:t>
            </a:r>
          </a:p>
          <a:p>
            <a:r>
              <a:rPr lang="en-GB" sz="2400" noProof="0" dirty="0"/>
              <a:t>This class must offer some core features</a:t>
            </a:r>
          </a:p>
          <a:p>
            <a:pPr lvl="1"/>
            <a:r>
              <a:rPr lang="en-GB" sz="2000" noProof="0" dirty="0"/>
              <a:t>Ensure proper resource management</a:t>
            </a:r>
          </a:p>
          <a:p>
            <a:pPr lvl="2"/>
            <a:r>
              <a:rPr lang="en-GB" sz="1800" noProof="0" dirty="0"/>
              <a:t>Providing a </a:t>
            </a:r>
            <a:r>
              <a:rPr lang="en-GB" sz="1800" b="1" noProof="0" dirty="0">
                <a:latin typeface="Courier New" panose="02070309020205020404" pitchFamily="49" charset="0"/>
                <a:cs typeface="Courier New" panose="02070309020205020404" pitchFamily="49" charset="0"/>
              </a:rPr>
              <a:t>close()</a:t>
            </a:r>
            <a:r>
              <a:rPr lang="en-GB" sz="1800" noProof="0" dirty="0"/>
              <a:t> method to shut down Hibernate properly when the application ends its lifecycle</a:t>
            </a:r>
          </a:p>
          <a:p>
            <a:pPr lvl="1"/>
            <a:r>
              <a:rPr lang="en-GB" sz="2000" noProof="0" dirty="0"/>
              <a:t>Encapsulate </a:t>
            </a:r>
            <a:r>
              <a:rPr lang="en-GB" sz="2000" b="1" noProof="0" dirty="0" err="1">
                <a:latin typeface="Courier New" panose="02070309020205020404" pitchFamily="49" charset="0"/>
                <a:cs typeface="Courier New" panose="02070309020205020404" pitchFamily="49" charset="0"/>
              </a:rPr>
              <a:t>EntityManagerFactory</a:t>
            </a:r>
            <a:endParaRPr lang="en-GB" sz="2000" b="1" noProof="0" dirty="0">
              <a:latin typeface="Courier New" panose="02070309020205020404" pitchFamily="49" charset="0"/>
              <a:cs typeface="Courier New" panose="02070309020205020404" pitchFamily="49" charset="0"/>
            </a:endParaRPr>
          </a:p>
          <a:p>
            <a:pPr lvl="2"/>
            <a:r>
              <a:rPr lang="en-GB" sz="1800" noProof="0" dirty="0"/>
              <a:t>The factory is not exposed directly, but a controlled method provides access to </a:t>
            </a:r>
            <a:r>
              <a:rPr lang="en-GB" sz="1800" b="1" noProof="0" dirty="0" err="1">
                <a:latin typeface="Courier New" panose="02070309020205020404" pitchFamily="49" charset="0"/>
                <a:cs typeface="Courier New" panose="02070309020205020404" pitchFamily="49" charset="0"/>
              </a:rPr>
              <a:t>EntityManager</a:t>
            </a:r>
            <a:endParaRPr lang="en-GB" sz="1800" b="1" noProof="0" dirty="0">
              <a:latin typeface="Courier New" panose="02070309020205020404" pitchFamily="49" charset="0"/>
              <a:cs typeface="Courier New" panose="02070309020205020404" pitchFamily="49" charset="0"/>
            </a:endParaRPr>
          </a:p>
          <a:p>
            <a:pPr lvl="2"/>
            <a:r>
              <a:rPr lang="en-GB" sz="1800" noProof="0" dirty="0"/>
              <a:t>Allows application logic to interact only through </a:t>
            </a:r>
            <a:r>
              <a:rPr lang="en-GB" sz="1800" b="1" noProof="0" dirty="0" err="1">
                <a:latin typeface="Courier New" panose="02070309020205020404" pitchFamily="49" charset="0"/>
                <a:cs typeface="Courier New" panose="02070309020205020404" pitchFamily="49" charset="0"/>
              </a:rPr>
              <a:t>EntityManager</a:t>
            </a:r>
            <a:r>
              <a:rPr lang="en-GB" sz="1800" noProof="0" dirty="0"/>
              <a:t>, ensuring proper lifecycle management</a:t>
            </a:r>
          </a:p>
        </p:txBody>
      </p:sp>
    </p:spTree>
    <p:extLst>
      <p:ext uri="{BB962C8B-B14F-4D97-AF65-F5344CB8AC3E}">
        <p14:creationId xmlns:p14="http://schemas.microsoft.com/office/powerpoint/2010/main" val="136692699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2DBA4-FACD-B5D6-1F6C-2C3BA647D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66C1BC-AFDE-7353-0B2D-2786A41A5D4C}"/>
              </a:ext>
            </a:extLst>
          </p:cNvPr>
          <p:cNvSpPr>
            <a:spLocks noGrp="1"/>
          </p:cNvSpPr>
          <p:nvPr>
            <p:ph type="title"/>
          </p:nvPr>
        </p:nvSpPr>
        <p:spPr/>
        <p:txBody>
          <a:bodyPr/>
          <a:lstStyle/>
          <a:p>
            <a:r>
              <a:rPr lang="en-GB" noProof="0" dirty="0" err="1"/>
              <a:t>EntityManager</a:t>
            </a:r>
            <a:r>
              <a:rPr lang="en-GB" noProof="0" dirty="0"/>
              <a:t> handling</a:t>
            </a:r>
          </a:p>
        </p:txBody>
      </p:sp>
      <p:sp>
        <p:nvSpPr>
          <p:cNvPr id="4" name="Rettangolo 3">
            <a:extLst>
              <a:ext uri="{FF2B5EF4-FFF2-40B4-BE49-F238E27FC236}">
                <a16:creationId xmlns:a16="http://schemas.microsoft.com/office/drawing/2014/main" id="{065E7DBC-6335-EED8-AB3C-B15BA63DB9B9}"/>
              </a:ext>
            </a:extLst>
          </p:cNvPr>
          <p:cNvSpPr/>
          <p:nvPr/>
        </p:nvSpPr>
        <p:spPr bwMode="auto">
          <a:xfrm>
            <a:off x="395535" y="1196752"/>
            <a:ext cx="8440489" cy="496855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323122E0-EC20-8427-2AC4-CC4B0BC1EDA2}"/>
              </a:ext>
            </a:extLst>
          </p:cNvPr>
          <p:cNvSpPr>
            <a:spLocks noGrp="1"/>
          </p:cNvSpPr>
          <p:nvPr>
            <p:ph idx="1"/>
          </p:nvPr>
        </p:nvSpPr>
        <p:spPr>
          <a:xfrm>
            <a:off x="539552" y="1268760"/>
            <a:ext cx="8424936" cy="5040560"/>
          </a:xfrm>
        </p:spPr>
        <p:txBody>
          <a:bodyPr>
            <a:normAutofit fontScale="62500" lnSpcReduction="20000"/>
          </a:bodyPr>
          <a:lstStyle/>
          <a:p>
            <a:pPr marL="0" indent="0">
              <a:buNone/>
            </a:pPr>
            <a:r>
              <a:rPr lang="en-GB" b="1" noProof="0" dirty="0">
                <a:latin typeface="Courier New" panose="02070309020205020404" pitchFamily="49" charset="0"/>
                <a:cs typeface="Courier New" panose="02070309020205020404" pitchFamily="49" charset="0"/>
              </a:rPr>
              <a:t>public class </a:t>
            </a:r>
            <a:r>
              <a:rPr lang="en-GB" b="1" noProof="0" dirty="0" err="1">
                <a:solidFill>
                  <a:srgbClr val="FF772E"/>
                </a:solidFill>
                <a:latin typeface="Courier New" panose="02070309020205020404" pitchFamily="49" charset="0"/>
                <a:cs typeface="Courier New" panose="02070309020205020404" pitchFamily="49" charset="0"/>
              </a:rPr>
              <a:t>JPAUtil</a:t>
            </a: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private static final </a:t>
            </a:r>
            <a:r>
              <a:rPr lang="en-GB" b="1" noProof="0" dirty="0" err="1">
                <a:latin typeface="Courier New" panose="02070309020205020404" pitchFamily="49" charset="0"/>
                <a:cs typeface="Courier New" panose="02070309020205020404" pitchFamily="49" charset="0"/>
              </a:rPr>
              <a:t>EntityManagerFactory</a:t>
            </a:r>
            <a:r>
              <a:rPr lang="en-GB" b="1" noProof="0" dirty="0">
                <a:latin typeface="Courier New" panose="02070309020205020404" pitchFamily="49" charset="0"/>
                <a:cs typeface="Courier New" panose="02070309020205020404" pitchFamily="49" charset="0"/>
              </a:rPr>
              <a:t> emf = </a:t>
            </a:r>
          </a:p>
          <a:p>
            <a:pPr marL="0" indent="0">
              <a:buNone/>
            </a:pPr>
            <a:r>
              <a:rPr lang="en-GB" b="1" noProof="0" dirty="0">
                <a:latin typeface="Courier New" panose="02070309020205020404" pitchFamily="49" charset="0"/>
                <a:cs typeface="Courier New" panose="02070309020205020404" pitchFamily="49" charset="0"/>
              </a:rPr>
              <a:t>  </a:t>
            </a:r>
            <a:r>
              <a:rPr lang="en-GB" b="1" noProof="0" dirty="0" err="1">
                <a:latin typeface="Courier New" panose="02070309020205020404" pitchFamily="49" charset="0"/>
                <a:cs typeface="Courier New" panose="02070309020205020404" pitchFamily="49" charset="0"/>
              </a:rPr>
              <a:t>Persistence.createEntityManagerFactory</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flightPU</a:t>
            </a:r>
            <a:r>
              <a:rPr lang="en-GB" b="1" noProof="0" dirty="0">
                <a:latin typeface="Courier New" panose="02070309020205020404" pitchFamily="49" charset="0"/>
                <a:cs typeface="Courier New" panose="02070309020205020404" pitchFamily="49" charset="0"/>
              </a:rPr>
              <a:t>");</a:t>
            </a:r>
          </a:p>
          <a:p>
            <a:pPr marL="0" indent="0">
              <a:buNone/>
            </a:pPr>
            <a:endParaRPr lang="en-GB" b="1" noProof="0" dirty="0">
              <a:latin typeface="Courier New" panose="02070309020205020404" pitchFamily="49" charset="0"/>
              <a:cs typeface="Courier New" panose="02070309020205020404" pitchFamily="49" charset="0"/>
            </a:endParaRPr>
          </a:p>
          <a:p>
            <a:pPr marL="0" indent="0">
              <a:buNone/>
            </a:pPr>
            <a:r>
              <a:rPr lang="en-GB" b="1" noProof="0" dirty="0">
                <a:latin typeface="Courier New" panose="02070309020205020404" pitchFamily="49" charset="0"/>
                <a:cs typeface="Courier New" panose="02070309020205020404" pitchFamily="49" charset="0"/>
              </a:rPr>
              <a:t>  public static </a:t>
            </a:r>
            <a:r>
              <a:rPr lang="en-GB" b="1" noProof="0" dirty="0" err="1">
                <a:latin typeface="Courier New" panose="02070309020205020404" pitchFamily="49" charset="0"/>
                <a:cs typeface="Courier New" panose="02070309020205020404" pitchFamily="49" charset="0"/>
              </a:rPr>
              <a:t>EntityManager</a:t>
            </a:r>
            <a:r>
              <a:rPr lang="en-GB" b="1" noProof="0" dirty="0">
                <a:latin typeface="Courier New" panose="02070309020205020404" pitchFamily="49" charset="0"/>
                <a:cs typeface="Courier New" panose="02070309020205020404" pitchFamily="49" charset="0"/>
              </a:rPr>
              <a:t> </a:t>
            </a:r>
            <a:r>
              <a:rPr lang="en-GB" b="1" noProof="0" dirty="0" err="1">
                <a:solidFill>
                  <a:schemeClr val="accent6">
                    <a:lumMod val="75000"/>
                  </a:schemeClr>
                </a:solidFill>
                <a:latin typeface="Courier New" panose="02070309020205020404" pitchFamily="49" charset="0"/>
                <a:cs typeface="Courier New" panose="02070309020205020404" pitchFamily="49" charset="0"/>
              </a:rPr>
              <a:t>getEntityManager</a:t>
            </a: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return </a:t>
            </a:r>
            <a:r>
              <a:rPr lang="en-GB" b="1" noProof="0" dirty="0" err="1">
                <a:latin typeface="Courier New" panose="02070309020205020404" pitchFamily="49" charset="0"/>
                <a:cs typeface="Courier New" panose="02070309020205020404" pitchFamily="49" charset="0"/>
              </a:rPr>
              <a:t>emf.createEntityManager</a:t>
            </a:r>
            <a:r>
              <a:rPr lang="en-GB" b="1" noProof="0" dirty="0">
                <a:latin typeface="Courier New" panose="02070309020205020404" pitchFamily="49" charset="0"/>
                <a:cs typeface="Courier New" panose="02070309020205020404" pitchFamily="49" charset="0"/>
              </a:rPr>
              <a:t>();</a:t>
            </a:r>
          </a:p>
          <a:p>
            <a:pPr marL="0" indent="0">
              <a:buNone/>
            </a:pP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public static void </a:t>
            </a:r>
            <a:r>
              <a:rPr lang="en-GB" b="1" noProof="0" dirty="0">
                <a:solidFill>
                  <a:schemeClr val="accent6">
                    <a:lumMod val="75000"/>
                  </a:schemeClr>
                </a:solidFill>
                <a:latin typeface="Courier New" panose="02070309020205020404" pitchFamily="49" charset="0"/>
                <a:cs typeface="Courier New" panose="02070309020205020404" pitchFamily="49" charset="0"/>
              </a:rPr>
              <a:t>close</a:t>
            </a: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if(</a:t>
            </a:r>
            <a:r>
              <a:rPr lang="en-GB" b="1" noProof="0" dirty="0" err="1">
                <a:latin typeface="Courier New" panose="02070309020205020404" pitchFamily="49" charset="0"/>
                <a:cs typeface="Courier New" panose="02070309020205020404" pitchFamily="49" charset="0"/>
              </a:rPr>
              <a:t>emf.isOpen</a:t>
            </a: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a:t>
            </a:r>
            <a:r>
              <a:rPr lang="en-GB" b="1" noProof="0" dirty="0" err="1">
                <a:latin typeface="Courier New" panose="02070309020205020404" pitchFamily="49" charset="0"/>
                <a:cs typeface="Courier New" panose="02070309020205020404" pitchFamily="49" charset="0"/>
              </a:rPr>
              <a:t>emf.close</a:t>
            </a:r>
            <a:r>
              <a:rPr lang="en-GB" b="1" noProof="0" dirty="0">
                <a:latin typeface="Courier New" panose="02070309020205020404" pitchFamily="49" charset="0"/>
                <a:cs typeface="Courier New" panose="02070309020205020404" pitchFamily="49" charset="0"/>
              </a:rPr>
              <a:t>();</a:t>
            </a:r>
          </a:p>
          <a:p>
            <a:pPr marL="0" indent="0">
              <a:buNone/>
            </a:pP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7901317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1447C-D321-393F-0508-8F347ED91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A29A4-6C6A-F0C5-F7AD-BDB6A02DB661}"/>
              </a:ext>
            </a:extLst>
          </p:cNvPr>
          <p:cNvSpPr>
            <a:spLocks noGrp="1"/>
          </p:cNvSpPr>
          <p:nvPr>
            <p:ph type="title"/>
          </p:nvPr>
        </p:nvSpPr>
        <p:spPr/>
        <p:txBody>
          <a:bodyPr/>
          <a:lstStyle/>
          <a:p>
            <a:r>
              <a:rPr lang="en-GB" noProof="0" dirty="0"/>
              <a:t>Entity definition</a:t>
            </a:r>
          </a:p>
        </p:txBody>
      </p:sp>
      <p:sp>
        <p:nvSpPr>
          <p:cNvPr id="3" name="Content Placeholder 2">
            <a:extLst>
              <a:ext uri="{FF2B5EF4-FFF2-40B4-BE49-F238E27FC236}">
                <a16:creationId xmlns:a16="http://schemas.microsoft.com/office/drawing/2014/main" id="{E9D42C5C-C981-3E71-059C-A9022F3F7E2C}"/>
              </a:ext>
            </a:extLst>
          </p:cNvPr>
          <p:cNvSpPr>
            <a:spLocks noGrp="1"/>
          </p:cNvSpPr>
          <p:nvPr>
            <p:ph idx="1"/>
          </p:nvPr>
        </p:nvSpPr>
        <p:spPr>
          <a:xfrm>
            <a:off x="539552" y="1268760"/>
            <a:ext cx="8424936" cy="5040560"/>
          </a:xfrm>
        </p:spPr>
        <p:txBody>
          <a:bodyPr>
            <a:normAutofit/>
          </a:bodyPr>
          <a:lstStyle/>
          <a:p>
            <a:r>
              <a:rPr lang="en-GB" noProof="0" dirty="0"/>
              <a:t>Entities will be defined using JPA annotations, implemented by Hibernate</a:t>
            </a:r>
          </a:p>
          <a:p>
            <a:pPr lvl="1"/>
            <a:r>
              <a:rPr lang="en-GB" noProof="0" dirty="0"/>
              <a:t>Persistence: how Java objects and their attributes are mapped to database tables and columns</a:t>
            </a:r>
          </a:p>
          <a:p>
            <a:pPr lvl="1"/>
            <a:r>
              <a:rPr lang="en-GB" noProof="0" dirty="0"/>
              <a:t>Inheritance: how Java objects extends each other and how these inheritances are reflected on the database structure</a:t>
            </a:r>
          </a:p>
          <a:p>
            <a:pPr lvl="1"/>
            <a:r>
              <a:rPr lang="en-GB" noProof="0" dirty="0"/>
              <a:t>Relationships: how Java objects are related and database data are linked across tables</a:t>
            </a:r>
          </a:p>
          <a:p>
            <a:pPr lvl="1"/>
            <a:endParaRPr lang="en-GB" noProof="0" dirty="0"/>
          </a:p>
          <a:p>
            <a:pPr lvl="1"/>
            <a:endParaRPr lang="en-GB" noProof="0" dirty="0"/>
          </a:p>
          <a:p>
            <a:endParaRPr lang="en-GB" noProof="0" dirty="0"/>
          </a:p>
        </p:txBody>
      </p:sp>
    </p:spTree>
    <p:extLst>
      <p:ext uri="{BB962C8B-B14F-4D97-AF65-F5344CB8AC3E}">
        <p14:creationId xmlns:p14="http://schemas.microsoft.com/office/powerpoint/2010/main" val="427612927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AFDE-12A5-63E1-D625-D58D4D3E2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F0FF1-3F86-B5C6-2FAC-DF49C0D917F1}"/>
              </a:ext>
            </a:extLst>
          </p:cNvPr>
          <p:cNvSpPr>
            <a:spLocks noGrp="1"/>
          </p:cNvSpPr>
          <p:nvPr>
            <p:ph type="title"/>
          </p:nvPr>
        </p:nvSpPr>
        <p:spPr/>
        <p:txBody>
          <a:bodyPr/>
          <a:lstStyle/>
          <a:p>
            <a:r>
              <a:rPr lang="en-GB" noProof="0" dirty="0"/>
              <a:t>Entity definition</a:t>
            </a:r>
          </a:p>
        </p:txBody>
      </p:sp>
      <p:sp>
        <p:nvSpPr>
          <p:cNvPr id="4" name="Rettangolo 3">
            <a:extLst>
              <a:ext uri="{FF2B5EF4-FFF2-40B4-BE49-F238E27FC236}">
                <a16:creationId xmlns:a16="http://schemas.microsoft.com/office/drawing/2014/main" id="{FEEB6266-7DBB-F6BF-4067-9FE164DA529F}"/>
              </a:ext>
            </a:extLst>
          </p:cNvPr>
          <p:cNvSpPr/>
          <p:nvPr/>
        </p:nvSpPr>
        <p:spPr bwMode="auto">
          <a:xfrm>
            <a:off x="395536" y="1196752"/>
            <a:ext cx="8568952" cy="5184576"/>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AEB2D32D-7009-0DDA-BFB8-5F3948D0B513}"/>
              </a:ext>
            </a:extLst>
          </p:cNvPr>
          <p:cNvSpPr>
            <a:spLocks noGrp="1"/>
          </p:cNvSpPr>
          <p:nvPr>
            <p:ph idx="1"/>
          </p:nvPr>
        </p:nvSpPr>
        <p:spPr>
          <a:xfrm>
            <a:off x="539552" y="1196752"/>
            <a:ext cx="8424936" cy="5256584"/>
          </a:xfrm>
        </p:spPr>
        <p:txBody>
          <a:bodyPr>
            <a:normAutofit fontScale="62500" lnSpcReduction="20000"/>
          </a:bodyPr>
          <a:lstStyle/>
          <a:p>
            <a:pPr marL="0" indent="0">
              <a:buNone/>
            </a:pPr>
            <a:r>
              <a:rPr lang="en-GB" b="1" noProof="0" dirty="0">
                <a:solidFill>
                  <a:srgbClr val="FF772E"/>
                </a:solidFill>
                <a:latin typeface="Courier New" panose="02070309020205020404" pitchFamily="49" charset="0"/>
                <a:cs typeface="Courier New" panose="02070309020205020404" pitchFamily="49" charset="0"/>
              </a:rPr>
              <a:t>@Entity	@Table(name = "airplanes")</a:t>
            </a:r>
          </a:p>
          <a:p>
            <a:pPr marL="0" indent="0">
              <a:buNone/>
            </a:pPr>
            <a:r>
              <a:rPr lang="en-GB" b="1" noProof="0" dirty="0">
                <a:latin typeface="Courier New" panose="02070309020205020404" pitchFamily="49" charset="0"/>
                <a:cs typeface="Courier New" panose="02070309020205020404" pitchFamily="49" charset="0"/>
              </a:rPr>
              <a:t>public class Airplane {</a:t>
            </a:r>
          </a:p>
          <a:p>
            <a:pPr marL="0" indent="0">
              <a:buNone/>
            </a:pPr>
            <a:r>
              <a:rPr lang="en-GB" b="1" noProof="0" dirty="0">
                <a:latin typeface="Courier New" panose="02070309020205020404" pitchFamily="49" charset="0"/>
                <a:cs typeface="Courier New" panose="02070309020205020404" pitchFamily="49" charset="0"/>
              </a:rPr>
              <a:t>    </a:t>
            </a:r>
            <a:r>
              <a:rPr lang="en-GB" b="1" noProof="0" dirty="0">
                <a:solidFill>
                  <a:srgbClr val="FF772E"/>
                </a:solidFill>
                <a:latin typeface="Courier New" panose="02070309020205020404" pitchFamily="49" charset="0"/>
                <a:cs typeface="Courier New" panose="02070309020205020404" pitchFamily="49" charset="0"/>
              </a:rPr>
              <a:t>@Id	@</a:t>
            </a:r>
            <a:r>
              <a:rPr lang="en-GB" b="1" noProof="0" dirty="0" err="1">
                <a:solidFill>
                  <a:srgbClr val="FF772E"/>
                </a:solidFill>
                <a:latin typeface="Courier New" panose="02070309020205020404" pitchFamily="49" charset="0"/>
                <a:cs typeface="Courier New" panose="02070309020205020404" pitchFamily="49" charset="0"/>
              </a:rPr>
              <a:t>GeneratedValue</a:t>
            </a:r>
            <a:r>
              <a:rPr lang="en-GB" b="1" noProof="0" dirty="0">
                <a:solidFill>
                  <a:srgbClr val="FF772E"/>
                </a:solidFill>
                <a:latin typeface="Courier New" panose="02070309020205020404" pitchFamily="49" charset="0"/>
                <a:cs typeface="Courier New" panose="02070309020205020404" pitchFamily="49" charset="0"/>
              </a:rPr>
              <a:t>(strategy = </a:t>
            </a:r>
          </a:p>
          <a:p>
            <a:pPr marL="0" indent="0">
              <a:buNone/>
            </a:pPr>
            <a:r>
              <a:rPr lang="en-GB" b="1" noProof="0" dirty="0">
                <a:solidFill>
                  <a:srgbClr val="FF772E"/>
                </a:solidFill>
                <a:latin typeface="Courier New" panose="02070309020205020404" pitchFamily="49" charset="0"/>
                <a:cs typeface="Courier New" panose="02070309020205020404" pitchFamily="49" charset="0"/>
              </a:rPr>
              <a:t>								 </a:t>
            </a:r>
            <a:r>
              <a:rPr lang="en-GB" b="1" noProof="0" dirty="0" err="1">
                <a:solidFill>
                  <a:srgbClr val="FF772E"/>
                </a:solidFill>
                <a:latin typeface="Courier New" panose="02070309020205020404" pitchFamily="49" charset="0"/>
                <a:cs typeface="Courier New" panose="02070309020205020404" pitchFamily="49" charset="0"/>
              </a:rPr>
              <a:t>GenerationType.IDENTITY</a:t>
            </a:r>
            <a:r>
              <a:rPr lang="en-GB" b="1" noProof="0" dirty="0">
                <a:solidFill>
                  <a:srgbClr val="FF772E"/>
                </a:solidFill>
                <a:latin typeface="Courier New" panose="02070309020205020404" pitchFamily="49" charset="0"/>
                <a:cs typeface="Courier New" panose="02070309020205020404" pitchFamily="49" charset="0"/>
              </a:rPr>
              <a:t>)</a:t>
            </a:r>
          </a:p>
          <a:p>
            <a:pPr marL="0" indent="0">
              <a:buNone/>
            </a:pPr>
            <a:r>
              <a:rPr lang="en-GB" b="1" noProof="0" dirty="0">
                <a:latin typeface="Courier New" panose="02070309020205020404" pitchFamily="49" charset="0"/>
                <a:cs typeface="Courier New" panose="02070309020205020404" pitchFamily="49" charset="0"/>
              </a:rPr>
              <a:t>    private Long id;</a:t>
            </a:r>
          </a:p>
          <a:p>
            <a:pPr marL="0" indent="0">
              <a:buNone/>
            </a:pPr>
            <a:r>
              <a:rPr lang="en-GB" b="1" noProof="0" dirty="0">
                <a:latin typeface="Courier New" panose="02070309020205020404" pitchFamily="49" charset="0"/>
                <a:cs typeface="Courier New" panose="02070309020205020404" pitchFamily="49" charset="0"/>
              </a:rPr>
              <a:t>    </a:t>
            </a:r>
            <a:r>
              <a:rPr lang="en-GB" b="1" noProof="0" dirty="0">
                <a:solidFill>
                  <a:srgbClr val="FF772E"/>
                </a:solidFill>
                <a:latin typeface="Courier New" panose="02070309020205020404" pitchFamily="49" charset="0"/>
                <a:cs typeface="Courier New" panose="02070309020205020404" pitchFamily="49" charset="0"/>
              </a:rPr>
              <a:t>@Column(nullable = false)</a:t>
            </a:r>
          </a:p>
          <a:p>
            <a:pPr marL="0" indent="0">
              <a:buNone/>
            </a:pPr>
            <a:r>
              <a:rPr lang="en-GB" b="1" noProof="0" dirty="0">
                <a:latin typeface="Courier New" panose="02070309020205020404" pitchFamily="49" charset="0"/>
                <a:cs typeface="Courier New" panose="02070309020205020404" pitchFamily="49" charset="0"/>
              </a:rPr>
              <a:t>    private String model;</a:t>
            </a:r>
          </a:p>
          <a:p>
            <a:pPr marL="0" indent="0">
              <a:buNone/>
            </a:pPr>
            <a:r>
              <a:rPr lang="en-GB" b="1" noProof="0" dirty="0">
                <a:latin typeface="Courier New" panose="02070309020205020404" pitchFamily="49" charset="0"/>
                <a:cs typeface="Courier New" panose="02070309020205020404" pitchFamily="49" charset="0"/>
              </a:rPr>
              <a:t>    </a:t>
            </a:r>
            <a:r>
              <a:rPr lang="en-GB" b="1" noProof="0" dirty="0">
                <a:solidFill>
                  <a:srgbClr val="FF772E"/>
                </a:solidFill>
                <a:latin typeface="Courier New" panose="02070309020205020404" pitchFamily="49" charset="0"/>
                <a:cs typeface="Courier New" panose="02070309020205020404" pitchFamily="49" charset="0"/>
              </a:rPr>
              <a:t>@Column(nullable = false)</a:t>
            </a:r>
          </a:p>
          <a:p>
            <a:pPr marL="0" indent="0">
              <a:buNone/>
            </a:pPr>
            <a:r>
              <a:rPr lang="en-GB" b="1" noProof="0" dirty="0">
                <a:latin typeface="Courier New" panose="02070309020205020404" pitchFamily="49" charset="0"/>
                <a:cs typeface="Courier New" panose="02070309020205020404" pitchFamily="49" charset="0"/>
              </a:rPr>
              <a:t>    private String airline;</a:t>
            </a:r>
          </a:p>
          <a:p>
            <a:pPr marL="0" indent="0">
              <a:buNone/>
            </a:pPr>
            <a:endParaRPr lang="en-GB" b="1" noProof="0" dirty="0">
              <a:latin typeface="Courier New" panose="02070309020205020404" pitchFamily="49" charset="0"/>
              <a:cs typeface="Courier New" panose="02070309020205020404" pitchFamily="49" charset="0"/>
            </a:endParaRPr>
          </a:p>
          <a:p>
            <a:pPr marL="0" indent="0">
              <a:buNone/>
            </a:pPr>
            <a:r>
              <a:rPr lang="en-GB" b="1" noProof="0" dirty="0">
                <a:latin typeface="Courier New" panose="02070309020205020404" pitchFamily="49" charset="0"/>
                <a:cs typeface="Courier New" panose="02070309020205020404" pitchFamily="49" charset="0"/>
              </a:rPr>
              <a:t>    private int capacity;</a:t>
            </a:r>
          </a:p>
          <a:p>
            <a:pPr marL="0" indent="0">
              <a:buNone/>
            </a:pPr>
            <a:r>
              <a:rPr lang="en-GB" b="1" noProof="0" dirty="0">
                <a:latin typeface="Courier New" panose="02070309020205020404" pitchFamily="49" charset="0"/>
                <a:cs typeface="Courier New" panose="02070309020205020404" pitchFamily="49" charset="0"/>
              </a:rPr>
              <a:t>    </a:t>
            </a:r>
            <a:r>
              <a:rPr lang="en-GB" b="1" noProof="0" dirty="0">
                <a:solidFill>
                  <a:srgbClr val="FF772E"/>
                </a:solidFill>
                <a:latin typeface="Courier New" panose="02070309020205020404" pitchFamily="49" charset="0"/>
                <a:cs typeface="Courier New" panose="02070309020205020404" pitchFamily="49" charset="0"/>
              </a:rPr>
              <a:t>@Enumerated(</a:t>
            </a:r>
            <a:r>
              <a:rPr lang="en-GB" b="1" noProof="0" dirty="0" err="1">
                <a:solidFill>
                  <a:srgbClr val="FF772E"/>
                </a:solidFill>
                <a:latin typeface="Courier New" panose="02070309020205020404" pitchFamily="49" charset="0"/>
                <a:cs typeface="Courier New" panose="02070309020205020404" pitchFamily="49" charset="0"/>
              </a:rPr>
              <a:t>EnumType.STRING</a:t>
            </a:r>
            <a:r>
              <a:rPr lang="en-GB" b="1" noProof="0" dirty="0">
                <a:solidFill>
                  <a:srgbClr val="FF772E"/>
                </a:solidFill>
                <a:latin typeface="Courier New" panose="02070309020205020404" pitchFamily="49" charset="0"/>
                <a:cs typeface="Courier New" panose="02070309020205020404" pitchFamily="49" charset="0"/>
              </a:rPr>
              <a:t>)</a:t>
            </a:r>
          </a:p>
          <a:p>
            <a:pPr marL="0" indent="0">
              <a:buNone/>
            </a:pPr>
            <a:r>
              <a:rPr lang="en-GB" b="1" noProof="0" dirty="0">
                <a:solidFill>
                  <a:srgbClr val="FF772E"/>
                </a:solidFill>
                <a:latin typeface="Courier New" panose="02070309020205020404" pitchFamily="49" charset="0"/>
                <a:cs typeface="Courier New" panose="02070309020205020404" pitchFamily="49" charset="0"/>
              </a:rPr>
              <a:t>    @Column(nullable = false)</a:t>
            </a:r>
          </a:p>
          <a:p>
            <a:pPr marL="0" indent="0">
              <a:buNone/>
            </a:pPr>
            <a:r>
              <a:rPr lang="en-GB" b="1" noProof="0" dirty="0">
                <a:latin typeface="Courier New" panose="02070309020205020404" pitchFamily="49" charset="0"/>
                <a:cs typeface="Courier New" panose="02070309020205020404" pitchFamily="49" charset="0"/>
              </a:rPr>
              <a:t>    private </a:t>
            </a:r>
            <a:r>
              <a:rPr lang="en-GB" b="1" noProof="0" dirty="0" err="1">
                <a:latin typeface="Courier New" panose="02070309020205020404" pitchFamily="49" charset="0"/>
                <a:cs typeface="Courier New" panose="02070309020205020404" pitchFamily="49" charset="0"/>
              </a:rPr>
              <a:t>AirplaneStatus</a:t>
            </a:r>
            <a:r>
              <a:rPr lang="en-GB" b="1" noProof="0" dirty="0">
                <a:latin typeface="Courier New" panose="02070309020205020404" pitchFamily="49" charset="0"/>
                <a:cs typeface="Courier New" panose="02070309020205020404" pitchFamily="49" charset="0"/>
              </a:rPr>
              <a:t> status;    </a:t>
            </a:r>
          </a:p>
          <a:p>
            <a:pPr marL="0" indent="0">
              <a:buNone/>
            </a:pPr>
            <a:r>
              <a:rPr lang="en-GB" b="1" noProof="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449023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A27D69-ADA2-92CB-CC53-60D79BA49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C61D2-21E9-468F-2FF9-32B8A758EC6F}"/>
              </a:ext>
            </a:extLst>
          </p:cNvPr>
          <p:cNvSpPr>
            <a:spLocks noGrp="1"/>
          </p:cNvSpPr>
          <p:nvPr>
            <p:ph type="title"/>
          </p:nvPr>
        </p:nvSpPr>
        <p:spPr/>
        <p:txBody>
          <a:bodyPr/>
          <a:lstStyle/>
          <a:p>
            <a:r>
              <a:rPr lang="en-GB" noProof="0" dirty="0"/>
              <a:t>Entity inheritance</a:t>
            </a:r>
          </a:p>
        </p:txBody>
      </p:sp>
      <p:sp>
        <p:nvSpPr>
          <p:cNvPr id="3" name="Content Placeholder 2">
            <a:extLst>
              <a:ext uri="{FF2B5EF4-FFF2-40B4-BE49-F238E27FC236}">
                <a16:creationId xmlns:a16="http://schemas.microsoft.com/office/drawing/2014/main" id="{EB19B59B-B7C5-0378-B4D0-F6BBF69C102B}"/>
              </a:ext>
            </a:extLst>
          </p:cNvPr>
          <p:cNvSpPr>
            <a:spLocks noGrp="1"/>
          </p:cNvSpPr>
          <p:nvPr>
            <p:ph idx="1"/>
          </p:nvPr>
        </p:nvSpPr>
        <p:spPr>
          <a:xfrm>
            <a:off x="539552" y="1268760"/>
            <a:ext cx="8424936" cy="5040560"/>
          </a:xfrm>
        </p:spPr>
        <p:txBody>
          <a:bodyPr>
            <a:normAutofit fontScale="85000" lnSpcReduction="20000"/>
          </a:bodyPr>
          <a:lstStyle/>
          <a:p>
            <a:r>
              <a:rPr lang="en-GB" noProof="0" dirty="0"/>
              <a:t>Hibernate supports different inheritance strategies to balance performance, storage efficiency, and querying complexity</a:t>
            </a:r>
          </a:p>
          <a:p>
            <a:r>
              <a:rPr lang="en-GB" noProof="0" dirty="0"/>
              <a:t>The JOINED strategy stores common attributes in a parent table while creating separate tables for each subclass</a:t>
            </a:r>
          </a:p>
          <a:p>
            <a:pPr lvl="1"/>
            <a:r>
              <a:rPr lang="en-GB" noProof="0" dirty="0"/>
              <a:t>No unnecessary NULL columns, parent table contains shared attributes, child tables only contain subclass specific attributes</a:t>
            </a:r>
          </a:p>
          <a:p>
            <a:pPr lvl="1"/>
            <a:r>
              <a:rPr lang="en-GB" noProof="0" dirty="0"/>
              <a:t>The child entities do not define their own primary key, the ID from the superclass is reused as the primary key in each subclass</a:t>
            </a:r>
          </a:p>
          <a:p>
            <a:pPr lvl="1"/>
            <a:r>
              <a:rPr lang="en-GB" noProof="0" dirty="0"/>
              <a:t>Hibernate retrieves both common attributes and subclass-specific attributes via an automatic JOIN</a:t>
            </a:r>
          </a:p>
        </p:txBody>
      </p:sp>
    </p:spTree>
    <p:extLst>
      <p:ext uri="{BB962C8B-B14F-4D97-AF65-F5344CB8AC3E}">
        <p14:creationId xmlns:p14="http://schemas.microsoft.com/office/powerpoint/2010/main" val="333993271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0FFEE6-13A1-CD42-1001-0F0120C82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7905A-246A-2159-18F7-B64A034098B3}"/>
              </a:ext>
            </a:extLst>
          </p:cNvPr>
          <p:cNvSpPr>
            <a:spLocks noGrp="1"/>
          </p:cNvSpPr>
          <p:nvPr>
            <p:ph type="title"/>
          </p:nvPr>
        </p:nvSpPr>
        <p:spPr/>
        <p:txBody>
          <a:bodyPr/>
          <a:lstStyle/>
          <a:p>
            <a:r>
              <a:rPr lang="en-GB" noProof="0" dirty="0"/>
              <a:t>Entity inheritance</a:t>
            </a:r>
          </a:p>
        </p:txBody>
      </p:sp>
      <p:sp>
        <p:nvSpPr>
          <p:cNvPr id="5" name="Rettangolo 4">
            <a:extLst>
              <a:ext uri="{FF2B5EF4-FFF2-40B4-BE49-F238E27FC236}">
                <a16:creationId xmlns:a16="http://schemas.microsoft.com/office/drawing/2014/main" id="{9250F0C3-AA3B-CD86-D1D6-359AFDCEB1E7}"/>
              </a:ext>
            </a:extLst>
          </p:cNvPr>
          <p:cNvSpPr/>
          <p:nvPr/>
        </p:nvSpPr>
        <p:spPr bwMode="auto">
          <a:xfrm>
            <a:off x="251520" y="1124744"/>
            <a:ext cx="4392488" cy="532859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8E3F7ECD-0927-2802-18D0-026EA807DF5C}"/>
              </a:ext>
            </a:extLst>
          </p:cNvPr>
          <p:cNvSpPr>
            <a:spLocks noGrp="1"/>
          </p:cNvSpPr>
          <p:nvPr>
            <p:ph idx="1"/>
          </p:nvPr>
        </p:nvSpPr>
        <p:spPr>
          <a:xfrm>
            <a:off x="251520" y="1124744"/>
            <a:ext cx="4392488" cy="5472608"/>
          </a:xfrm>
        </p:spPr>
        <p:txBody>
          <a:bodyPr>
            <a:normAutofit fontScale="92500" lnSpcReduction="10000"/>
          </a:bodyPr>
          <a:lstStyle/>
          <a:p>
            <a:pPr marL="0" indent="0">
              <a:spcBef>
                <a:spcPts val="200"/>
              </a:spcBef>
              <a:buNone/>
            </a:pPr>
            <a:r>
              <a:rPr lang="en-GB" sz="1400" b="1" noProof="0" dirty="0">
                <a:latin typeface="Courier New" panose="02070309020205020404" pitchFamily="49" charset="0"/>
                <a:cs typeface="Courier New" panose="02070309020205020404" pitchFamily="49" charset="0"/>
              </a:rPr>
              <a:t>@Entity</a:t>
            </a:r>
          </a:p>
          <a:p>
            <a:pPr marL="0" indent="0">
              <a:spcBef>
                <a:spcPts val="200"/>
              </a:spcBef>
              <a:buNone/>
            </a:pPr>
            <a:r>
              <a:rPr lang="en-GB" sz="1400" b="1" noProof="0" dirty="0">
                <a:solidFill>
                  <a:schemeClr val="accent6">
                    <a:lumMod val="75000"/>
                  </a:schemeClr>
                </a:solidFill>
                <a:latin typeface="Courier New" panose="02070309020205020404" pitchFamily="49" charset="0"/>
                <a:cs typeface="Courier New" panose="02070309020205020404" pitchFamily="49" charset="0"/>
              </a:rPr>
              <a:t>@Inheritance(strategy = </a:t>
            </a:r>
            <a:r>
              <a:rPr lang="en-GB" sz="1400" b="1" noProof="0" dirty="0" err="1">
                <a:solidFill>
                  <a:schemeClr val="accent6">
                    <a:lumMod val="75000"/>
                  </a:schemeClr>
                </a:solidFill>
                <a:latin typeface="Courier New" panose="02070309020205020404" pitchFamily="49" charset="0"/>
                <a:cs typeface="Courier New" panose="02070309020205020404" pitchFamily="49" charset="0"/>
              </a:rPr>
              <a:t>InheritanceType.JOINED</a:t>
            </a:r>
            <a:r>
              <a:rPr lang="en-GB" sz="1400" b="1" noProof="0" dirty="0">
                <a:solidFill>
                  <a:schemeClr val="accent6">
                    <a:lumMod val="75000"/>
                  </a:schemeClr>
                </a:solidFill>
                <a:latin typeface="Courier New" panose="02070309020205020404" pitchFamily="49" charset="0"/>
                <a:cs typeface="Courier New" panose="02070309020205020404" pitchFamily="49" charset="0"/>
              </a:rPr>
              <a:t>)</a:t>
            </a:r>
          </a:p>
          <a:p>
            <a:pPr marL="0" indent="0">
              <a:spcBef>
                <a:spcPts val="200"/>
              </a:spcBef>
              <a:buNone/>
            </a:pPr>
            <a:r>
              <a:rPr lang="en-GB" sz="1400" b="1" noProof="0" dirty="0">
                <a:latin typeface="Courier New" panose="02070309020205020404" pitchFamily="49" charset="0"/>
                <a:cs typeface="Courier New" panose="02070309020205020404" pitchFamily="49" charset="0"/>
              </a:rPr>
              <a:t>@Table(name = "people")</a:t>
            </a:r>
          </a:p>
          <a:p>
            <a:pPr marL="0" indent="0">
              <a:spcBef>
                <a:spcPts val="200"/>
              </a:spcBef>
              <a:buNone/>
            </a:pPr>
            <a:r>
              <a:rPr lang="en-GB" sz="1400" b="1" noProof="0" dirty="0">
                <a:latin typeface="Courier New" panose="02070309020205020404" pitchFamily="49" charset="0"/>
                <a:cs typeface="Courier New" panose="02070309020205020404" pitchFamily="49" charset="0"/>
              </a:rPr>
              <a:t>public abstract class Person {</a:t>
            </a:r>
          </a:p>
          <a:p>
            <a:pPr marL="0" indent="0">
              <a:spcBef>
                <a:spcPts val="200"/>
              </a:spcBef>
              <a:buNone/>
            </a:pPr>
            <a:r>
              <a:rPr lang="en-GB" sz="1400" b="1" noProof="0" dirty="0">
                <a:latin typeface="Courier New" panose="02070309020205020404" pitchFamily="49" charset="0"/>
                <a:cs typeface="Courier New" panose="02070309020205020404" pitchFamily="49" charset="0"/>
              </a:rPr>
              <a:t>  @Id</a:t>
            </a:r>
          </a:p>
          <a:p>
            <a:pPr marL="0" indent="0">
              <a:spcBef>
                <a:spcPts val="200"/>
              </a:spcBef>
              <a:buNone/>
            </a:pPr>
            <a:r>
              <a:rPr lang="en-GB" sz="1400" b="1" noProof="0" dirty="0">
                <a:latin typeface="Courier New" panose="02070309020205020404" pitchFamily="49" charset="0"/>
                <a:cs typeface="Courier New" panose="02070309020205020404" pitchFamily="49" charset="0"/>
              </a:rPr>
              <a:t>  @</a:t>
            </a:r>
            <a:r>
              <a:rPr lang="en-GB" sz="1400" b="1" noProof="0" dirty="0" err="1">
                <a:latin typeface="Courier New" panose="02070309020205020404" pitchFamily="49" charset="0"/>
                <a:cs typeface="Courier New" panose="02070309020205020404" pitchFamily="49" charset="0"/>
              </a:rPr>
              <a:t>GeneratedValue</a:t>
            </a:r>
            <a:r>
              <a:rPr lang="en-GB" sz="1400" b="1" noProof="0" dirty="0">
                <a:latin typeface="Courier New" panose="02070309020205020404" pitchFamily="49" charset="0"/>
                <a:cs typeface="Courier New" panose="02070309020205020404" pitchFamily="49" charset="0"/>
              </a:rPr>
              <a:t>(strategy = </a:t>
            </a:r>
            <a:r>
              <a:rPr lang="en-GB" sz="1400" b="1" noProof="0" dirty="0" err="1">
                <a:latin typeface="Courier New" panose="02070309020205020404" pitchFamily="49" charset="0"/>
                <a:cs typeface="Courier New" panose="02070309020205020404" pitchFamily="49" charset="0"/>
              </a:rPr>
              <a:t>GenerationType.IDENTITY</a:t>
            </a:r>
            <a:r>
              <a:rPr lang="en-GB" sz="1400" b="1" noProof="0" dirty="0">
                <a:latin typeface="Courier New" panose="02070309020205020404" pitchFamily="49" charset="0"/>
                <a:cs typeface="Courier New" panose="02070309020205020404" pitchFamily="49" charset="0"/>
              </a:rPr>
              <a:t>)</a:t>
            </a:r>
          </a:p>
          <a:p>
            <a:pPr marL="0" indent="0">
              <a:spcBef>
                <a:spcPts val="200"/>
              </a:spcBef>
              <a:buNone/>
            </a:pPr>
            <a:r>
              <a:rPr lang="en-GB" sz="1400" b="1" noProof="0" dirty="0">
                <a:latin typeface="Courier New" panose="02070309020205020404" pitchFamily="49" charset="0"/>
                <a:cs typeface="Courier New" panose="02070309020205020404" pitchFamily="49" charset="0"/>
              </a:rPr>
              <a:t>  private Long id;</a:t>
            </a:r>
          </a:p>
          <a:p>
            <a:pPr marL="0" indent="0">
              <a:spcBef>
                <a:spcPts val="200"/>
              </a:spcBef>
              <a:buNone/>
            </a:pPr>
            <a:endParaRPr lang="en-GB" sz="1400" b="1" noProof="0" dirty="0">
              <a:latin typeface="Courier New" panose="02070309020205020404" pitchFamily="49" charset="0"/>
              <a:cs typeface="Courier New" panose="02070309020205020404" pitchFamily="49" charset="0"/>
            </a:endParaRPr>
          </a:p>
          <a:p>
            <a:pPr marL="0" indent="0">
              <a:spcBef>
                <a:spcPts val="200"/>
              </a:spcBef>
              <a:buNone/>
            </a:pPr>
            <a:r>
              <a:rPr lang="en-GB" sz="1400" b="1" noProof="0" dirty="0">
                <a:latin typeface="Courier New" panose="02070309020205020404" pitchFamily="49" charset="0"/>
                <a:cs typeface="Courier New" panose="02070309020205020404" pitchFamily="49" charset="0"/>
              </a:rPr>
              <a:t>  @Column(nullable = false)</a:t>
            </a:r>
          </a:p>
          <a:p>
            <a:pPr marL="0" indent="0">
              <a:spcBef>
                <a:spcPts val="200"/>
              </a:spcBef>
              <a:buNone/>
            </a:pPr>
            <a:r>
              <a:rPr lang="en-GB" sz="1400" b="1" noProof="0" dirty="0">
                <a:latin typeface="Courier New" panose="02070309020205020404" pitchFamily="49" charset="0"/>
                <a:cs typeface="Courier New" panose="02070309020205020404" pitchFamily="49" charset="0"/>
              </a:rPr>
              <a:t>  private String </a:t>
            </a:r>
            <a:r>
              <a:rPr lang="en-GB" sz="1400" b="1" noProof="0" dirty="0" err="1">
                <a:latin typeface="Courier New" panose="02070309020205020404" pitchFamily="49" charset="0"/>
                <a:cs typeface="Courier New" panose="02070309020205020404" pitchFamily="49" charset="0"/>
              </a:rPr>
              <a:t>firstName</a:t>
            </a:r>
            <a:r>
              <a:rPr lang="en-GB" sz="1400" b="1" noProof="0" dirty="0">
                <a:latin typeface="Courier New" panose="02070309020205020404" pitchFamily="49" charset="0"/>
                <a:cs typeface="Courier New" panose="02070309020205020404" pitchFamily="49" charset="0"/>
              </a:rPr>
              <a:t>;</a:t>
            </a:r>
          </a:p>
          <a:p>
            <a:pPr marL="0" indent="0">
              <a:spcBef>
                <a:spcPts val="200"/>
              </a:spcBef>
              <a:buNone/>
            </a:pPr>
            <a:endParaRPr lang="en-GB" sz="1400" b="1" noProof="0" dirty="0">
              <a:latin typeface="Courier New" panose="02070309020205020404" pitchFamily="49" charset="0"/>
              <a:cs typeface="Courier New" panose="02070309020205020404" pitchFamily="49" charset="0"/>
            </a:endParaRPr>
          </a:p>
          <a:p>
            <a:pPr marL="0" indent="0">
              <a:spcBef>
                <a:spcPts val="200"/>
              </a:spcBef>
              <a:buNone/>
            </a:pPr>
            <a:r>
              <a:rPr lang="en-GB" sz="1400" b="1" noProof="0" dirty="0">
                <a:latin typeface="Courier New" panose="02070309020205020404" pitchFamily="49" charset="0"/>
                <a:cs typeface="Courier New" panose="02070309020205020404" pitchFamily="49" charset="0"/>
              </a:rPr>
              <a:t>  @Column(nullable = false)</a:t>
            </a:r>
          </a:p>
          <a:p>
            <a:pPr marL="0" indent="0">
              <a:spcBef>
                <a:spcPts val="200"/>
              </a:spcBef>
              <a:buNone/>
            </a:pPr>
            <a:r>
              <a:rPr lang="en-GB" sz="1400" b="1" noProof="0" dirty="0">
                <a:latin typeface="Courier New" panose="02070309020205020404" pitchFamily="49" charset="0"/>
                <a:cs typeface="Courier New" panose="02070309020205020404" pitchFamily="49" charset="0"/>
              </a:rPr>
              <a:t>  private String </a:t>
            </a:r>
            <a:r>
              <a:rPr lang="en-GB" sz="1400" b="1" noProof="0" dirty="0" err="1">
                <a:latin typeface="Courier New" panose="02070309020205020404" pitchFamily="49" charset="0"/>
                <a:cs typeface="Courier New" panose="02070309020205020404" pitchFamily="49" charset="0"/>
              </a:rPr>
              <a:t>lastName</a:t>
            </a:r>
            <a:r>
              <a:rPr lang="en-GB" sz="1400" b="1" noProof="0" dirty="0">
                <a:latin typeface="Courier New" panose="02070309020205020404" pitchFamily="49" charset="0"/>
                <a:cs typeface="Courier New" panose="02070309020205020404" pitchFamily="49" charset="0"/>
              </a:rPr>
              <a:t>;</a:t>
            </a:r>
          </a:p>
          <a:p>
            <a:pPr marL="0" indent="0">
              <a:spcBef>
                <a:spcPts val="200"/>
              </a:spcBef>
              <a:buNone/>
            </a:pPr>
            <a:endParaRPr lang="en-GB" sz="1400" b="1" noProof="0" dirty="0">
              <a:latin typeface="Courier New" panose="02070309020205020404" pitchFamily="49" charset="0"/>
              <a:cs typeface="Courier New" panose="02070309020205020404" pitchFamily="49" charset="0"/>
            </a:endParaRPr>
          </a:p>
          <a:p>
            <a:pPr marL="0" indent="0">
              <a:spcBef>
                <a:spcPts val="200"/>
              </a:spcBef>
              <a:buNone/>
            </a:pPr>
            <a:r>
              <a:rPr lang="en-GB" sz="1400" b="1" noProof="0" dirty="0">
                <a:latin typeface="Courier New" panose="02070309020205020404" pitchFamily="49" charset="0"/>
                <a:cs typeface="Courier New" panose="02070309020205020404" pitchFamily="49" charset="0"/>
              </a:rPr>
              <a:t>  @Column(unique = true, </a:t>
            </a:r>
          </a:p>
          <a:p>
            <a:pPr marL="0" indent="0">
              <a:spcBef>
                <a:spcPts val="200"/>
              </a:spcBef>
              <a:buNone/>
            </a:pPr>
            <a:r>
              <a:rPr lang="en-GB" sz="1400" b="1" dirty="0">
                <a:latin typeface="Courier New" panose="02070309020205020404" pitchFamily="49" charset="0"/>
                <a:cs typeface="Courier New" panose="02070309020205020404" pitchFamily="49" charset="0"/>
              </a:rPr>
              <a:t>		</a:t>
            </a:r>
            <a:r>
              <a:rPr lang="en-GB" sz="1400" b="1" noProof="0" dirty="0">
                <a:latin typeface="Courier New" panose="02070309020205020404" pitchFamily="49" charset="0"/>
                <a:cs typeface="Courier New" panose="02070309020205020404" pitchFamily="49" charset="0"/>
              </a:rPr>
              <a:t>nullable = false)</a:t>
            </a:r>
          </a:p>
          <a:p>
            <a:pPr marL="0" indent="0">
              <a:spcBef>
                <a:spcPts val="200"/>
              </a:spcBef>
              <a:buNone/>
            </a:pPr>
            <a:r>
              <a:rPr lang="en-GB" sz="1400" b="1" noProof="0" dirty="0">
                <a:latin typeface="Courier New" panose="02070309020205020404" pitchFamily="49" charset="0"/>
                <a:cs typeface="Courier New" panose="02070309020205020404" pitchFamily="49" charset="0"/>
              </a:rPr>
              <a:t>  @Email</a:t>
            </a:r>
          </a:p>
          <a:p>
            <a:pPr marL="0" indent="0">
              <a:spcBef>
                <a:spcPts val="200"/>
              </a:spcBef>
              <a:buNone/>
            </a:pPr>
            <a:r>
              <a:rPr lang="en-GB" sz="1400" b="1" noProof="0" dirty="0">
                <a:latin typeface="Courier New" panose="02070309020205020404" pitchFamily="49" charset="0"/>
                <a:cs typeface="Courier New" panose="02070309020205020404" pitchFamily="49" charset="0"/>
              </a:rPr>
              <a:t>  private String email;</a:t>
            </a:r>
          </a:p>
          <a:p>
            <a:pPr marL="0" indent="0">
              <a:spcBef>
                <a:spcPts val="200"/>
              </a:spcBef>
              <a:buNone/>
            </a:pPr>
            <a:endParaRPr lang="en-GB" sz="1400" b="1" noProof="0" dirty="0">
              <a:latin typeface="Courier New" panose="02070309020205020404" pitchFamily="49" charset="0"/>
              <a:cs typeface="Courier New" panose="02070309020205020404" pitchFamily="49" charset="0"/>
            </a:endParaRPr>
          </a:p>
          <a:p>
            <a:pPr marL="0" indent="0">
              <a:spcBef>
                <a:spcPts val="200"/>
              </a:spcBef>
              <a:buNone/>
            </a:pPr>
            <a:r>
              <a:rPr lang="en-GB" sz="1400" b="1" noProof="0" dirty="0">
                <a:latin typeface="Courier New" panose="02070309020205020404" pitchFamily="49" charset="0"/>
                <a:cs typeface="Courier New" panose="02070309020205020404" pitchFamily="49" charset="0"/>
              </a:rPr>
              <a:t>  @Temporal(</a:t>
            </a:r>
            <a:r>
              <a:rPr lang="en-GB" sz="1400" b="1" noProof="0" dirty="0" err="1">
                <a:latin typeface="Courier New" panose="02070309020205020404" pitchFamily="49" charset="0"/>
                <a:cs typeface="Courier New" panose="02070309020205020404" pitchFamily="49" charset="0"/>
              </a:rPr>
              <a:t>TemporalType.DATE</a:t>
            </a:r>
            <a:r>
              <a:rPr lang="en-GB" sz="1400" b="1" noProof="0" dirty="0">
                <a:latin typeface="Courier New" panose="02070309020205020404" pitchFamily="49" charset="0"/>
                <a:cs typeface="Courier New" panose="02070309020205020404" pitchFamily="49" charset="0"/>
              </a:rPr>
              <a:t>)</a:t>
            </a:r>
          </a:p>
          <a:p>
            <a:pPr marL="0" indent="0">
              <a:spcBef>
                <a:spcPts val="200"/>
              </a:spcBef>
              <a:buNone/>
            </a:pPr>
            <a:r>
              <a:rPr lang="en-GB" sz="1400" b="1" noProof="0" dirty="0">
                <a:latin typeface="Courier New" panose="02070309020205020404" pitchFamily="49" charset="0"/>
                <a:cs typeface="Courier New" panose="02070309020205020404" pitchFamily="49" charset="0"/>
              </a:rPr>
              <a:t>  @Column(name = "</a:t>
            </a:r>
            <a:r>
              <a:rPr lang="en-GB" sz="1400" b="1" noProof="0" dirty="0" err="1">
                <a:latin typeface="Courier New" panose="02070309020205020404" pitchFamily="49" charset="0"/>
                <a:cs typeface="Courier New" panose="02070309020205020404" pitchFamily="49" charset="0"/>
              </a:rPr>
              <a:t>birth_date</a:t>
            </a:r>
            <a:r>
              <a:rPr lang="en-GB" sz="1400" b="1" noProof="0" dirty="0">
                <a:latin typeface="Courier New" panose="02070309020205020404" pitchFamily="49" charset="0"/>
                <a:cs typeface="Courier New" panose="02070309020205020404" pitchFamily="49" charset="0"/>
              </a:rPr>
              <a:t>", </a:t>
            </a:r>
          </a:p>
          <a:p>
            <a:pPr marL="0" indent="0">
              <a:spcBef>
                <a:spcPts val="200"/>
              </a:spcBef>
              <a:buNone/>
            </a:pPr>
            <a:r>
              <a:rPr lang="en-GB" sz="1400" b="1" dirty="0">
                <a:latin typeface="Courier New" panose="02070309020205020404" pitchFamily="49" charset="0"/>
                <a:cs typeface="Courier New" panose="02070309020205020404" pitchFamily="49" charset="0"/>
              </a:rPr>
              <a:t>          </a:t>
            </a:r>
            <a:r>
              <a:rPr lang="en-GB" sz="1400" b="1" noProof="0" dirty="0">
                <a:latin typeface="Courier New" panose="02070309020205020404" pitchFamily="49" charset="0"/>
                <a:cs typeface="Courier New" panose="02070309020205020404" pitchFamily="49" charset="0"/>
              </a:rPr>
              <a:t>nullable = false)</a:t>
            </a:r>
          </a:p>
          <a:p>
            <a:pPr marL="0" indent="0">
              <a:spcBef>
                <a:spcPts val="200"/>
              </a:spcBef>
              <a:buNone/>
            </a:pPr>
            <a:r>
              <a:rPr lang="en-GB" sz="1400" b="1" noProof="0" dirty="0">
                <a:latin typeface="Courier New" panose="02070309020205020404" pitchFamily="49" charset="0"/>
                <a:cs typeface="Courier New" panose="02070309020205020404" pitchFamily="49" charset="0"/>
              </a:rPr>
              <a:t>  private Date </a:t>
            </a:r>
            <a:r>
              <a:rPr lang="en-GB" sz="1400" b="1" noProof="0" dirty="0" err="1">
                <a:latin typeface="Courier New" panose="02070309020205020404" pitchFamily="49" charset="0"/>
                <a:cs typeface="Courier New" panose="02070309020205020404" pitchFamily="49" charset="0"/>
              </a:rPr>
              <a:t>birthDate</a:t>
            </a:r>
            <a:r>
              <a:rPr lang="en-GB" sz="1400" b="1" noProof="0" dirty="0">
                <a:latin typeface="Courier New" panose="02070309020205020404" pitchFamily="49" charset="0"/>
                <a:cs typeface="Courier New" panose="02070309020205020404" pitchFamily="49" charset="0"/>
              </a:rPr>
              <a:t>;</a:t>
            </a:r>
          </a:p>
          <a:p>
            <a:pPr marL="0" indent="0">
              <a:spcBef>
                <a:spcPts val="200"/>
              </a:spcBef>
              <a:buNone/>
            </a:pPr>
            <a:r>
              <a:rPr lang="en-GB" sz="1400" b="1" noProof="0" dirty="0">
                <a:latin typeface="Courier New" panose="02070309020205020404" pitchFamily="49" charset="0"/>
                <a:cs typeface="Courier New" panose="02070309020205020404" pitchFamily="49" charset="0"/>
              </a:rPr>
              <a:t>}</a:t>
            </a:r>
          </a:p>
        </p:txBody>
      </p:sp>
      <p:sp>
        <p:nvSpPr>
          <p:cNvPr id="6" name="Rettangolo 5">
            <a:extLst>
              <a:ext uri="{FF2B5EF4-FFF2-40B4-BE49-F238E27FC236}">
                <a16:creationId xmlns:a16="http://schemas.microsoft.com/office/drawing/2014/main" id="{86189ABF-AE66-D29E-A8B0-847C457907DF}"/>
              </a:ext>
            </a:extLst>
          </p:cNvPr>
          <p:cNvSpPr/>
          <p:nvPr/>
        </p:nvSpPr>
        <p:spPr bwMode="auto">
          <a:xfrm>
            <a:off x="4788024" y="1196752"/>
            <a:ext cx="4104456" cy="1152128"/>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8" name="Rettangolo 7">
            <a:extLst>
              <a:ext uri="{FF2B5EF4-FFF2-40B4-BE49-F238E27FC236}">
                <a16:creationId xmlns:a16="http://schemas.microsoft.com/office/drawing/2014/main" id="{FAC926E2-2B6E-1EFF-D3D0-5EF0AAC1AE1A}"/>
              </a:ext>
            </a:extLst>
          </p:cNvPr>
          <p:cNvSpPr/>
          <p:nvPr/>
        </p:nvSpPr>
        <p:spPr bwMode="auto">
          <a:xfrm>
            <a:off x="4788024" y="4581128"/>
            <a:ext cx="4104456" cy="1512168"/>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7" name="Rettangolo 6">
            <a:extLst>
              <a:ext uri="{FF2B5EF4-FFF2-40B4-BE49-F238E27FC236}">
                <a16:creationId xmlns:a16="http://schemas.microsoft.com/office/drawing/2014/main" id="{FD0036B5-7675-7808-2A96-1880078E1441}"/>
              </a:ext>
            </a:extLst>
          </p:cNvPr>
          <p:cNvSpPr/>
          <p:nvPr/>
        </p:nvSpPr>
        <p:spPr bwMode="auto">
          <a:xfrm>
            <a:off x="4788024" y="2780928"/>
            <a:ext cx="4104456" cy="136815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4" name="Content Placeholder 2">
            <a:extLst>
              <a:ext uri="{FF2B5EF4-FFF2-40B4-BE49-F238E27FC236}">
                <a16:creationId xmlns:a16="http://schemas.microsoft.com/office/drawing/2014/main" id="{2495D1C5-1229-3E6F-1347-1C813F3C8B5C}"/>
              </a:ext>
            </a:extLst>
          </p:cNvPr>
          <p:cNvSpPr txBox="1">
            <a:spLocks/>
          </p:cNvSpPr>
          <p:nvPr/>
        </p:nvSpPr>
        <p:spPr bwMode="auto">
          <a:xfrm>
            <a:off x="4788024" y="1196752"/>
            <a:ext cx="4392488" cy="52565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normAutofit fontScale="40000" lnSpcReduction="20000"/>
          </a:bodyPr>
          <a:lstStyle>
            <a:lvl1pPr marL="341313" indent="-341313" algn="l" defTabSz="457200" rtl="0" eaLnBrk="0" fontAlgn="base" hangingPunct="0">
              <a:lnSpc>
                <a:spcPct val="101000"/>
              </a:lnSpc>
              <a:spcBef>
                <a:spcPts val="800"/>
              </a:spcBef>
              <a:spcAft>
                <a:spcPct val="0"/>
              </a:spcAft>
              <a:buClr>
                <a:srgbClr val="000000"/>
              </a:buClr>
              <a:buSzPct val="100000"/>
              <a:buFont typeface="Wingdings" charset="0"/>
              <a:buChar char=""/>
              <a:defRPr sz="3200">
                <a:solidFill>
                  <a:srgbClr val="000000"/>
                </a:solidFill>
                <a:latin typeface="+mn-lt"/>
                <a:ea typeface="ＭＳ Ｐゴシック" charset="0"/>
                <a:cs typeface="+mn-cs"/>
              </a:defRPr>
            </a:lvl1pPr>
            <a:lvl2pPr marL="741363" indent="-284163" algn="l" defTabSz="457200" rtl="0" eaLnBrk="0" fontAlgn="base" hangingPunct="0">
              <a:lnSpc>
                <a:spcPct val="101000"/>
              </a:lnSpc>
              <a:spcBef>
                <a:spcPts val="700"/>
              </a:spcBef>
              <a:spcAft>
                <a:spcPct val="0"/>
              </a:spcAft>
              <a:buClr>
                <a:srgbClr val="000000"/>
              </a:buClr>
              <a:buSzPct val="80000"/>
              <a:buFont typeface="Symbol" charset="0"/>
              <a:buChar char=""/>
              <a:defRPr sz="2800">
                <a:solidFill>
                  <a:srgbClr val="000000"/>
                </a:solidFill>
                <a:latin typeface="+mn-lt"/>
                <a:ea typeface="Lucida Sans Unicode" pitchFamily="-110" charset="-52"/>
                <a:cs typeface="+mn-cs"/>
              </a:defRPr>
            </a:lvl2pPr>
            <a:lvl3pPr marL="1143000" indent="-228600" algn="l" defTabSz="457200" rtl="0" eaLnBrk="0" fontAlgn="base" hangingPunct="0">
              <a:lnSpc>
                <a:spcPct val="101000"/>
              </a:lnSpc>
              <a:spcBef>
                <a:spcPts val="600"/>
              </a:spcBef>
              <a:spcAft>
                <a:spcPct val="0"/>
              </a:spcAft>
              <a:buClr>
                <a:srgbClr val="000000"/>
              </a:buClr>
              <a:buSzPct val="100000"/>
              <a:buFont typeface="Symbol" charset="0"/>
              <a:buChar char=""/>
              <a:defRPr sz="2400">
                <a:solidFill>
                  <a:srgbClr val="000000"/>
                </a:solidFill>
                <a:latin typeface="+mn-lt"/>
                <a:ea typeface="Lucida Sans Unicode" pitchFamily="-110" charset="-52"/>
                <a:cs typeface="+mn-cs"/>
              </a:defRPr>
            </a:lvl3pPr>
            <a:lvl4pPr marL="16002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4pPr>
            <a:lvl5pPr marL="20574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5pPr>
            <a:lvl6pPr marL="25146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6pPr>
            <a:lvl7pPr marL="29718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7pPr>
            <a:lvl8pPr marL="34290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8pPr>
            <a:lvl9pPr marL="38862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9pPr>
          </a:lstStyle>
          <a:p>
            <a:pPr marL="0" indent="0">
              <a:buFont typeface="Wingdings" charset="0"/>
              <a:buNone/>
            </a:pPr>
            <a:r>
              <a:rPr lang="en-US" b="1" kern="0" dirty="0">
                <a:latin typeface="Courier New" panose="02070309020205020404" pitchFamily="49" charset="0"/>
                <a:cs typeface="Courier New" panose="02070309020205020404" pitchFamily="49" charset="0"/>
              </a:rPr>
              <a:t>@Entity</a:t>
            </a:r>
          </a:p>
          <a:p>
            <a:pPr marL="0" indent="0">
              <a:buFont typeface="Wingdings" charset="0"/>
              <a:buNone/>
            </a:pPr>
            <a:r>
              <a:rPr lang="en-US" b="1" kern="0" dirty="0">
                <a:latin typeface="Courier New" panose="02070309020205020404" pitchFamily="49" charset="0"/>
                <a:cs typeface="Courier New" panose="02070309020205020404" pitchFamily="49" charset="0"/>
              </a:rPr>
              <a:t>public class Passenger </a:t>
            </a:r>
            <a:r>
              <a:rPr lang="en-US" b="1" kern="0" dirty="0">
                <a:solidFill>
                  <a:schemeClr val="accent6">
                    <a:lumMod val="75000"/>
                  </a:schemeClr>
                </a:solidFill>
                <a:latin typeface="Courier New" panose="02070309020205020404" pitchFamily="49" charset="0"/>
                <a:cs typeface="Courier New" panose="02070309020205020404" pitchFamily="49" charset="0"/>
              </a:rPr>
              <a:t>extends Person </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    private String </a:t>
            </a:r>
            <a:r>
              <a:rPr lang="en-US" b="1" kern="0" dirty="0" err="1">
                <a:latin typeface="Courier New" panose="02070309020205020404" pitchFamily="49" charset="0"/>
                <a:cs typeface="Courier New" panose="02070309020205020404" pitchFamily="49" charset="0"/>
              </a:rPr>
              <a:t>frequentFlyerId</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a:t>
            </a:r>
          </a:p>
          <a:p>
            <a:pPr marL="0" indent="0">
              <a:buFont typeface="Wingdings" charset="0"/>
              <a:buNone/>
            </a:pPr>
            <a:endParaRPr lang="en-US" b="1" kern="0" dirty="0">
              <a:latin typeface="Courier New" panose="02070309020205020404" pitchFamily="49" charset="0"/>
              <a:cs typeface="Courier New" panose="02070309020205020404" pitchFamily="49" charset="0"/>
            </a:endParaRPr>
          </a:p>
          <a:p>
            <a:pPr marL="0" indent="0">
              <a:buFont typeface="Wingdings" charset="0"/>
              <a:buNone/>
            </a:pPr>
            <a:endParaRPr lang="en-US" b="1" kern="0" dirty="0">
              <a:latin typeface="Courier New" panose="02070309020205020404" pitchFamily="49" charset="0"/>
              <a:cs typeface="Courier New" panose="02070309020205020404" pitchFamily="49" charset="0"/>
            </a:endParaRPr>
          </a:p>
          <a:p>
            <a:pPr marL="0" indent="0">
              <a:buFont typeface="Wingdings" charset="0"/>
              <a:buNone/>
            </a:pPr>
            <a:r>
              <a:rPr lang="en-US" b="1" kern="0" dirty="0">
                <a:latin typeface="Courier New" panose="02070309020205020404" pitchFamily="49" charset="0"/>
                <a:cs typeface="Courier New" panose="02070309020205020404" pitchFamily="49" charset="0"/>
              </a:rPr>
              <a:t>@Entity</a:t>
            </a:r>
          </a:p>
          <a:p>
            <a:pPr marL="0" indent="0">
              <a:buFont typeface="Wingdings" charset="0"/>
              <a:buNone/>
            </a:pPr>
            <a:r>
              <a:rPr lang="en-US" b="1" kern="0" dirty="0">
                <a:latin typeface="Courier New" panose="02070309020205020404" pitchFamily="49" charset="0"/>
                <a:cs typeface="Courier New" panose="02070309020205020404" pitchFamily="49" charset="0"/>
              </a:rPr>
              <a:t>public class Pilot </a:t>
            </a:r>
            <a:r>
              <a:rPr lang="en-US" b="1" kern="0" dirty="0">
                <a:solidFill>
                  <a:schemeClr val="accent6">
                    <a:lumMod val="75000"/>
                  </a:schemeClr>
                </a:solidFill>
                <a:latin typeface="Courier New" panose="02070309020205020404" pitchFamily="49" charset="0"/>
                <a:cs typeface="Courier New" panose="02070309020205020404" pitchFamily="49" charset="0"/>
              </a:rPr>
              <a:t>extends Person </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    private String </a:t>
            </a:r>
            <a:r>
              <a:rPr lang="en-US" b="1" kern="0" dirty="0" err="1">
                <a:latin typeface="Courier New" panose="02070309020205020404" pitchFamily="49" charset="0"/>
                <a:cs typeface="Courier New" panose="02070309020205020404" pitchFamily="49" charset="0"/>
              </a:rPr>
              <a:t>flightLicense</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    private int </a:t>
            </a:r>
            <a:r>
              <a:rPr lang="en-US" b="1" kern="0" dirty="0" err="1">
                <a:latin typeface="Courier New" panose="02070309020205020404" pitchFamily="49" charset="0"/>
                <a:cs typeface="Courier New" panose="02070309020205020404" pitchFamily="49" charset="0"/>
              </a:rPr>
              <a:t>yearsExperience</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a:t>
            </a:r>
          </a:p>
          <a:p>
            <a:pPr marL="0" indent="0">
              <a:buFont typeface="Wingdings" charset="0"/>
              <a:buNone/>
            </a:pPr>
            <a:endParaRPr lang="en-US" b="1" kern="0" dirty="0">
              <a:latin typeface="Courier New" panose="02070309020205020404" pitchFamily="49" charset="0"/>
              <a:cs typeface="Courier New" panose="02070309020205020404" pitchFamily="49" charset="0"/>
            </a:endParaRPr>
          </a:p>
          <a:p>
            <a:pPr marL="0" indent="0">
              <a:buFont typeface="Wingdings" charset="0"/>
              <a:buNone/>
            </a:pPr>
            <a:endParaRPr lang="en-US" b="1" kern="0" dirty="0">
              <a:latin typeface="Courier New" panose="02070309020205020404" pitchFamily="49" charset="0"/>
              <a:cs typeface="Courier New" panose="02070309020205020404" pitchFamily="49" charset="0"/>
            </a:endParaRPr>
          </a:p>
          <a:p>
            <a:pPr marL="0" indent="0">
              <a:buFont typeface="Wingdings" charset="0"/>
              <a:buNone/>
            </a:pPr>
            <a:r>
              <a:rPr lang="en-US" b="1" kern="0" dirty="0">
                <a:latin typeface="Courier New" panose="02070309020205020404" pitchFamily="49" charset="0"/>
                <a:cs typeface="Courier New" panose="02070309020205020404" pitchFamily="49" charset="0"/>
              </a:rPr>
              <a:t>@Entity</a:t>
            </a:r>
          </a:p>
          <a:p>
            <a:pPr marL="0" indent="0">
              <a:buFont typeface="Wingdings" charset="0"/>
              <a:buNone/>
            </a:pPr>
            <a:r>
              <a:rPr lang="en-US" b="1" kern="0" dirty="0">
                <a:latin typeface="Courier New" panose="02070309020205020404" pitchFamily="49" charset="0"/>
                <a:cs typeface="Courier New" panose="02070309020205020404" pitchFamily="49" charset="0"/>
              </a:rPr>
              <a:t>public class </a:t>
            </a:r>
            <a:r>
              <a:rPr lang="en-US" b="1" kern="0" dirty="0" err="1">
                <a:latin typeface="Courier New" panose="02070309020205020404" pitchFamily="49" charset="0"/>
                <a:cs typeface="Courier New" panose="02070309020205020404" pitchFamily="49" charset="0"/>
              </a:rPr>
              <a:t>CrewMember</a:t>
            </a:r>
            <a:r>
              <a:rPr lang="en-US" b="1" kern="0" dirty="0">
                <a:latin typeface="Courier New" panose="02070309020205020404" pitchFamily="49" charset="0"/>
                <a:cs typeface="Courier New" panose="02070309020205020404" pitchFamily="49" charset="0"/>
              </a:rPr>
              <a:t> </a:t>
            </a:r>
            <a:r>
              <a:rPr lang="en-US" b="1" kern="0" dirty="0">
                <a:solidFill>
                  <a:schemeClr val="accent6">
                    <a:lumMod val="75000"/>
                  </a:schemeClr>
                </a:solidFill>
                <a:latin typeface="Courier New" panose="02070309020205020404" pitchFamily="49" charset="0"/>
                <a:cs typeface="Courier New" panose="02070309020205020404" pitchFamily="49" charset="0"/>
              </a:rPr>
              <a:t>extends Person </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    private String role;</a:t>
            </a:r>
          </a:p>
          <a:p>
            <a:pPr marL="0" indent="0">
              <a:buFont typeface="Wingdings" charset="0"/>
              <a:buNone/>
            </a:pPr>
            <a:r>
              <a:rPr lang="en-US" b="1" kern="0" dirty="0">
                <a:latin typeface="Courier New" panose="02070309020205020404" pitchFamily="49" charset="0"/>
                <a:cs typeface="Courier New" panose="02070309020205020404" pitchFamily="49" charset="0"/>
              </a:rPr>
              <a:t>    private int </a:t>
            </a:r>
            <a:r>
              <a:rPr lang="en-US" b="1" kern="0" dirty="0" err="1">
                <a:latin typeface="Courier New" panose="02070309020205020404" pitchFamily="49" charset="0"/>
                <a:cs typeface="Courier New" panose="02070309020205020404" pitchFamily="49" charset="0"/>
              </a:rPr>
              <a:t>yearsExperience</a:t>
            </a:r>
            <a:r>
              <a:rPr lang="en-US" b="1" kern="0" dirty="0">
                <a:latin typeface="Courier New" panose="02070309020205020404" pitchFamily="49" charset="0"/>
                <a:cs typeface="Courier New" panose="02070309020205020404" pitchFamily="49" charset="0"/>
              </a:rPr>
              <a:t>;</a:t>
            </a:r>
          </a:p>
          <a:p>
            <a:pPr marL="0" indent="0">
              <a:buFont typeface="Wingdings" charset="0"/>
              <a:buNone/>
            </a:pPr>
            <a:r>
              <a:rPr lang="en-US" b="1"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9911964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7A5D-CDBA-3BDE-51A1-AE2EA5648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90115-1C48-C432-715F-A53FB3C6CFF7}"/>
              </a:ext>
            </a:extLst>
          </p:cNvPr>
          <p:cNvSpPr>
            <a:spLocks noGrp="1"/>
          </p:cNvSpPr>
          <p:nvPr>
            <p:ph type="title"/>
          </p:nvPr>
        </p:nvSpPr>
        <p:spPr/>
        <p:txBody>
          <a:bodyPr/>
          <a:lstStyle/>
          <a:p>
            <a:r>
              <a:rPr lang="en-GB" noProof="0" dirty="0" err="1"/>
              <a:t>OneToOne</a:t>
            </a:r>
            <a:r>
              <a:rPr lang="en-GB" noProof="0" dirty="0"/>
              <a:t> relationships</a:t>
            </a:r>
          </a:p>
        </p:txBody>
      </p:sp>
      <p:sp>
        <p:nvSpPr>
          <p:cNvPr id="3" name="Content Placeholder 2">
            <a:extLst>
              <a:ext uri="{FF2B5EF4-FFF2-40B4-BE49-F238E27FC236}">
                <a16:creationId xmlns:a16="http://schemas.microsoft.com/office/drawing/2014/main" id="{7FF1E597-F335-332B-8407-178FEDE2E2CD}"/>
              </a:ext>
            </a:extLst>
          </p:cNvPr>
          <p:cNvSpPr>
            <a:spLocks noGrp="1"/>
          </p:cNvSpPr>
          <p:nvPr>
            <p:ph idx="1"/>
          </p:nvPr>
        </p:nvSpPr>
        <p:spPr>
          <a:xfrm>
            <a:off x="539552" y="1268760"/>
            <a:ext cx="8424936" cy="5040560"/>
          </a:xfrm>
        </p:spPr>
        <p:txBody>
          <a:bodyPr>
            <a:normAutofit fontScale="70000" lnSpcReduction="20000"/>
          </a:bodyPr>
          <a:lstStyle/>
          <a:p>
            <a:r>
              <a:rPr lang="en-GB" noProof="0" dirty="0"/>
              <a:t>A One-to-One relationship links two entities where each instance of one entity is associated with exactly one instance of another entity</a:t>
            </a:r>
          </a:p>
          <a:p>
            <a:r>
              <a:rPr lang="en-GB" noProof="0" dirty="0"/>
              <a:t>By default, One-to-One relationships are </a:t>
            </a:r>
            <a:r>
              <a:rPr lang="en-GB" noProof="0" dirty="0" err="1"/>
              <a:t>FetchType.EAGER</a:t>
            </a:r>
            <a:endParaRPr lang="en-GB" noProof="0" dirty="0"/>
          </a:p>
          <a:p>
            <a:r>
              <a:rPr lang="en-GB" noProof="0" dirty="0"/>
              <a:t>Owner side</a:t>
            </a:r>
          </a:p>
          <a:p>
            <a:pPr lvl="1"/>
            <a:r>
              <a:rPr lang="en-GB" noProof="0" dirty="0"/>
              <a:t>It contains the @</a:t>
            </a:r>
            <a:r>
              <a:rPr lang="en-GB" noProof="0" dirty="0" err="1"/>
              <a:t>JoinColumn</a:t>
            </a:r>
            <a:r>
              <a:rPr lang="en-GB" noProof="0" dirty="0"/>
              <a:t> annotation because it holds the foreign key</a:t>
            </a:r>
          </a:p>
          <a:p>
            <a:pPr lvl="1"/>
            <a:r>
              <a:rPr lang="en-GB" noProof="0" dirty="0"/>
              <a:t>Hibernate considers this entity responsible for managing the relationship</a:t>
            </a:r>
          </a:p>
          <a:p>
            <a:r>
              <a:rPr lang="en-GB" noProof="0" dirty="0"/>
              <a:t>Inverse side</a:t>
            </a:r>
          </a:p>
          <a:p>
            <a:pPr lvl="1"/>
            <a:r>
              <a:rPr lang="en-GB" noProof="0" dirty="0"/>
              <a:t>It uses </a:t>
            </a:r>
            <a:r>
              <a:rPr lang="en-GB" noProof="0" dirty="0" err="1"/>
              <a:t>mappedBy</a:t>
            </a:r>
            <a:r>
              <a:rPr lang="en-GB" noProof="0" dirty="0"/>
              <a:t> to reference the relationship without creating an extra foreign key column</a:t>
            </a:r>
          </a:p>
          <a:p>
            <a:pPr lvl="1"/>
            <a:r>
              <a:rPr lang="en-GB" noProof="0" dirty="0"/>
              <a:t>It defines cascading and </a:t>
            </a:r>
            <a:r>
              <a:rPr lang="en-GB" noProof="0" dirty="0" err="1"/>
              <a:t>orphanRemoval</a:t>
            </a:r>
            <a:r>
              <a:rPr lang="en-GB" noProof="0" dirty="0"/>
              <a:t> </a:t>
            </a:r>
            <a:r>
              <a:rPr lang="en-GB" noProof="0" dirty="0" err="1"/>
              <a:t>behavior</a:t>
            </a:r>
            <a:endParaRPr lang="en-GB" noProof="0" dirty="0"/>
          </a:p>
          <a:p>
            <a:pPr lvl="1"/>
            <a:r>
              <a:rPr lang="en-GB" noProof="0" dirty="0"/>
              <a:t>When querying the inverse side, Hibernate will JOIN the owner table to retrieve the associated object</a:t>
            </a:r>
          </a:p>
        </p:txBody>
      </p:sp>
    </p:spTree>
    <p:extLst>
      <p:ext uri="{BB962C8B-B14F-4D97-AF65-F5344CB8AC3E}">
        <p14:creationId xmlns:p14="http://schemas.microsoft.com/office/powerpoint/2010/main" val="335944922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9E1AB-CCFE-E961-18D3-ED3152B86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044FF-61CE-ED8E-0ABF-C573B3BBAB9A}"/>
              </a:ext>
            </a:extLst>
          </p:cNvPr>
          <p:cNvSpPr>
            <a:spLocks noGrp="1"/>
          </p:cNvSpPr>
          <p:nvPr>
            <p:ph type="title"/>
          </p:nvPr>
        </p:nvSpPr>
        <p:spPr/>
        <p:txBody>
          <a:bodyPr/>
          <a:lstStyle/>
          <a:p>
            <a:r>
              <a:rPr lang="en-GB" noProof="0" dirty="0" err="1"/>
              <a:t>OneToOne</a:t>
            </a:r>
            <a:r>
              <a:rPr lang="en-GB" noProof="0" dirty="0"/>
              <a:t> relationships</a:t>
            </a:r>
          </a:p>
        </p:txBody>
      </p:sp>
      <p:sp>
        <p:nvSpPr>
          <p:cNvPr id="5" name="Rettangolo 4">
            <a:extLst>
              <a:ext uri="{FF2B5EF4-FFF2-40B4-BE49-F238E27FC236}">
                <a16:creationId xmlns:a16="http://schemas.microsoft.com/office/drawing/2014/main" id="{6A8E48AB-BB8E-864C-BEF3-1A99E07103B6}"/>
              </a:ext>
            </a:extLst>
          </p:cNvPr>
          <p:cNvSpPr/>
          <p:nvPr/>
        </p:nvSpPr>
        <p:spPr bwMode="auto">
          <a:xfrm>
            <a:off x="251520" y="1772816"/>
            <a:ext cx="4032448" cy="4536504"/>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F6BDDB70-34EC-DAAE-A2E2-CC6917EE57A4}"/>
              </a:ext>
            </a:extLst>
          </p:cNvPr>
          <p:cNvSpPr>
            <a:spLocks noGrp="1"/>
          </p:cNvSpPr>
          <p:nvPr>
            <p:ph idx="1"/>
          </p:nvPr>
        </p:nvSpPr>
        <p:spPr>
          <a:xfrm>
            <a:off x="251520" y="1268760"/>
            <a:ext cx="4104456" cy="5184576"/>
          </a:xfrm>
        </p:spPr>
        <p:txBody>
          <a:bodyPr>
            <a:normAutofit fontScale="25000" lnSpcReduction="20000"/>
          </a:bodyPr>
          <a:lstStyle/>
          <a:p>
            <a:pPr marL="0" indent="0">
              <a:buNone/>
            </a:pPr>
            <a:r>
              <a:rPr lang="en-GB" sz="8000" noProof="0" dirty="0">
                <a:solidFill>
                  <a:schemeClr val="accent6">
                    <a:lumMod val="75000"/>
                  </a:schemeClr>
                </a:solidFill>
                <a:cs typeface="Courier New" panose="02070309020205020404" pitchFamily="49" charset="0"/>
              </a:rPr>
              <a:t>Owner</a:t>
            </a:r>
            <a:r>
              <a:rPr lang="en-GB" sz="8000" noProof="0" dirty="0">
                <a:cs typeface="Courier New" panose="02070309020205020404" pitchFamily="49" charset="0"/>
              </a:rPr>
              <a:t> side</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sz="6400" b="1" noProof="0" dirty="0">
                <a:latin typeface="Courier New" panose="02070309020205020404" pitchFamily="49" charset="0"/>
                <a:cs typeface="Courier New" panose="02070309020205020404" pitchFamily="49" charset="0"/>
              </a:rPr>
              <a:t>@Entity</a:t>
            </a:r>
          </a:p>
          <a:p>
            <a:pPr marL="0" indent="0">
              <a:buNone/>
            </a:pPr>
            <a:r>
              <a:rPr lang="en-GB" sz="6400" b="1" noProof="0" dirty="0">
                <a:latin typeface="Courier New" panose="02070309020205020404" pitchFamily="49" charset="0"/>
                <a:cs typeface="Courier New" panose="02070309020205020404" pitchFamily="49" charset="0"/>
              </a:rPr>
              <a:t>@Table(name = "passports")</a:t>
            </a:r>
          </a:p>
          <a:p>
            <a:pPr marL="0" indent="0">
              <a:buNone/>
            </a:pPr>
            <a:r>
              <a:rPr lang="en-GB" sz="6400" b="1" noProof="0" dirty="0">
                <a:latin typeface="Courier New" panose="02070309020205020404" pitchFamily="49" charset="0"/>
                <a:cs typeface="Courier New" panose="02070309020205020404" pitchFamily="49" charset="0"/>
              </a:rPr>
              <a:t>public class Passport {</a:t>
            </a:r>
          </a:p>
          <a:p>
            <a:pPr marL="0" indent="0">
              <a:buNone/>
            </a:pPr>
            <a:r>
              <a:rPr lang="en-GB" sz="6400" b="1" noProof="0" dirty="0">
                <a:latin typeface="Courier New" panose="02070309020205020404" pitchFamily="49" charset="0"/>
                <a:cs typeface="Courier New" panose="02070309020205020404" pitchFamily="49" charset="0"/>
              </a:rPr>
              <a:t>  @Id</a:t>
            </a:r>
          </a:p>
          <a:p>
            <a:pPr marL="0" indent="0">
              <a:buNone/>
            </a:pPr>
            <a:r>
              <a:rPr lang="en-GB" sz="6400" b="1" noProof="0" dirty="0">
                <a:latin typeface="Courier New" panose="02070309020205020404" pitchFamily="49" charset="0"/>
                <a:cs typeface="Courier New" panose="02070309020205020404" pitchFamily="49" charset="0"/>
              </a:rPr>
              <a:t>  @Size(min = 8, max = 8)</a:t>
            </a:r>
          </a:p>
          <a:p>
            <a:pPr marL="0" indent="0">
              <a:buNone/>
            </a:pPr>
            <a:r>
              <a:rPr lang="en-GB" sz="6400" b="1" noProof="0" dirty="0">
                <a:latin typeface="Courier New" panose="02070309020205020404" pitchFamily="49" charset="0"/>
                <a:cs typeface="Courier New" panose="02070309020205020404" pitchFamily="49" charset="0"/>
              </a:rPr>
              <a:t>  private String number;</a:t>
            </a:r>
          </a:p>
          <a:p>
            <a:pPr marL="0" indent="0">
              <a:buNone/>
            </a:pPr>
            <a:endParaRPr lang="en-GB" sz="6400" b="1" noProof="0" dirty="0">
              <a:latin typeface="Courier New" panose="02070309020205020404" pitchFamily="49" charset="0"/>
              <a:cs typeface="Courier New" panose="02070309020205020404" pitchFamily="49" charset="0"/>
            </a:endParaRPr>
          </a:p>
          <a:p>
            <a:pPr marL="0" indent="0">
              <a:buNone/>
            </a:pPr>
            <a:r>
              <a:rPr lang="en-GB" sz="6400" b="1" noProof="0" dirty="0">
                <a:latin typeface="Courier New" panose="02070309020205020404" pitchFamily="49" charset="0"/>
                <a:cs typeface="Courier New" panose="02070309020205020404" pitchFamily="49" charset="0"/>
              </a:rPr>
              <a:t>  @Column(nullable = false)</a:t>
            </a:r>
          </a:p>
          <a:p>
            <a:pPr marL="0" indent="0">
              <a:buNone/>
            </a:pPr>
            <a:r>
              <a:rPr lang="en-GB" sz="6400" b="1" noProof="0" dirty="0">
                <a:latin typeface="Courier New" panose="02070309020205020404" pitchFamily="49" charset="0"/>
                <a:cs typeface="Courier New" panose="02070309020205020404" pitchFamily="49" charset="0"/>
              </a:rPr>
              <a:t>  private String nationality;</a:t>
            </a:r>
          </a:p>
          <a:p>
            <a:pPr marL="0" indent="0">
              <a:buNone/>
            </a:pPr>
            <a:endParaRPr lang="en-GB" sz="6400" b="1" noProof="0" dirty="0">
              <a:latin typeface="Courier New" panose="02070309020205020404" pitchFamily="49" charset="0"/>
              <a:cs typeface="Courier New" panose="02070309020205020404" pitchFamily="49" charset="0"/>
            </a:endParaRPr>
          </a:p>
          <a:p>
            <a:pPr marL="0" indent="0">
              <a:buNone/>
            </a:pPr>
            <a:r>
              <a:rPr lang="en-GB" sz="6400" b="1" noProof="0" dirty="0">
                <a:latin typeface="Courier New" panose="02070309020205020404" pitchFamily="49" charset="0"/>
                <a:cs typeface="Courier New" panose="02070309020205020404" pitchFamily="49" charset="0"/>
              </a:rPr>
              <a:t>  </a:t>
            </a:r>
            <a:r>
              <a:rPr lang="en-GB" sz="6400" b="1" noProof="0" dirty="0">
                <a:solidFill>
                  <a:schemeClr val="accent6">
                    <a:lumMod val="75000"/>
                  </a:schemeClr>
                </a:solidFill>
                <a:latin typeface="Courier New" panose="02070309020205020404" pitchFamily="49" charset="0"/>
                <a:cs typeface="Courier New" panose="02070309020205020404" pitchFamily="49" charset="0"/>
              </a:rPr>
              <a:t>@</a:t>
            </a:r>
            <a:r>
              <a:rPr lang="en-GB" sz="6400" b="1" noProof="0" dirty="0" err="1">
                <a:solidFill>
                  <a:schemeClr val="accent6">
                    <a:lumMod val="75000"/>
                  </a:schemeClr>
                </a:solidFill>
                <a:latin typeface="Courier New" panose="02070309020205020404" pitchFamily="49" charset="0"/>
                <a:cs typeface="Courier New" panose="02070309020205020404" pitchFamily="49" charset="0"/>
              </a:rPr>
              <a:t>OneToOne</a:t>
            </a:r>
            <a:endParaRPr lang="en-GB" sz="6400" b="1" noProof="0" dirty="0">
              <a:solidFill>
                <a:schemeClr val="accent6">
                  <a:lumMod val="75000"/>
                </a:schemeClr>
              </a:solidFill>
              <a:latin typeface="Courier New" panose="02070309020205020404" pitchFamily="49" charset="0"/>
              <a:cs typeface="Courier New" panose="02070309020205020404" pitchFamily="49" charset="0"/>
            </a:endParaRPr>
          </a:p>
          <a:p>
            <a:pPr marL="0" indent="0">
              <a:buNone/>
            </a:pPr>
            <a:r>
              <a:rPr lang="en-GB" sz="6400" b="1" noProof="0" dirty="0">
                <a:solidFill>
                  <a:schemeClr val="accent6">
                    <a:lumMod val="75000"/>
                  </a:schemeClr>
                </a:solidFill>
                <a:latin typeface="Courier New" panose="02070309020205020404" pitchFamily="49" charset="0"/>
                <a:cs typeface="Courier New" panose="02070309020205020404" pitchFamily="49" charset="0"/>
              </a:rPr>
              <a:t>  @</a:t>
            </a:r>
            <a:r>
              <a:rPr lang="en-GB" sz="6400" b="1" noProof="0" dirty="0" err="1">
                <a:solidFill>
                  <a:schemeClr val="accent6">
                    <a:lumMod val="75000"/>
                  </a:schemeClr>
                </a:solidFill>
                <a:latin typeface="Courier New" panose="02070309020205020404" pitchFamily="49" charset="0"/>
                <a:cs typeface="Courier New" panose="02070309020205020404" pitchFamily="49" charset="0"/>
              </a:rPr>
              <a:t>JoinColumn</a:t>
            </a:r>
            <a:r>
              <a:rPr lang="en-GB" sz="6400" b="1" noProof="0" dirty="0">
                <a:solidFill>
                  <a:schemeClr val="accent6">
                    <a:lumMod val="75000"/>
                  </a:schemeClr>
                </a:solidFill>
                <a:latin typeface="Courier New" panose="02070309020205020404" pitchFamily="49" charset="0"/>
                <a:cs typeface="Courier New" panose="02070309020205020404" pitchFamily="49" charset="0"/>
              </a:rPr>
              <a:t>(name= "</a:t>
            </a:r>
            <a:r>
              <a:rPr lang="en-GB" sz="6400" b="1" noProof="0" dirty="0" err="1">
                <a:solidFill>
                  <a:schemeClr val="accent6">
                    <a:lumMod val="75000"/>
                  </a:schemeClr>
                </a:solidFill>
                <a:latin typeface="Courier New" panose="02070309020205020404" pitchFamily="49" charset="0"/>
                <a:cs typeface="Courier New" panose="02070309020205020404" pitchFamily="49" charset="0"/>
              </a:rPr>
              <a:t>person_id</a:t>
            </a:r>
            <a:r>
              <a:rPr lang="en-GB" sz="6400" b="1" noProof="0" dirty="0">
                <a:solidFill>
                  <a:schemeClr val="accent6">
                    <a:lumMod val="75000"/>
                  </a:schemeClr>
                </a:solidFill>
                <a:latin typeface="Courier New" panose="02070309020205020404" pitchFamily="49" charset="0"/>
                <a:cs typeface="Courier New" panose="02070309020205020404" pitchFamily="49" charset="0"/>
              </a:rPr>
              <a:t>", </a:t>
            </a:r>
          </a:p>
          <a:p>
            <a:pPr marL="0" indent="0">
              <a:buNone/>
            </a:pPr>
            <a:r>
              <a:rPr lang="en-GB" sz="6400" b="1" noProof="0" dirty="0">
                <a:solidFill>
                  <a:schemeClr val="accent6">
                    <a:lumMod val="75000"/>
                  </a:schemeClr>
                </a:solidFill>
                <a:latin typeface="Courier New" panose="02070309020205020404" pitchFamily="49" charset="0"/>
                <a:cs typeface="Courier New" panose="02070309020205020404" pitchFamily="49" charset="0"/>
              </a:rPr>
              <a:t>            nullable = false)</a:t>
            </a:r>
          </a:p>
          <a:p>
            <a:pPr marL="0" indent="0">
              <a:buNone/>
            </a:pPr>
            <a:r>
              <a:rPr lang="en-GB" sz="6400" b="1" noProof="0" dirty="0">
                <a:latin typeface="Courier New" panose="02070309020205020404" pitchFamily="49" charset="0"/>
                <a:cs typeface="Courier New" panose="02070309020205020404" pitchFamily="49" charset="0"/>
              </a:rPr>
              <a:t>  private Person person;</a:t>
            </a:r>
          </a:p>
          <a:p>
            <a:pPr marL="0" indent="0">
              <a:buNone/>
            </a:pPr>
            <a:r>
              <a:rPr lang="en-GB" sz="6400" b="1" noProof="0" dirty="0">
                <a:latin typeface="Courier New" panose="02070309020205020404" pitchFamily="49" charset="0"/>
                <a:cs typeface="Courier New" panose="02070309020205020404" pitchFamily="49" charset="0"/>
              </a:rPr>
              <a:t>}</a:t>
            </a:r>
          </a:p>
        </p:txBody>
      </p:sp>
      <p:sp>
        <p:nvSpPr>
          <p:cNvPr id="6" name="Rettangolo 5">
            <a:extLst>
              <a:ext uri="{FF2B5EF4-FFF2-40B4-BE49-F238E27FC236}">
                <a16:creationId xmlns:a16="http://schemas.microsoft.com/office/drawing/2014/main" id="{EDB47B14-98FA-21D6-2E60-6BB09FF52F59}"/>
              </a:ext>
            </a:extLst>
          </p:cNvPr>
          <p:cNvSpPr/>
          <p:nvPr/>
        </p:nvSpPr>
        <p:spPr bwMode="auto">
          <a:xfrm>
            <a:off x="4355976" y="1772816"/>
            <a:ext cx="4680520" cy="4536504"/>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4" name="Content Placeholder 2">
            <a:extLst>
              <a:ext uri="{FF2B5EF4-FFF2-40B4-BE49-F238E27FC236}">
                <a16:creationId xmlns:a16="http://schemas.microsoft.com/office/drawing/2014/main" id="{0E38D5EF-5689-9C7C-B09D-93692AB5455B}"/>
              </a:ext>
            </a:extLst>
          </p:cNvPr>
          <p:cNvSpPr txBox="1">
            <a:spLocks/>
          </p:cNvSpPr>
          <p:nvPr/>
        </p:nvSpPr>
        <p:spPr bwMode="auto">
          <a:xfrm>
            <a:off x="4427984" y="1269682"/>
            <a:ext cx="4608512" cy="5039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normAutofit lnSpcReduction="10000"/>
          </a:bodyPr>
          <a:lstStyle>
            <a:lvl1pPr marL="341313" indent="-341313" algn="l" defTabSz="457200" rtl="0" eaLnBrk="0" fontAlgn="base" hangingPunct="0">
              <a:lnSpc>
                <a:spcPct val="101000"/>
              </a:lnSpc>
              <a:spcBef>
                <a:spcPts val="800"/>
              </a:spcBef>
              <a:spcAft>
                <a:spcPct val="0"/>
              </a:spcAft>
              <a:buClr>
                <a:srgbClr val="000000"/>
              </a:buClr>
              <a:buSzPct val="100000"/>
              <a:buFont typeface="Wingdings" charset="0"/>
              <a:buChar char=""/>
              <a:defRPr sz="3200">
                <a:solidFill>
                  <a:srgbClr val="000000"/>
                </a:solidFill>
                <a:latin typeface="+mn-lt"/>
                <a:ea typeface="ＭＳ Ｐゴシック" charset="0"/>
                <a:cs typeface="+mn-cs"/>
              </a:defRPr>
            </a:lvl1pPr>
            <a:lvl2pPr marL="741363" indent="-284163" algn="l" defTabSz="457200" rtl="0" eaLnBrk="0" fontAlgn="base" hangingPunct="0">
              <a:lnSpc>
                <a:spcPct val="101000"/>
              </a:lnSpc>
              <a:spcBef>
                <a:spcPts val="700"/>
              </a:spcBef>
              <a:spcAft>
                <a:spcPct val="0"/>
              </a:spcAft>
              <a:buClr>
                <a:srgbClr val="000000"/>
              </a:buClr>
              <a:buSzPct val="80000"/>
              <a:buFont typeface="Symbol" charset="0"/>
              <a:buChar char=""/>
              <a:defRPr sz="2800">
                <a:solidFill>
                  <a:srgbClr val="000000"/>
                </a:solidFill>
                <a:latin typeface="+mn-lt"/>
                <a:ea typeface="Lucida Sans Unicode" pitchFamily="-110" charset="-52"/>
                <a:cs typeface="+mn-cs"/>
              </a:defRPr>
            </a:lvl2pPr>
            <a:lvl3pPr marL="1143000" indent="-228600" algn="l" defTabSz="457200" rtl="0" eaLnBrk="0" fontAlgn="base" hangingPunct="0">
              <a:lnSpc>
                <a:spcPct val="101000"/>
              </a:lnSpc>
              <a:spcBef>
                <a:spcPts val="600"/>
              </a:spcBef>
              <a:spcAft>
                <a:spcPct val="0"/>
              </a:spcAft>
              <a:buClr>
                <a:srgbClr val="000000"/>
              </a:buClr>
              <a:buSzPct val="100000"/>
              <a:buFont typeface="Symbol" charset="0"/>
              <a:buChar char=""/>
              <a:defRPr sz="2400">
                <a:solidFill>
                  <a:srgbClr val="000000"/>
                </a:solidFill>
                <a:latin typeface="+mn-lt"/>
                <a:ea typeface="Lucida Sans Unicode" pitchFamily="-110" charset="-52"/>
                <a:cs typeface="+mn-cs"/>
              </a:defRPr>
            </a:lvl3pPr>
            <a:lvl4pPr marL="16002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4pPr>
            <a:lvl5pPr marL="20574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5pPr>
            <a:lvl6pPr marL="25146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6pPr>
            <a:lvl7pPr marL="29718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7pPr>
            <a:lvl8pPr marL="34290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8pPr>
            <a:lvl9pPr marL="38862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9pPr>
          </a:lstStyle>
          <a:p>
            <a:pPr marL="0" indent="0">
              <a:buFont typeface="Wingdings" charset="0"/>
              <a:buNone/>
            </a:pPr>
            <a:r>
              <a:rPr lang="en-US" sz="2000" kern="0" dirty="0">
                <a:solidFill>
                  <a:schemeClr val="accent6">
                    <a:lumMod val="75000"/>
                  </a:schemeClr>
                </a:solidFill>
                <a:cs typeface="Courier New" panose="02070309020205020404" pitchFamily="49" charset="0"/>
              </a:rPr>
              <a:t>Inverse</a:t>
            </a:r>
            <a:r>
              <a:rPr lang="en-US" sz="2000" kern="0" dirty="0">
                <a:cs typeface="Courier New" panose="02070309020205020404" pitchFamily="49" charset="0"/>
              </a:rPr>
              <a:t> side</a:t>
            </a:r>
          </a:p>
          <a:p>
            <a:pPr marL="0" indent="0">
              <a:buNone/>
            </a:pPr>
            <a:endParaRPr lang="en-GB" sz="800" noProof="0" dirty="0">
              <a:latin typeface="Courier New" panose="02070309020205020404" pitchFamily="49" charset="0"/>
              <a:cs typeface="Courier New" panose="02070309020205020404" pitchFamily="49" charset="0"/>
            </a:endParaRPr>
          </a:p>
          <a:p>
            <a:pPr marL="0" indent="0">
              <a:buFont typeface="Wingdings" charset="0"/>
              <a:buNone/>
            </a:pPr>
            <a:r>
              <a:rPr lang="en-US" sz="1600" b="1" kern="0" dirty="0">
                <a:latin typeface="Courier New" panose="02070309020205020404" pitchFamily="49" charset="0"/>
                <a:cs typeface="Courier New" panose="02070309020205020404" pitchFamily="49" charset="0"/>
              </a:rPr>
              <a:t>@Entity</a:t>
            </a:r>
          </a:p>
          <a:p>
            <a:pPr marL="0" indent="0">
              <a:buFont typeface="Wingdings" charset="0"/>
              <a:buNone/>
            </a:pPr>
            <a:r>
              <a:rPr lang="en-US" sz="1600" b="1" kern="0" dirty="0">
                <a:latin typeface="Courier New" panose="02070309020205020404" pitchFamily="49" charset="0"/>
                <a:cs typeface="Courier New" panose="02070309020205020404" pitchFamily="49" charset="0"/>
              </a:rPr>
              <a:t>@Inheritance(</a:t>
            </a:r>
          </a:p>
          <a:p>
            <a:pPr marL="0" indent="0">
              <a:buFont typeface="Wingdings" charset="0"/>
              <a:buNone/>
            </a:pPr>
            <a:r>
              <a:rPr lang="en-US" sz="1600" b="1" kern="0" dirty="0">
                <a:latin typeface="Courier New" panose="02070309020205020404" pitchFamily="49" charset="0"/>
                <a:cs typeface="Courier New" panose="02070309020205020404" pitchFamily="49" charset="0"/>
              </a:rPr>
              <a:t> strategy = </a:t>
            </a:r>
            <a:r>
              <a:rPr lang="en-US" sz="1600" b="1" kern="0" dirty="0" err="1">
                <a:latin typeface="Courier New" panose="02070309020205020404" pitchFamily="49" charset="0"/>
                <a:cs typeface="Courier New" panose="02070309020205020404" pitchFamily="49" charset="0"/>
              </a:rPr>
              <a:t>InheritanceType.JOINED</a:t>
            </a:r>
            <a:r>
              <a:rPr lang="en-US" sz="1600" b="1" kern="0" dirty="0">
                <a:latin typeface="Courier New" panose="02070309020205020404" pitchFamily="49" charset="0"/>
                <a:cs typeface="Courier New" panose="02070309020205020404" pitchFamily="49" charset="0"/>
              </a:rPr>
              <a:t>)</a:t>
            </a:r>
          </a:p>
          <a:p>
            <a:pPr marL="0" indent="0">
              <a:buFont typeface="Wingdings" charset="0"/>
              <a:buNone/>
            </a:pPr>
            <a:r>
              <a:rPr lang="en-US" sz="1600" b="1" kern="0" dirty="0">
                <a:latin typeface="Courier New" panose="02070309020205020404" pitchFamily="49" charset="0"/>
                <a:cs typeface="Courier New" panose="02070309020205020404" pitchFamily="49" charset="0"/>
              </a:rPr>
              <a:t>@Table(name = "people")</a:t>
            </a:r>
          </a:p>
          <a:p>
            <a:pPr marL="0" indent="0">
              <a:buFont typeface="Wingdings" charset="0"/>
              <a:buNone/>
            </a:pPr>
            <a:r>
              <a:rPr lang="en-US" sz="1600" b="1" kern="0" dirty="0">
                <a:latin typeface="Courier New" panose="02070309020205020404" pitchFamily="49" charset="0"/>
                <a:cs typeface="Courier New" panose="02070309020205020404" pitchFamily="49" charset="0"/>
              </a:rPr>
              <a:t>public abstract class Person {</a:t>
            </a:r>
          </a:p>
          <a:p>
            <a:pPr marL="0" indent="0">
              <a:buFont typeface="Wingdings" charset="0"/>
              <a:buNone/>
            </a:pPr>
            <a:endParaRPr lang="en-US" sz="1600" b="1" kern="0" dirty="0">
              <a:latin typeface="Courier New" panose="02070309020205020404" pitchFamily="49" charset="0"/>
              <a:cs typeface="Courier New" panose="02070309020205020404" pitchFamily="49" charset="0"/>
            </a:endParaRPr>
          </a:p>
          <a:p>
            <a:pPr marL="0" indent="0">
              <a:buFont typeface="Wingdings" charset="0"/>
              <a:buNone/>
            </a:pPr>
            <a:r>
              <a:rPr lang="en-US" sz="1600" b="1" kern="0" dirty="0">
                <a:latin typeface="Courier New" panose="02070309020205020404" pitchFamily="49" charset="0"/>
                <a:cs typeface="Courier New" panose="02070309020205020404" pitchFamily="49" charset="0"/>
              </a:rPr>
              <a:t>    ...</a:t>
            </a:r>
          </a:p>
          <a:p>
            <a:pPr marL="0" indent="0">
              <a:buFont typeface="Wingdings" charset="0"/>
              <a:buNone/>
            </a:pPr>
            <a:endParaRPr lang="en-US" sz="1600" b="1" kern="0" dirty="0">
              <a:latin typeface="Courier New" panose="02070309020205020404" pitchFamily="49" charset="0"/>
              <a:cs typeface="Courier New" panose="02070309020205020404" pitchFamily="49" charset="0"/>
            </a:endParaRPr>
          </a:p>
          <a:p>
            <a:pPr marL="0" indent="0">
              <a:buFont typeface="Wingdings" charset="0"/>
              <a:buNone/>
            </a:pPr>
            <a:r>
              <a:rPr lang="en-US" sz="1600" b="1" kern="0" dirty="0">
                <a:solidFill>
                  <a:schemeClr val="accent6">
                    <a:lumMod val="75000"/>
                  </a:schemeClr>
                </a:solidFill>
                <a:latin typeface="Courier New" panose="02070309020205020404" pitchFamily="49" charset="0"/>
                <a:cs typeface="Courier New" panose="02070309020205020404" pitchFamily="49" charset="0"/>
              </a:rPr>
              <a:t>  @OneToOne(mappedBy = "person", </a:t>
            </a:r>
          </a:p>
          <a:p>
            <a:pPr marL="0" indent="0">
              <a:buFont typeface="Wingdings" charset="0"/>
              <a:buNone/>
            </a:pPr>
            <a:r>
              <a:rPr lang="en-US" sz="1600" b="1" kern="0" dirty="0">
                <a:solidFill>
                  <a:schemeClr val="accent6">
                    <a:lumMod val="75000"/>
                  </a:schemeClr>
                </a:solidFill>
                <a:latin typeface="Courier New" panose="02070309020205020404" pitchFamily="49" charset="0"/>
                <a:cs typeface="Courier New" panose="02070309020205020404" pitchFamily="49" charset="0"/>
              </a:rPr>
              <a:t>       cascade = </a:t>
            </a:r>
            <a:r>
              <a:rPr lang="en-US" sz="1600" b="1" kern="0" dirty="0" err="1">
                <a:solidFill>
                  <a:schemeClr val="accent6">
                    <a:lumMod val="75000"/>
                  </a:schemeClr>
                </a:solidFill>
                <a:latin typeface="Courier New" panose="02070309020205020404" pitchFamily="49" charset="0"/>
                <a:cs typeface="Courier New" panose="02070309020205020404" pitchFamily="49" charset="0"/>
              </a:rPr>
              <a:t>CascadeType.ALL</a:t>
            </a:r>
            <a:r>
              <a:rPr lang="en-US" sz="1600" b="1" kern="0" dirty="0">
                <a:solidFill>
                  <a:schemeClr val="accent6">
                    <a:lumMod val="75000"/>
                  </a:schemeClr>
                </a:solidFill>
                <a:latin typeface="Courier New" panose="02070309020205020404" pitchFamily="49" charset="0"/>
                <a:cs typeface="Courier New" panose="02070309020205020404" pitchFamily="49" charset="0"/>
              </a:rPr>
              <a:t>, </a:t>
            </a:r>
          </a:p>
          <a:p>
            <a:pPr marL="0" indent="0">
              <a:buFont typeface="Wingdings" charset="0"/>
              <a:buNone/>
            </a:pPr>
            <a:r>
              <a:rPr lang="en-US" sz="1600" b="1" kern="0" dirty="0">
                <a:solidFill>
                  <a:schemeClr val="accent6">
                    <a:lumMod val="75000"/>
                  </a:schemeClr>
                </a:solidFill>
                <a:latin typeface="Courier New" panose="02070309020205020404" pitchFamily="49" charset="0"/>
                <a:cs typeface="Courier New" panose="02070309020205020404" pitchFamily="49" charset="0"/>
              </a:rPr>
              <a:t>            </a:t>
            </a:r>
            <a:r>
              <a:rPr lang="en-US" sz="1600" b="1" kern="0" dirty="0" err="1">
                <a:solidFill>
                  <a:schemeClr val="accent6">
                    <a:lumMod val="75000"/>
                  </a:schemeClr>
                </a:solidFill>
                <a:latin typeface="Courier New" panose="02070309020205020404" pitchFamily="49" charset="0"/>
                <a:cs typeface="Courier New" panose="02070309020205020404" pitchFamily="49" charset="0"/>
              </a:rPr>
              <a:t>orphanRemoval</a:t>
            </a:r>
            <a:r>
              <a:rPr lang="en-US" sz="1600" b="1" kern="0" dirty="0">
                <a:solidFill>
                  <a:schemeClr val="accent6">
                    <a:lumMod val="75000"/>
                  </a:schemeClr>
                </a:solidFill>
                <a:latin typeface="Courier New" panose="02070309020205020404" pitchFamily="49" charset="0"/>
                <a:cs typeface="Courier New" panose="02070309020205020404" pitchFamily="49" charset="0"/>
              </a:rPr>
              <a:t> = true)</a:t>
            </a:r>
          </a:p>
          <a:p>
            <a:pPr marL="0" indent="0">
              <a:buFont typeface="Wingdings" charset="0"/>
              <a:buNone/>
            </a:pPr>
            <a:r>
              <a:rPr lang="en-US" sz="1600" b="1" kern="0" dirty="0">
                <a:latin typeface="Courier New" panose="02070309020205020404" pitchFamily="49" charset="0"/>
                <a:cs typeface="Courier New" panose="02070309020205020404" pitchFamily="49" charset="0"/>
              </a:rPr>
              <a:t>  private Passport passport;</a:t>
            </a:r>
          </a:p>
          <a:p>
            <a:pPr marL="0" indent="0">
              <a:buFont typeface="Wingdings" charset="0"/>
              <a:buNone/>
            </a:pPr>
            <a:r>
              <a:rPr lang="en-US" sz="1600" b="1"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3008038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54D8B-14B4-1F63-A450-CC1585A24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B32C45-FFD3-EB53-8D8E-02FA959D942E}"/>
              </a:ext>
            </a:extLst>
          </p:cNvPr>
          <p:cNvSpPr>
            <a:spLocks noGrp="1"/>
          </p:cNvSpPr>
          <p:nvPr>
            <p:ph type="title"/>
          </p:nvPr>
        </p:nvSpPr>
        <p:spPr/>
        <p:txBody>
          <a:bodyPr>
            <a:normAutofit/>
          </a:bodyPr>
          <a:lstStyle/>
          <a:p>
            <a:r>
              <a:rPr lang="en-GB" sz="3400" noProof="0" dirty="0" err="1"/>
              <a:t>OneToMany</a:t>
            </a:r>
            <a:r>
              <a:rPr lang="en-GB" sz="3400" noProof="0" dirty="0"/>
              <a:t>/</a:t>
            </a:r>
            <a:r>
              <a:rPr lang="en-GB" sz="3400" noProof="0" dirty="0" err="1"/>
              <a:t>ManyToOne</a:t>
            </a:r>
            <a:r>
              <a:rPr lang="en-GB" sz="3400" noProof="0" dirty="0"/>
              <a:t> relationships</a:t>
            </a:r>
          </a:p>
        </p:txBody>
      </p:sp>
      <p:sp>
        <p:nvSpPr>
          <p:cNvPr id="3" name="Content Placeholder 2">
            <a:extLst>
              <a:ext uri="{FF2B5EF4-FFF2-40B4-BE49-F238E27FC236}">
                <a16:creationId xmlns:a16="http://schemas.microsoft.com/office/drawing/2014/main" id="{2BD7B3D7-6B54-DF19-0D9E-EBDF8A74D608}"/>
              </a:ext>
            </a:extLst>
          </p:cNvPr>
          <p:cNvSpPr>
            <a:spLocks noGrp="1"/>
          </p:cNvSpPr>
          <p:nvPr>
            <p:ph idx="1"/>
          </p:nvPr>
        </p:nvSpPr>
        <p:spPr>
          <a:xfrm>
            <a:off x="539552" y="1268760"/>
            <a:ext cx="8424936" cy="5040560"/>
          </a:xfrm>
        </p:spPr>
        <p:txBody>
          <a:bodyPr>
            <a:normAutofit fontScale="70000" lnSpcReduction="20000"/>
          </a:bodyPr>
          <a:lstStyle/>
          <a:p>
            <a:r>
              <a:rPr lang="en-GB" noProof="0" dirty="0"/>
              <a:t>A One-to-Many (@</a:t>
            </a:r>
            <a:r>
              <a:rPr lang="en-GB" noProof="0" dirty="0" err="1"/>
              <a:t>OneToMany</a:t>
            </a:r>
            <a:r>
              <a:rPr lang="en-GB" noProof="0" dirty="0"/>
              <a:t>) means that one entity is related to multiple instances of another entity.</a:t>
            </a:r>
          </a:p>
          <a:p>
            <a:r>
              <a:rPr lang="en-GB" noProof="0" dirty="0"/>
              <a:t>A Many-to-One (@</a:t>
            </a:r>
            <a:r>
              <a:rPr lang="en-GB" noProof="0" dirty="0" err="1"/>
              <a:t>ManyToOne</a:t>
            </a:r>
            <a:r>
              <a:rPr lang="en-GB" noProof="0" dirty="0"/>
              <a:t>) means that multiple instances of one entity reference a single instance of another entity.</a:t>
            </a:r>
          </a:p>
          <a:p>
            <a:r>
              <a:rPr lang="en-GB" noProof="0" dirty="0"/>
              <a:t>These two annotations represent the same database relationship, just seen from different perspectives.</a:t>
            </a:r>
          </a:p>
          <a:p>
            <a:r>
              <a:rPr lang="en-GB" noProof="0" dirty="0"/>
              <a:t>@</a:t>
            </a:r>
            <a:r>
              <a:rPr lang="en-GB" noProof="0" dirty="0" err="1"/>
              <a:t>ManyToOne</a:t>
            </a:r>
            <a:r>
              <a:rPr lang="en-GB" noProof="0" dirty="0"/>
              <a:t> - Owner Side</a:t>
            </a:r>
          </a:p>
          <a:p>
            <a:pPr lvl="1"/>
            <a:r>
              <a:rPr lang="en-GB" noProof="0" dirty="0"/>
              <a:t>This side contains the foreign key column in the database</a:t>
            </a:r>
          </a:p>
          <a:p>
            <a:pPr lvl="1"/>
            <a:r>
              <a:rPr lang="en-GB" noProof="0" dirty="0"/>
              <a:t>This is where the relationship is actually managed</a:t>
            </a:r>
          </a:p>
          <a:p>
            <a:pPr lvl="1"/>
            <a:r>
              <a:rPr lang="en-GB" noProof="0" dirty="0"/>
              <a:t>Default </a:t>
            </a:r>
            <a:r>
              <a:rPr lang="en-GB" noProof="0" dirty="0" err="1"/>
              <a:t>FetchType.EAGER</a:t>
            </a:r>
            <a:endParaRPr lang="en-GB" noProof="0" dirty="0"/>
          </a:p>
          <a:p>
            <a:r>
              <a:rPr lang="en-GB" noProof="0" dirty="0"/>
              <a:t>@</a:t>
            </a:r>
            <a:r>
              <a:rPr lang="en-GB" noProof="0" dirty="0" err="1"/>
              <a:t>OneToMany</a:t>
            </a:r>
            <a:r>
              <a:rPr lang="en-GB" noProof="0" dirty="0"/>
              <a:t> - Inverse Side</a:t>
            </a:r>
          </a:p>
          <a:p>
            <a:pPr lvl="1"/>
            <a:r>
              <a:rPr lang="en-GB" noProof="0" dirty="0"/>
              <a:t>Uses </a:t>
            </a:r>
            <a:r>
              <a:rPr lang="en-GB" noProof="0" dirty="0" err="1"/>
              <a:t>mappedBy</a:t>
            </a:r>
            <a:r>
              <a:rPr lang="en-GB" noProof="0" dirty="0"/>
              <a:t> to reference the owner</a:t>
            </a:r>
          </a:p>
          <a:p>
            <a:pPr lvl="1"/>
            <a:r>
              <a:rPr lang="en-GB" noProof="0" dirty="0"/>
              <a:t>Does not create an additional foreign key column</a:t>
            </a:r>
          </a:p>
          <a:p>
            <a:pPr lvl="1"/>
            <a:r>
              <a:rPr lang="en-GB" noProof="0" dirty="0"/>
              <a:t>Default </a:t>
            </a:r>
            <a:r>
              <a:rPr lang="en-GB" noProof="0" dirty="0" err="1"/>
              <a:t>FetchType.LAZY</a:t>
            </a:r>
            <a:endParaRPr lang="en-GB" noProof="0" dirty="0"/>
          </a:p>
        </p:txBody>
      </p:sp>
    </p:spTree>
    <p:extLst>
      <p:ext uri="{BB962C8B-B14F-4D97-AF65-F5344CB8AC3E}">
        <p14:creationId xmlns:p14="http://schemas.microsoft.com/office/powerpoint/2010/main" val="253855916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46B4-C446-E1CC-DEC8-EDBE40FC9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0BD9E-E7D8-42B6-5764-06A442416EA6}"/>
              </a:ext>
            </a:extLst>
          </p:cNvPr>
          <p:cNvSpPr>
            <a:spLocks noGrp="1"/>
          </p:cNvSpPr>
          <p:nvPr>
            <p:ph type="title"/>
          </p:nvPr>
        </p:nvSpPr>
        <p:spPr/>
        <p:txBody>
          <a:bodyPr/>
          <a:lstStyle/>
          <a:p>
            <a:r>
              <a:rPr lang="en-GB" sz="3400" noProof="0" dirty="0" err="1"/>
              <a:t>OneToMany</a:t>
            </a:r>
            <a:r>
              <a:rPr lang="en-GB" sz="3400" noProof="0" dirty="0"/>
              <a:t>/</a:t>
            </a:r>
            <a:r>
              <a:rPr lang="en-GB" sz="3400" noProof="0" dirty="0" err="1"/>
              <a:t>ManyToOne</a:t>
            </a:r>
            <a:r>
              <a:rPr lang="en-GB" sz="3400" noProof="0" dirty="0"/>
              <a:t> relationships</a:t>
            </a:r>
          </a:p>
        </p:txBody>
      </p:sp>
      <p:sp>
        <p:nvSpPr>
          <p:cNvPr id="8" name="Rettangolo 7">
            <a:extLst>
              <a:ext uri="{FF2B5EF4-FFF2-40B4-BE49-F238E27FC236}">
                <a16:creationId xmlns:a16="http://schemas.microsoft.com/office/drawing/2014/main" id="{89540106-FEE0-60CA-2C14-AA032973EFE0}"/>
              </a:ext>
            </a:extLst>
          </p:cNvPr>
          <p:cNvSpPr/>
          <p:nvPr/>
        </p:nvSpPr>
        <p:spPr bwMode="auto">
          <a:xfrm>
            <a:off x="206702" y="1733825"/>
            <a:ext cx="5661442" cy="2415255"/>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8359661C-D84E-A564-7C7A-8AACD05D8D79}"/>
              </a:ext>
            </a:extLst>
          </p:cNvPr>
          <p:cNvSpPr>
            <a:spLocks noGrp="1"/>
          </p:cNvSpPr>
          <p:nvPr>
            <p:ph idx="1"/>
          </p:nvPr>
        </p:nvSpPr>
        <p:spPr>
          <a:xfrm>
            <a:off x="228600" y="1268760"/>
            <a:ext cx="6215608" cy="2880320"/>
          </a:xfrm>
        </p:spPr>
        <p:txBody>
          <a:bodyPr>
            <a:normAutofit fontScale="62500" lnSpcReduction="20000"/>
          </a:bodyPr>
          <a:lstStyle/>
          <a:p>
            <a:pPr marL="0" indent="0">
              <a:buNone/>
            </a:pPr>
            <a:r>
              <a:rPr lang="en-GB" sz="3800" noProof="0" dirty="0">
                <a:solidFill>
                  <a:schemeClr val="accent6">
                    <a:lumMod val="75000"/>
                  </a:schemeClr>
                </a:solidFill>
                <a:cs typeface="Courier New" panose="02070309020205020404" pitchFamily="49" charset="0"/>
              </a:rPr>
              <a:t>Owner</a:t>
            </a:r>
            <a:r>
              <a:rPr lang="en-GB" sz="3800" noProof="0" dirty="0">
                <a:cs typeface="Courier New" panose="02070309020205020404" pitchFamily="49" charset="0"/>
              </a:rPr>
              <a:t> side</a:t>
            </a:r>
          </a:p>
          <a:p>
            <a:pPr marL="0" indent="0">
              <a:buNone/>
            </a:pPr>
            <a:endParaRPr lang="en-GB" sz="1300" noProof="0" dirty="0">
              <a:latin typeface="Courier New" panose="02070309020205020404" pitchFamily="49" charset="0"/>
              <a:cs typeface="Courier New" panose="02070309020205020404" pitchFamily="49" charset="0"/>
            </a:endParaRPr>
          </a:p>
          <a:p>
            <a:pPr marL="0" indent="0">
              <a:spcBef>
                <a:spcPts val="200"/>
              </a:spcBef>
              <a:buNone/>
            </a:pPr>
            <a:r>
              <a:rPr lang="en-GB" sz="2900" b="1" noProof="0" dirty="0">
                <a:latin typeface="Courier New" panose="02070309020205020404" pitchFamily="49" charset="0"/>
                <a:cs typeface="Courier New" panose="02070309020205020404" pitchFamily="49" charset="0"/>
              </a:rPr>
              <a:t>@Entity</a:t>
            </a:r>
          </a:p>
          <a:p>
            <a:pPr marL="0" indent="0">
              <a:spcBef>
                <a:spcPts val="200"/>
              </a:spcBef>
              <a:buNone/>
            </a:pPr>
            <a:r>
              <a:rPr lang="en-GB" sz="2900" b="1" noProof="0" dirty="0">
                <a:latin typeface="Courier New" panose="02070309020205020404" pitchFamily="49" charset="0"/>
                <a:cs typeface="Courier New" panose="02070309020205020404" pitchFamily="49" charset="0"/>
              </a:rPr>
              <a:t>@Table(name = "flights")</a:t>
            </a:r>
          </a:p>
          <a:p>
            <a:pPr marL="0" indent="0">
              <a:spcBef>
                <a:spcPts val="200"/>
              </a:spcBef>
              <a:buNone/>
            </a:pPr>
            <a:r>
              <a:rPr lang="en-GB" sz="2900" b="1" noProof="0" dirty="0">
                <a:latin typeface="Courier New" panose="02070309020205020404" pitchFamily="49" charset="0"/>
                <a:cs typeface="Courier New" panose="02070309020205020404" pitchFamily="49" charset="0"/>
              </a:rPr>
              <a:t>public class Flight {</a:t>
            </a:r>
          </a:p>
          <a:p>
            <a:pPr marL="0" indent="0">
              <a:spcBef>
                <a:spcPts val="200"/>
              </a:spcBef>
              <a:buNone/>
            </a:pPr>
            <a:r>
              <a:rPr lang="en-GB" sz="2900" b="1" noProof="0" dirty="0">
                <a:latin typeface="Courier New" panose="02070309020205020404" pitchFamily="49" charset="0"/>
                <a:cs typeface="Courier New" panose="02070309020205020404" pitchFamily="49" charset="0"/>
              </a:rPr>
              <a:t>    ...</a:t>
            </a:r>
          </a:p>
          <a:p>
            <a:pPr marL="0" indent="0">
              <a:spcBef>
                <a:spcPts val="200"/>
              </a:spcBef>
              <a:buNone/>
            </a:pPr>
            <a:r>
              <a:rPr lang="en-GB" sz="2900" b="1" noProof="0" dirty="0">
                <a:latin typeface="Courier New" panose="02070309020205020404" pitchFamily="49" charset="0"/>
                <a:cs typeface="Courier New" panose="02070309020205020404" pitchFamily="49" charset="0"/>
              </a:rPr>
              <a:t>  </a:t>
            </a:r>
            <a:r>
              <a:rPr lang="en-GB" sz="2900" b="1" noProof="0" dirty="0">
                <a:solidFill>
                  <a:schemeClr val="accent6">
                    <a:lumMod val="75000"/>
                  </a:schemeClr>
                </a:solidFill>
                <a:latin typeface="Courier New" panose="02070309020205020404" pitchFamily="49" charset="0"/>
                <a:cs typeface="Courier New" panose="02070309020205020404" pitchFamily="49" charset="0"/>
              </a:rPr>
              <a:t>@</a:t>
            </a:r>
            <a:r>
              <a:rPr lang="en-GB" sz="2900" b="1" noProof="0" dirty="0" err="1">
                <a:solidFill>
                  <a:schemeClr val="accent6">
                    <a:lumMod val="75000"/>
                  </a:schemeClr>
                </a:solidFill>
                <a:latin typeface="Courier New" panose="02070309020205020404" pitchFamily="49" charset="0"/>
                <a:cs typeface="Courier New" panose="02070309020205020404" pitchFamily="49" charset="0"/>
              </a:rPr>
              <a:t>ManyToOne</a:t>
            </a:r>
            <a:endParaRPr lang="en-GB" sz="2900" b="1" noProof="0" dirty="0">
              <a:solidFill>
                <a:schemeClr val="accent6">
                  <a:lumMod val="75000"/>
                </a:schemeClr>
              </a:solidFill>
              <a:latin typeface="Courier New" panose="02070309020205020404" pitchFamily="49" charset="0"/>
              <a:cs typeface="Courier New" panose="02070309020205020404" pitchFamily="49" charset="0"/>
            </a:endParaRPr>
          </a:p>
          <a:p>
            <a:pPr marL="0" indent="0">
              <a:spcBef>
                <a:spcPts val="200"/>
              </a:spcBef>
              <a:buNone/>
            </a:pPr>
            <a:r>
              <a:rPr lang="en-GB" sz="2900" b="1" noProof="0" dirty="0">
                <a:solidFill>
                  <a:schemeClr val="accent6">
                    <a:lumMod val="75000"/>
                  </a:schemeClr>
                </a:solidFill>
                <a:latin typeface="Courier New" panose="02070309020205020404" pitchFamily="49" charset="0"/>
                <a:cs typeface="Courier New" panose="02070309020205020404" pitchFamily="49" charset="0"/>
              </a:rPr>
              <a:t>  @</a:t>
            </a:r>
            <a:r>
              <a:rPr lang="en-GB" sz="2900" b="1" noProof="0" dirty="0" err="1">
                <a:solidFill>
                  <a:schemeClr val="accent6">
                    <a:lumMod val="75000"/>
                  </a:schemeClr>
                </a:solidFill>
                <a:latin typeface="Courier New" panose="02070309020205020404" pitchFamily="49" charset="0"/>
                <a:cs typeface="Courier New" panose="02070309020205020404" pitchFamily="49" charset="0"/>
              </a:rPr>
              <a:t>JoinColumn</a:t>
            </a:r>
            <a:r>
              <a:rPr lang="en-GB" sz="2900" b="1" noProof="0" dirty="0">
                <a:solidFill>
                  <a:schemeClr val="accent6">
                    <a:lumMod val="75000"/>
                  </a:schemeClr>
                </a:solidFill>
                <a:latin typeface="Courier New" panose="02070309020205020404" pitchFamily="49" charset="0"/>
                <a:cs typeface="Courier New" panose="02070309020205020404" pitchFamily="49" charset="0"/>
              </a:rPr>
              <a:t>(name="</a:t>
            </a:r>
            <a:r>
              <a:rPr lang="en-GB" sz="2900" b="1" noProof="0" dirty="0" err="1">
                <a:solidFill>
                  <a:schemeClr val="accent6">
                    <a:lumMod val="75000"/>
                  </a:schemeClr>
                </a:solidFill>
                <a:latin typeface="Courier New" panose="02070309020205020404" pitchFamily="49" charset="0"/>
                <a:cs typeface="Courier New" panose="02070309020205020404" pitchFamily="49" charset="0"/>
              </a:rPr>
              <a:t>airplane_id</a:t>
            </a:r>
            <a:r>
              <a:rPr lang="en-GB" sz="2900" b="1" noProof="0" dirty="0">
                <a:solidFill>
                  <a:schemeClr val="accent6">
                    <a:lumMod val="75000"/>
                  </a:schemeClr>
                </a:solidFill>
                <a:latin typeface="Courier New" panose="02070309020205020404" pitchFamily="49" charset="0"/>
                <a:cs typeface="Courier New" panose="02070309020205020404" pitchFamily="49" charset="0"/>
              </a:rPr>
              <a:t>", </a:t>
            </a:r>
          </a:p>
          <a:p>
            <a:pPr marL="0" indent="0">
              <a:spcBef>
                <a:spcPts val="200"/>
              </a:spcBef>
              <a:buNone/>
            </a:pPr>
            <a:r>
              <a:rPr lang="en-GB" sz="2900" b="1" noProof="0" dirty="0">
                <a:solidFill>
                  <a:schemeClr val="accent6">
                    <a:lumMod val="75000"/>
                  </a:schemeClr>
                </a:solidFill>
                <a:latin typeface="Courier New" panose="02070309020205020404" pitchFamily="49" charset="0"/>
                <a:cs typeface="Courier New" panose="02070309020205020404" pitchFamily="49" charset="0"/>
              </a:rPr>
              <a:t>              nullable=false)</a:t>
            </a:r>
          </a:p>
          <a:p>
            <a:pPr marL="0" indent="0">
              <a:spcBef>
                <a:spcPts val="200"/>
              </a:spcBef>
              <a:buNone/>
            </a:pPr>
            <a:r>
              <a:rPr lang="en-GB" sz="2900" b="1" noProof="0" dirty="0">
                <a:latin typeface="Courier New" panose="02070309020205020404" pitchFamily="49" charset="0"/>
                <a:cs typeface="Courier New" panose="02070309020205020404" pitchFamily="49" charset="0"/>
              </a:rPr>
              <a:t>  private Airplane airplane;</a:t>
            </a:r>
          </a:p>
          <a:p>
            <a:pPr marL="0" indent="0">
              <a:spcBef>
                <a:spcPts val="200"/>
              </a:spcBef>
              <a:buNone/>
            </a:pPr>
            <a:r>
              <a:rPr lang="en-GB" sz="2900" b="1" noProof="0" dirty="0">
                <a:latin typeface="Courier New" panose="02070309020205020404" pitchFamily="49" charset="0"/>
                <a:cs typeface="Courier New" panose="02070309020205020404" pitchFamily="49" charset="0"/>
              </a:rPr>
              <a:t>}</a:t>
            </a:r>
          </a:p>
        </p:txBody>
      </p:sp>
      <p:sp>
        <p:nvSpPr>
          <p:cNvPr id="9" name="Rettangolo 8">
            <a:extLst>
              <a:ext uri="{FF2B5EF4-FFF2-40B4-BE49-F238E27FC236}">
                <a16:creationId xmlns:a16="http://schemas.microsoft.com/office/drawing/2014/main" id="{AC0A31E0-4E75-325F-88FA-1323A3487596}"/>
              </a:ext>
            </a:extLst>
          </p:cNvPr>
          <p:cNvSpPr/>
          <p:nvPr/>
        </p:nvSpPr>
        <p:spPr bwMode="auto">
          <a:xfrm>
            <a:off x="4087887" y="3861048"/>
            <a:ext cx="5056113" cy="2544824"/>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7" name="Content Placeholder 2">
            <a:extLst>
              <a:ext uri="{FF2B5EF4-FFF2-40B4-BE49-F238E27FC236}">
                <a16:creationId xmlns:a16="http://schemas.microsoft.com/office/drawing/2014/main" id="{782A9759-174D-7B5C-066F-88437D220FA3}"/>
              </a:ext>
            </a:extLst>
          </p:cNvPr>
          <p:cNvSpPr txBox="1">
            <a:spLocks/>
          </p:cNvSpPr>
          <p:nvPr/>
        </p:nvSpPr>
        <p:spPr bwMode="auto">
          <a:xfrm>
            <a:off x="4067944" y="3212976"/>
            <a:ext cx="4968552" cy="31928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normAutofit/>
          </a:bodyPr>
          <a:lstStyle>
            <a:lvl1pPr marL="341313" indent="-341313" algn="l" defTabSz="457200" rtl="0" eaLnBrk="0" fontAlgn="base" hangingPunct="0">
              <a:lnSpc>
                <a:spcPct val="101000"/>
              </a:lnSpc>
              <a:spcBef>
                <a:spcPts val="800"/>
              </a:spcBef>
              <a:spcAft>
                <a:spcPct val="0"/>
              </a:spcAft>
              <a:buClr>
                <a:srgbClr val="000000"/>
              </a:buClr>
              <a:buSzPct val="100000"/>
              <a:buFont typeface="Wingdings" charset="0"/>
              <a:buChar char=""/>
              <a:defRPr sz="3200">
                <a:solidFill>
                  <a:srgbClr val="000000"/>
                </a:solidFill>
                <a:latin typeface="+mn-lt"/>
                <a:ea typeface="ＭＳ Ｐゴシック" charset="0"/>
                <a:cs typeface="+mn-cs"/>
              </a:defRPr>
            </a:lvl1pPr>
            <a:lvl2pPr marL="741363" indent="-284163" algn="l" defTabSz="457200" rtl="0" eaLnBrk="0" fontAlgn="base" hangingPunct="0">
              <a:lnSpc>
                <a:spcPct val="101000"/>
              </a:lnSpc>
              <a:spcBef>
                <a:spcPts val="700"/>
              </a:spcBef>
              <a:spcAft>
                <a:spcPct val="0"/>
              </a:spcAft>
              <a:buClr>
                <a:srgbClr val="000000"/>
              </a:buClr>
              <a:buSzPct val="80000"/>
              <a:buFont typeface="Symbol" charset="0"/>
              <a:buChar char=""/>
              <a:defRPr sz="2800">
                <a:solidFill>
                  <a:srgbClr val="000000"/>
                </a:solidFill>
                <a:latin typeface="+mn-lt"/>
                <a:ea typeface="Lucida Sans Unicode" pitchFamily="-110" charset="-52"/>
                <a:cs typeface="+mn-cs"/>
              </a:defRPr>
            </a:lvl2pPr>
            <a:lvl3pPr marL="1143000" indent="-228600" algn="l" defTabSz="457200" rtl="0" eaLnBrk="0" fontAlgn="base" hangingPunct="0">
              <a:lnSpc>
                <a:spcPct val="101000"/>
              </a:lnSpc>
              <a:spcBef>
                <a:spcPts val="600"/>
              </a:spcBef>
              <a:spcAft>
                <a:spcPct val="0"/>
              </a:spcAft>
              <a:buClr>
                <a:srgbClr val="000000"/>
              </a:buClr>
              <a:buSzPct val="100000"/>
              <a:buFont typeface="Symbol" charset="0"/>
              <a:buChar char=""/>
              <a:defRPr sz="2400">
                <a:solidFill>
                  <a:srgbClr val="000000"/>
                </a:solidFill>
                <a:latin typeface="+mn-lt"/>
                <a:ea typeface="Lucida Sans Unicode" pitchFamily="-110" charset="-52"/>
                <a:cs typeface="+mn-cs"/>
              </a:defRPr>
            </a:lvl3pPr>
            <a:lvl4pPr marL="16002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4pPr>
            <a:lvl5pPr marL="20574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5pPr>
            <a:lvl6pPr marL="25146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6pPr>
            <a:lvl7pPr marL="29718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7pPr>
            <a:lvl8pPr marL="34290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8pPr>
            <a:lvl9pPr marL="38862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9pPr>
          </a:lstStyle>
          <a:p>
            <a:pPr marL="0" indent="0" algn="r">
              <a:buFont typeface="Wingdings" charset="0"/>
              <a:buNone/>
            </a:pPr>
            <a:r>
              <a:rPr lang="en-US" sz="2600" kern="0" dirty="0">
                <a:solidFill>
                  <a:schemeClr val="accent6">
                    <a:lumMod val="75000"/>
                  </a:schemeClr>
                </a:solidFill>
                <a:cs typeface="Courier New" panose="02070309020205020404" pitchFamily="49" charset="0"/>
              </a:rPr>
              <a:t>Inverse</a:t>
            </a:r>
            <a:r>
              <a:rPr lang="en-US" sz="2600" kern="0" dirty="0">
                <a:cs typeface="Courier New" panose="02070309020205020404" pitchFamily="49" charset="0"/>
              </a:rPr>
              <a:t> side</a:t>
            </a:r>
          </a:p>
          <a:p>
            <a:pPr marL="0" indent="0">
              <a:buFont typeface="Wingdings" charset="0"/>
              <a:buNone/>
            </a:pPr>
            <a:endParaRPr lang="en-US" sz="800" kern="0" dirty="0">
              <a:latin typeface="Courier New" panose="02070309020205020404" pitchFamily="49" charset="0"/>
              <a:cs typeface="Courier New" panose="02070309020205020404" pitchFamily="49" charset="0"/>
            </a:endParaRPr>
          </a:p>
          <a:p>
            <a:pPr marL="0" indent="0">
              <a:spcBef>
                <a:spcPts val="200"/>
              </a:spcBef>
              <a:buFont typeface="Wingdings" charset="0"/>
              <a:buNone/>
            </a:pPr>
            <a:r>
              <a:rPr lang="en-US" sz="1800" b="1" kern="0" dirty="0">
                <a:latin typeface="Courier New" panose="02070309020205020404" pitchFamily="49" charset="0"/>
                <a:cs typeface="Courier New" panose="02070309020205020404" pitchFamily="49" charset="0"/>
              </a:rPr>
              <a:t>@Entity</a:t>
            </a:r>
          </a:p>
          <a:p>
            <a:pPr marL="0" indent="0">
              <a:spcBef>
                <a:spcPts val="200"/>
              </a:spcBef>
              <a:buFont typeface="Wingdings" charset="0"/>
              <a:buNone/>
            </a:pPr>
            <a:r>
              <a:rPr lang="en-US" sz="1800" b="1" kern="0" dirty="0">
                <a:latin typeface="Courier New" panose="02070309020205020404" pitchFamily="49" charset="0"/>
                <a:cs typeface="Courier New" panose="02070309020205020404" pitchFamily="49" charset="0"/>
              </a:rPr>
              <a:t>@Table(name = "airplanes")</a:t>
            </a:r>
          </a:p>
          <a:p>
            <a:pPr marL="0" indent="0">
              <a:spcBef>
                <a:spcPts val="200"/>
              </a:spcBef>
              <a:buFont typeface="Wingdings" charset="0"/>
              <a:buNone/>
            </a:pPr>
            <a:r>
              <a:rPr lang="en-US" sz="1800" b="1" kern="0" dirty="0">
                <a:latin typeface="Courier New" panose="02070309020205020404" pitchFamily="49" charset="0"/>
                <a:cs typeface="Courier New" panose="02070309020205020404" pitchFamily="49" charset="0"/>
              </a:rPr>
              <a:t>public class Airplane {</a:t>
            </a:r>
          </a:p>
          <a:p>
            <a:pPr marL="0" indent="0">
              <a:spcBef>
                <a:spcPts val="200"/>
              </a:spcBef>
              <a:buFont typeface="Wingdings" charset="0"/>
              <a:buNone/>
            </a:pPr>
            <a:r>
              <a:rPr lang="en-US" sz="1800" b="1" kern="0" dirty="0">
                <a:latin typeface="Courier New" panose="02070309020205020404" pitchFamily="49" charset="0"/>
                <a:cs typeface="Courier New" panose="02070309020205020404" pitchFamily="49" charset="0"/>
              </a:rPr>
              <a:t>  //...</a:t>
            </a:r>
          </a:p>
          <a:p>
            <a:pPr marL="0" indent="0">
              <a:spcBef>
                <a:spcPts val="200"/>
              </a:spcBef>
              <a:buFont typeface="Wingdings" charset="0"/>
              <a:buNone/>
            </a:pPr>
            <a:endParaRPr lang="en-US" sz="1800" b="1" kern="0" dirty="0">
              <a:latin typeface="Courier New" panose="02070309020205020404" pitchFamily="49" charset="0"/>
              <a:cs typeface="Courier New" panose="02070309020205020404" pitchFamily="49" charset="0"/>
            </a:endParaRPr>
          </a:p>
          <a:p>
            <a:pPr marL="0" indent="0">
              <a:spcBef>
                <a:spcPts val="200"/>
              </a:spcBef>
              <a:buFont typeface="Wingdings" charset="0"/>
              <a:buNone/>
            </a:pPr>
            <a:r>
              <a:rPr lang="en-US" sz="1800" b="1" kern="0" dirty="0">
                <a:solidFill>
                  <a:schemeClr val="accent6">
                    <a:lumMod val="75000"/>
                  </a:schemeClr>
                </a:solidFill>
                <a:latin typeface="Courier New" panose="02070309020205020404" pitchFamily="49" charset="0"/>
                <a:cs typeface="Courier New" panose="02070309020205020404" pitchFamily="49" charset="0"/>
              </a:rPr>
              <a:t>  @OneToMany(</a:t>
            </a:r>
            <a:r>
              <a:rPr lang="en-US" sz="1800" b="1" kern="0" dirty="0" err="1">
                <a:solidFill>
                  <a:schemeClr val="accent6">
                    <a:lumMod val="75000"/>
                  </a:schemeClr>
                </a:solidFill>
                <a:latin typeface="Courier New" panose="02070309020205020404" pitchFamily="49" charset="0"/>
                <a:cs typeface="Courier New" panose="02070309020205020404" pitchFamily="49" charset="0"/>
              </a:rPr>
              <a:t>mappedBy</a:t>
            </a:r>
            <a:r>
              <a:rPr lang="en-US" sz="1800" b="1" kern="0" dirty="0">
                <a:solidFill>
                  <a:schemeClr val="accent6">
                    <a:lumMod val="75000"/>
                  </a:schemeClr>
                </a:solidFill>
                <a:latin typeface="Courier New" panose="02070309020205020404" pitchFamily="49" charset="0"/>
                <a:cs typeface="Courier New" panose="02070309020205020404" pitchFamily="49" charset="0"/>
              </a:rPr>
              <a:t>="airplane")</a:t>
            </a:r>
          </a:p>
          <a:p>
            <a:pPr marL="0" indent="0">
              <a:spcBef>
                <a:spcPts val="200"/>
              </a:spcBef>
              <a:buFont typeface="Wingdings" charset="0"/>
              <a:buNone/>
            </a:pPr>
            <a:r>
              <a:rPr lang="en-US" sz="1800" b="1" kern="0" dirty="0">
                <a:latin typeface="Courier New" panose="02070309020205020404" pitchFamily="49" charset="0"/>
                <a:cs typeface="Courier New" panose="02070309020205020404" pitchFamily="49" charset="0"/>
              </a:rPr>
              <a:t>  private Set&lt;Flight&gt; flights;</a:t>
            </a:r>
          </a:p>
          <a:p>
            <a:pPr marL="0" indent="0">
              <a:spcBef>
                <a:spcPts val="200"/>
              </a:spcBef>
              <a:buFont typeface="Wingdings" charset="0"/>
              <a:buNone/>
            </a:pPr>
            <a:r>
              <a:rPr lang="en-US" sz="1800" b="1"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3958969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E4D50-6CA6-EB4D-8F9F-FB66441F8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A04D7-A374-22DD-22D1-0CC00C201374}"/>
              </a:ext>
            </a:extLst>
          </p:cNvPr>
          <p:cNvSpPr>
            <a:spLocks noGrp="1"/>
          </p:cNvSpPr>
          <p:nvPr>
            <p:ph type="title"/>
          </p:nvPr>
        </p:nvSpPr>
        <p:spPr/>
        <p:txBody>
          <a:bodyPr/>
          <a:lstStyle/>
          <a:p>
            <a:r>
              <a:rPr lang="en-GB" noProof="0" dirty="0" err="1"/>
              <a:t>ManyToMany</a:t>
            </a:r>
            <a:r>
              <a:rPr lang="en-GB" noProof="0" dirty="0"/>
              <a:t> relationships</a:t>
            </a:r>
          </a:p>
        </p:txBody>
      </p:sp>
      <p:sp>
        <p:nvSpPr>
          <p:cNvPr id="3" name="Content Placeholder 2">
            <a:extLst>
              <a:ext uri="{FF2B5EF4-FFF2-40B4-BE49-F238E27FC236}">
                <a16:creationId xmlns:a16="http://schemas.microsoft.com/office/drawing/2014/main" id="{0B56FC90-BE00-AFCD-87BA-D5EB009B923B}"/>
              </a:ext>
            </a:extLst>
          </p:cNvPr>
          <p:cNvSpPr>
            <a:spLocks noGrp="1"/>
          </p:cNvSpPr>
          <p:nvPr>
            <p:ph idx="1"/>
          </p:nvPr>
        </p:nvSpPr>
        <p:spPr>
          <a:xfrm>
            <a:off x="539552" y="1268760"/>
            <a:ext cx="8424936" cy="5040560"/>
          </a:xfrm>
        </p:spPr>
        <p:txBody>
          <a:bodyPr>
            <a:normAutofit fontScale="62500" lnSpcReduction="20000"/>
          </a:bodyPr>
          <a:lstStyle/>
          <a:p>
            <a:r>
              <a:rPr lang="en-GB" noProof="0" dirty="0"/>
              <a:t>A Many-to-Many relationship means that multiple instances of one entity are associated with multiple instances of another entity</a:t>
            </a:r>
          </a:p>
          <a:p>
            <a:r>
              <a:rPr lang="en-GB" noProof="0" dirty="0"/>
              <a:t>This relationship is represented by a join table, which stores the associations between the two entities</a:t>
            </a:r>
          </a:p>
          <a:p>
            <a:r>
              <a:rPr lang="en-GB" noProof="0" dirty="0"/>
              <a:t>Hibernate automatically creates the join table with two foreign keys</a:t>
            </a:r>
          </a:p>
          <a:p>
            <a:r>
              <a:rPr lang="en-GB" noProof="0" dirty="0"/>
              <a:t>Default </a:t>
            </a:r>
            <a:r>
              <a:rPr lang="en-GB" noProof="0" dirty="0" err="1"/>
              <a:t>FetchType</a:t>
            </a:r>
            <a:r>
              <a:rPr lang="en-GB" noProof="0" dirty="0"/>
              <a:t>: LAZY (on both sides)</a:t>
            </a:r>
          </a:p>
          <a:p>
            <a:r>
              <a:rPr lang="en-GB" noProof="0" dirty="0"/>
              <a:t>Owner Side</a:t>
            </a:r>
          </a:p>
          <a:p>
            <a:pPr lvl="1"/>
            <a:r>
              <a:rPr lang="en-GB" noProof="0" dirty="0"/>
              <a:t>The entity that defines the @</a:t>
            </a:r>
            <a:r>
              <a:rPr lang="en-GB" noProof="0" dirty="0" err="1"/>
              <a:t>JoinTable</a:t>
            </a:r>
            <a:r>
              <a:rPr lang="en-GB" noProof="0" dirty="0"/>
              <a:t> annotation owns the relationship</a:t>
            </a:r>
          </a:p>
          <a:p>
            <a:pPr lvl="1"/>
            <a:r>
              <a:rPr lang="en-GB" noProof="0" dirty="0"/>
              <a:t>It explicitly specifies the join table name and the foreign key columns</a:t>
            </a:r>
          </a:p>
          <a:p>
            <a:r>
              <a:rPr lang="en-GB" noProof="0" dirty="0"/>
              <a:t>Inverse side</a:t>
            </a:r>
          </a:p>
          <a:p>
            <a:pPr lvl="1"/>
            <a:r>
              <a:rPr lang="en-GB" noProof="0" dirty="0"/>
              <a:t>Uses </a:t>
            </a:r>
            <a:r>
              <a:rPr lang="en-GB" noProof="0" dirty="0" err="1"/>
              <a:t>mappedBy</a:t>
            </a:r>
            <a:r>
              <a:rPr lang="en-GB" noProof="0" dirty="0"/>
              <a:t> to reference the owner side</a:t>
            </a:r>
          </a:p>
          <a:p>
            <a:pPr lvl="1"/>
            <a:r>
              <a:rPr lang="en-GB" noProof="0" dirty="0"/>
              <a:t>Does not create the join table, as it is already managed by the owner</a:t>
            </a:r>
          </a:p>
        </p:txBody>
      </p:sp>
    </p:spTree>
    <p:extLst>
      <p:ext uri="{BB962C8B-B14F-4D97-AF65-F5344CB8AC3E}">
        <p14:creationId xmlns:p14="http://schemas.microsoft.com/office/powerpoint/2010/main" val="382829563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30563-7B7A-9F3C-7BB4-A1686D4CC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B13D0-BE0F-A9EE-FBA1-FF3D5194DE2E}"/>
              </a:ext>
            </a:extLst>
          </p:cNvPr>
          <p:cNvSpPr>
            <a:spLocks noGrp="1"/>
          </p:cNvSpPr>
          <p:nvPr>
            <p:ph type="title"/>
          </p:nvPr>
        </p:nvSpPr>
        <p:spPr/>
        <p:txBody>
          <a:bodyPr/>
          <a:lstStyle/>
          <a:p>
            <a:r>
              <a:rPr lang="en-GB" noProof="0" dirty="0" err="1"/>
              <a:t>ManyToMany</a:t>
            </a:r>
            <a:r>
              <a:rPr lang="en-GB" noProof="0" dirty="0"/>
              <a:t> relationships</a:t>
            </a:r>
          </a:p>
        </p:txBody>
      </p:sp>
      <p:sp>
        <p:nvSpPr>
          <p:cNvPr id="6" name="Rettangolo 5">
            <a:extLst>
              <a:ext uri="{FF2B5EF4-FFF2-40B4-BE49-F238E27FC236}">
                <a16:creationId xmlns:a16="http://schemas.microsoft.com/office/drawing/2014/main" id="{51148757-9385-E07E-F9CD-FA5999A19CEB}"/>
              </a:ext>
            </a:extLst>
          </p:cNvPr>
          <p:cNvSpPr/>
          <p:nvPr/>
        </p:nvSpPr>
        <p:spPr bwMode="auto">
          <a:xfrm>
            <a:off x="539552" y="3946646"/>
            <a:ext cx="7056784" cy="2506690"/>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E8BA1C6D-127F-EFC0-E669-6024C00FD24B}"/>
              </a:ext>
            </a:extLst>
          </p:cNvPr>
          <p:cNvSpPr>
            <a:spLocks noGrp="1"/>
          </p:cNvSpPr>
          <p:nvPr>
            <p:ph idx="1"/>
          </p:nvPr>
        </p:nvSpPr>
        <p:spPr>
          <a:xfrm>
            <a:off x="539552" y="3946646"/>
            <a:ext cx="7056784" cy="2650706"/>
          </a:xfrm>
        </p:spPr>
        <p:txBody>
          <a:bodyPr>
            <a:normAutofit/>
          </a:bodyPr>
          <a:lstStyle/>
          <a:p>
            <a:pPr marL="0" indent="0">
              <a:spcBef>
                <a:spcPts val="200"/>
              </a:spcBef>
              <a:buNone/>
            </a:pPr>
            <a:r>
              <a:rPr lang="en-GB" sz="1800" b="1" noProof="0" dirty="0">
                <a:latin typeface="Courier New" panose="02070309020205020404" pitchFamily="49" charset="0"/>
                <a:cs typeface="Courier New" panose="02070309020205020404" pitchFamily="49" charset="0"/>
              </a:rPr>
              <a:t>@Entity</a:t>
            </a:r>
          </a:p>
          <a:p>
            <a:pPr marL="0" indent="0">
              <a:spcBef>
                <a:spcPts val="200"/>
              </a:spcBef>
              <a:buNone/>
            </a:pPr>
            <a:r>
              <a:rPr lang="en-GB" sz="1800" b="1" noProof="0" dirty="0">
                <a:latin typeface="Courier New" panose="02070309020205020404" pitchFamily="49" charset="0"/>
                <a:cs typeface="Courier New" panose="02070309020205020404" pitchFamily="49" charset="0"/>
              </a:rPr>
              <a:t>@Inheritance(strategy = </a:t>
            </a:r>
            <a:r>
              <a:rPr lang="en-GB" sz="1800" b="1" noProof="0" dirty="0" err="1">
                <a:latin typeface="Courier New" panose="02070309020205020404" pitchFamily="49" charset="0"/>
                <a:cs typeface="Courier New" panose="02070309020205020404" pitchFamily="49" charset="0"/>
              </a:rPr>
              <a:t>InheritanceType.JOINED</a:t>
            </a:r>
            <a:r>
              <a:rPr lang="en-GB" sz="1800" b="1" noProof="0" dirty="0">
                <a:latin typeface="Courier New" panose="02070309020205020404" pitchFamily="49" charset="0"/>
                <a:cs typeface="Courier New" panose="02070309020205020404" pitchFamily="49" charset="0"/>
              </a:rPr>
              <a:t>)</a:t>
            </a:r>
          </a:p>
          <a:p>
            <a:pPr marL="0" indent="0">
              <a:spcBef>
                <a:spcPts val="200"/>
              </a:spcBef>
              <a:buNone/>
            </a:pPr>
            <a:r>
              <a:rPr lang="en-GB" sz="1800" b="1" noProof="0" dirty="0">
                <a:latin typeface="Courier New" panose="02070309020205020404" pitchFamily="49" charset="0"/>
                <a:cs typeface="Courier New" panose="02070309020205020404" pitchFamily="49" charset="0"/>
              </a:rPr>
              <a:t>@Table(name = "people")</a:t>
            </a:r>
          </a:p>
          <a:p>
            <a:pPr marL="0" indent="0">
              <a:spcBef>
                <a:spcPts val="200"/>
              </a:spcBef>
              <a:buNone/>
            </a:pPr>
            <a:r>
              <a:rPr lang="en-GB" sz="1800" b="1" noProof="0" dirty="0">
                <a:latin typeface="Courier New" panose="02070309020205020404" pitchFamily="49" charset="0"/>
                <a:cs typeface="Courier New" panose="02070309020205020404" pitchFamily="49" charset="0"/>
              </a:rPr>
              <a:t>public abstract class Person {</a:t>
            </a:r>
          </a:p>
          <a:p>
            <a:pPr marL="0" indent="0">
              <a:spcBef>
                <a:spcPts val="200"/>
              </a:spcBef>
              <a:buNone/>
            </a:pPr>
            <a:r>
              <a:rPr lang="en-GB" sz="1800" b="1" noProof="0" dirty="0">
                <a:latin typeface="Courier New" panose="02070309020205020404" pitchFamily="49" charset="0"/>
                <a:cs typeface="Courier New" panose="02070309020205020404" pitchFamily="49" charset="0"/>
              </a:rPr>
              <a:t>  //…</a:t>
            </a:r>
          </a:p>
          <a:p>
            <a:pPr marL="0" indent="0">
              <a:spcBef>
                <a:spcPts val="200"/>
              </a:spcBef>
              <a:buNone/>
            </a:pPr>
            <a:r>
              <a:rPr lang="en-GB" sz="1800" b="1" noProof="0" dirty="0">
                <a:latin typeface="Courier New" panose="02070309020205020404" pitchFamily="49" charset="0"/>
                <a:cs typeface="Courier New" panose="02070309020205020404" pitchFamily="49" charset="0"/>
              </a:rPr>
              <a:t>  </a:t>
            </a:r>
            <a:r>
              <a:rPr lang="en-GB" sz="1800" b="1" noProof="0" dirty="0">
                <a:solidFill>
                  <a:schemeClr val="accent6">
                    <a:lumMod val="75000"/>
                  </a:schemeClr>
                </a:solidFill>
                <a:latin typeface="Courier New" panose="02070309020205020404" pitchFamily="49" charset="0"/>
                <a:cs typeface="Courier New" panose="02070309020205020404" pitchFamily="49" charset="0"/>
              </a:rPr>
              <a:t>@</a:t>
            </a:r>
            <a:r>
              <a:rPr lang="en-GB" sz="1800" b="1" noProof="0" dirty="0" err="1">
                <a:solidFill>
                  <a:schemeClr val="accent6">
                    <a:lumMod val="75000"/>
                  </a:schemeClr>
                </a:solidFill>
                <a:latin typeface="Courier New" panose="02070309020205020404" pitchFamily="49" charset="0"/>
                <a:cs typeface="Courier New" panose="02070309020205020404" pitchFamily="49" charset="0"/>
              </a:rPr>
              <a:t>ManyToMany</a:t>
            </a:r>
            <a:r>
              <a:rPr lang="en-GB" sz="1800" b="1" noProof="0" dirty="0">
                <a:solidFill>
                  <a:schemeClr val="accent6">
                    <a:lumMod val="75000"/>
                  </a:schemeClr>
                </a:solidFill>
                <a:latin typeface="Courier New" panose="02070309020205020404" pitchFamily="49" charset="0"/>
                <a:cs typeface="Courier New" panose="02070309020205020404" pitchFamily="49" charset="0"/>
              </a:rPr>
              <a:t>(</a:t>
            </a:r>
            <a:r>
              <a:rPr lang="en-GB" sz="1800" b="1" noProof="0" dirty="0" err="1">
                <a:solidFill>
                  <a:schemeClr val="accent6">
                    <a:lumMod val="75000"/>
                  </a:schemeClr>
                </a:solidFill>
                <a:latin typeface="Courier New" panose="02070309020205020404" pitchFamily="49" charset="0"/>
                <a:cs typeface="Courier New" panose="02070309020205020404" pitchFamily="49" charset="0"/>
              </a:rPr>
              <a:t>mappedBy</a:t>
            </a:r>
            <a:r>
              <a:rPr lang="en-GB" sz="1800" b="1" noProof="0" dirty="0">
                <a:solidFill>
                  <a:schemeClr val="accent6">
                    <a:lumMod val="75000"/>
                  </a:schemeClr>
                </a:solidFill>
                <a:latin typeface="Courier New" panose="02070309020205020404" pitchFamily="49" charset="0"/>
                <a:cs typeface="Courier New" panose="02070309020205020404" pitchFamily="49" charset="0"/>
              </a:rPr>
              <a:t> = "passengers")</a:t>
            </a:r>
          </a:p>
          <a:p>
            <a:pPr marL="0" indent="0">
              <a:spcBef>
                <a:spcPts val="200"/>
              </a:spcBef>
              <a:buNone/>
            </a:pPr>
            <a:r>
              <a:rPr lang="en-GB" sz="1800" b="1" noProof="0" dirty="0">
                <a:latin typeface="Courier New" panose="02070309020205020404" pitchFamily="49" charset="0"/>
                <a:cs typeface="Courier New" panose="02070309020205020404" pitchFamily="49" charset="0"/>
              </a:rPr>
              <a:t>  private Set&lt;Flight&gt; flights = new HashSet&lt;&gt;();</a:t>
            </a:r>
          </a:p>
          <a:p>
            <a:pPr marL="0" indent="0">
              <a:spcBef>
                <a:spcPts val="200"/>
              </a:spcBef>
              <a:buNone/>
            </a:pPr>
            <a:r>
              <a:rPr lang="en-GB" sz="1800" b="1" noProof="0" dirty="0">
                <a:latin typeface="Courier New" panose="02070309020205020404" pitchFamily="49" charset="0"/>
                <a:cs typeface="Courier New" panose="02070309020205020404" pitchFamily="49" charset="0"/>
              </a:rPr>
              <a:t>}</a:t>
            </a:r>
            <a:endParaRPr lang="en-GB" sz="1800" b="1" noProof="0" dirty="0"/>
          </a:p>
        </p:txBody>
      </p:sp>
      <p:sp>
        <p:nvSpPr>
          <p:cNvPr id="5" name="Rettangolo 4">
            <a:extLst>
              <a:ext uri="{FF2B5EF4-FFF2-40B4-BE49-F238E27FC236}">
                <a16:creationId xmlns:a16="http://schemas.microsoft.com/office/drawing/2014/main" id="{49FF7897-8AF6-9077-6C53-6E0E64D5C545}"/>
              </a:ext>
            </a:extLst>
          </p:cNvPr>
          <p:cNvSpPr/>
          <p:nvPr/>
        </p:nvSpPr>
        <p:spPr bwMode="auto">
          <a:xfrm>
            <a:off x="539552" y="1066326"/>
            <a:ext cx="7488832" cy="2650706"/>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4" name="Content Placeholder 2">
            <a:extLst>
              <a:ext uri="{FF2B5EF4-FFF2-40B4-BE49-F238E27FC236}">
                <a16:creationId xmlns:a16="http://schemas.microsoft.com/office/drawing/2014/main" id="{4A406EDF-08BB-6BD4-E826-47A84F4DD667}"/>
              </a:ext>
            </a:extLst>
          </p:cNvPr>
          <p:cNvSpPr txBox="1">
            <a:spLocks/>
          </p:cNvSpPr>
          <p:nvPr/>
        </p:nvSpPr>
        <p:spPr bwMode="auto">
          <a:xfrm>
            <a:off x="539551" y="1066326"/>
            <a:ext cx="7632849" cy="32267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normAutofit/>
          </a:bodyPr>
          <a:lstStyle>
            <a:lvl1pPr marL="341313" indent="-341313" algn="l" defTabSz="457200" rtl="0" eaLnBrk="0" fontAlgn="base" hangingPunct="0">
              <a:lnSpc>
                <a:spcPct val="101000"/>
              </a:lnSpc>
              <a:spcBef>
                <a:spcPts val="800"/>
              </a:spcBef>
              <a:spcAft>
                <a:spcPct val="0"/>
              </a:spcAft>
              <a:buClr>
                <a:srgbClr val="000000"/>
              </a:buClr>
              <a:buSzPct val="100000"/>
              <a:buFont typeface="Wingdings" charset="0"/>
              <a:buChar char=""/>
              <a:defRPr sz="3200">
                <a:solidFill>
                  <a:srgbClr val="000000"/>
                </a:solidFill>
                <a:latin typeface="+mn-lt"/>
                <a:ea typeface="ＭＳ Ｐゴシック" charset="0"/>
                <a:cs typeface="+mn-cs"/>
              </a:defRPr>
            </a:lvl1pPr>
            <a:lvl2pPr marL="741363" indent="-284163" algn="l" defTabSz="457200" rtl="0" eaLnBrk="0" fontAlgn="base" hangingPunct="0">
              <a:lnSpc>
                <a:spcPct val="101000"/>
              </a:lnSpc>
              <a:spcBef>
                <a:spcPts val="700"/>
              </a:spcBef>
              <a:spcAft>
                <a:spcPct val="0"/>
              </a:spcAft>
              <a:buClr>
                <a:srgbClr val="000000"/>
              </a:buClr>
              <a:buSzPct val="80000"/>
              <a:buFont typeface="Symbol" charset="0"/>
              <a:buChar char=""/>
              <a:defRPr sz="2800">
                <a:solidFill>
                  <a:srgbClr val="000000"/>
                </a:solidFill>
                <a:latin typeface="+mn-lt"/>
                <a:ea typeface="Lucida Sans Unicode" pitchFamily="-110" charset="-52"/>
                <a:cs typeface="+mn-cs"/>
              </a:defRPr>
            </a:lvl2pPr>
            <a:lvl3pPr marL="1143000" indent="-228600" algn="l" defTabSz="457200" rtl="0" eaLnBrk="0" fontAlgn="base" hangingPunct="0">
              <a:lnSpc>
                <a:spcPct val="101000"/>
              </a:lnSpc>
              <a:spcBef>
                <a:spcPts val="600"/>
              </a:spcBef>
              <a:spcAft>
                <a:spcPct val="0"/>
              </a:spcAft>
              <a:buClr>
                <a:srgbClr val="000000"/>
              </a:buClr>
              <a:buSzPct val="100000"/>
              <a:buFont typeface="Symbol" charset="0"/>
              <a:buChar char=""/>
              <a:defRPr sz="2400">
                <a:solidFill>
                  <a:srgbClr val="000000"/>
                </a:solidFill>
                <a:latin typeface="+mn-lt"/>
                <a:ea typeface="Lucida Sans Unicode" pitchFamily="-110" charset="-52"/>
                <a:cs typeface="+mn-cs"/>
              </a:defRPr>
            </a:lvl3pPr>
            <a:lvl4pPr marL="16002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4pPr>
            <a:lvl5pPr marL="20574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5pPr>
            <a:lvl6pPr marL="25146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6pPr>
            <a:lvl7pPr marL="29718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7pPr>
            <a:lvl8pPr marL="34290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8pPr>
            <a:lvl9pPr marL="38862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9pPr>
          </a:lstStyle>
          <a:p>
            <a:pPr marL="0" indent="0">
              <a:lnSpc>
                <a:spcPct val="85000"/>
              </a:lnSpc>
              <a:spcBef>
                <a:spcPts val="200"/>
              </a:spcBef>
              <a:buFont typeface="Wingdings" charset="0"/>
              <a:buNone/>
            </a:pPr>
            <a:r>
              <a:rPr lang="en-US" sz="1800" b="1" kern="0" dirty="0">
                <a:latin typeface="Courier New" panose="02070309020205020404" pitchFamily="49" charset="0"/>
                <a:cs typeface="Courier New" panose="02070309020205020404" pitchFamily="49" charset="0"/>
              </a:rPr>
              <a:t>@Entity @Table(name = "flights")</a:t>
            </a:r>
          </a:p>
          <a:p>
            <a:pPr marL="0" indent="0">
              <a:lnSpc>
                <a:spcPct val="85000"/>
              </a:lnSpc>
              <a:spcBef>
                <a:spcPts val="200"/>
              </a:spcBef>
              <a:buFont typeface="Wingdings" charset="0"/>
              <a:buNone/>
            </a:pPr>
            <a:r>
              <a:rPr lang="en-US" sz="1800" b="1" kern="0" dirty="0">
                <a:latin typeface="Courier New" panose="02070309020205020404" pitchFamily="49" charset="0"/>
                <a:cs typeface="Courier New" panose="02070309020205020404" pitchFamily="49" charset="0"/>
              </a:rPr>
              <a:t>public class Flight { // ...</a:t>
            </a:r>
          </a:p>
          <a:p>
            <a:pPr marL="0" indent="0">
              <a:lnSpc>
                <a:spcPct val="85000"/>
              </a:lnSpc>
              <a:spcBef>
                <a:spcPts val="20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a:solidFill>
                  <a:schemeClr val="accent6">
                    <a:lumMod val="75000"/>
                  </a:schemeClr>
                </a:solidFill>
                <a:latin typeface="Courier New" panose="02070309020205020404" pitchFamily="49" charset="0"/>
                <a:cs typeface="Courier New" panose="02070309020205020404" pitchFamily="49" charset="0"/>
              </a:rPr>
              <a:t>@ManyToMany</a:t>
            </a:r>
          </a:p>
          <a:p>
            <a:pPr marL="0" indent="0">
              <a:lnSpc>
                <a:spcPct val="85000"/>
              </a:lnSpc>
              <a:spcBef>
                <a:spcPts val="200"/>
              </a:spcBef>
              <a:buFont typeface="Wingdings" charset="0"/>
              <a:buNone/>
            </a:pPr>
            <a:r>
              <a:rPr lang="en-US" sz="1800" b="1" kern="0" dirty="0">
                <a:solidFill>
                  <a:schemeClr val="accent6">
                    <a:lumMod val="75000"/>
                  </a:schemeClr>
                </a:solidFill>
                <a:latin typeface="Courier New" panose="02070309020205020404" pitchFamily="49" charset="0"/>
                <a:cs typeface="Courier New" panose="02070309020205020404" pitchFamily="49" charset="0"/>
              </a:rPr>
              <a:t>  @</a:t>
            </a:r>
            <a:r>
              <a:rPr lang="en-US" sz="1800" b="1" kern="0" dirty="0" err="1">
                <a:solidFill>
                  <a:schemeClr val="accent6">
                    <a:lumMod val="75000"/>
                  </a:schemeClr>
                </a:solidFill>
                <a:latin typeface="Courier New" panose="02070309020205020404" pitchFamily="49" charset="0"/>
                <a:cs typeface="Courier New" panose="02070309020205020404" pitchFamily="49" charset="0"/>
              </a:rPr>
              <a:t>JoinTable</a:t>
            </a:r>
            <a:r>
              <a:rPr lang="en-US" sz="1800" b="1" kern="0" dirty="0">
                <a:solidFill>
                  <a:schemeClr val="accent6">
                    <a:lumMod val="75000"/>
                  </a:schemeClr>
                </a:solidFill>
                <a:latin typeface="Courier New" panose="02070309020205020404" pitchFamily="49" charset="0"/>
                <a:cs typeface="Courier New" panose="02070309020205020404" pitchFamily="49" charset="0"/>
              </a:rPr>
              <a:t>( name = "</a:t>
            </a:r>
            <a:r>
              <a:rPr lang="en-US" sz="1800" b="1" kern="0" dirty="0" err="1">
                <a:solidFill>
                  <a:schemeClr val="accent6">
                    <a:lumMod val="75000"/>
                  </a:schemeClr>
                </a:solidFill>
                <a:latin typeface="Courier New" panose="02070309020205020404" pitchFamily="49" charset="0"/>
                <a:cs typeface="Courier New" panose="02070309020205020404" pitchFamily="49" charset="0"/>
              </a:rPr>
              <a:t>flight_person</a:t>
            </a:r>
            <a:r>
              <a:rPr lang="en-US" sz="1800" b="1" kern="0" dirty="0">
                <a:solidFill>
                  <a:schemeClr val="accent6">
                    <a:lumMod val="75000"/>
                  </a:schemeClr>
                </a:solidFill>
                <a:latin typeface="Courier New" panose="02070309020205020404" pitchFamily="49" charset="0"/>
                <a:cs typeface="Courier New" panose="02070309020205020404" pitchFamily="49" charset="0"/>
              </a:rPr>
              <a:t>",</a:t>
            </a:r>
          </a:p>
          <a:p>
            <a:pPr marL="0" indent="0">
              <a:lnSpc>
                <a:spcPct val="85000"/>
              </a:lnSpc>
              <a:spcBef>
                <a:spcPts val="200"/>
              </a:spcBef>
              <a:buFont typeface="Wingdings" charset="0"/>
              <a:buNone/>
            </a:pPr>
            <a:r>
              <a:rPr lang="en-US" sz="1800" b="1" kern="0" dirty="0">
                <a:solidFill>
                  <a:schemeClr val="accent6">
                    <a:lumMod val="75000"/>
                  </a:schemeClr>
                </a:solidFill>
                <a:latin typeface="Courier New" panose="02070309020205020404" pitchFamily="49" charset="0"/>
                <a:cs typeface="Courier New" panose="02070309020205020404" pitchFamily="49" charset="0"/>
              </a:rPr>
              <a:t>       </a:t>
            </a:r>
            <a:r>
              <a:rPr lang="en-US" sz="1800" b="1" kern="0" dirty="0" err="1">
                <a:solidFill>
                  <a:schemeClr val="accent6">
                    <a:lumMod val="75000"/>
                  </a:schemeClr>
                </a:solidFill>
                <a:latin typeface="Courier New" panose="02070309020205020404" pitchFamily="49" charset="0"/>
                <a:cs typeface="Courier New" panose="02070309020205020404" pitchFamily="49" charset="0"/>
              </a:rPr>
              <a:t>joinColumns</a:t>
            </a:r>
            <a:r>
              <a:rPr lang="en-US" sz="1800" b="1" kern="0" dirty="0">
                <a:solidFill>
                  <a:schemeClr val="accent6">
                    <a:lumMod val="75000"/>
                  </a:schemeClr>
                </a:solidFill>
                <a:latin typeface="Courier New" panose="02070309020205020404" pitchFamily="49" charset="0"/>
                <a:cs typeface="Courier New" panose="02070309020205020404" pitchFamily="49" charset="0"/>
              </a:rPr>
              <a:t> = @JoinColumn(name = "</a:t>
            </a:r>
            <a:r>
              <a:rPr lang="en-US" sz="1800" b="1" kern="0" dirty="0" err="1">
                <a:solidFill>
                  <a:schemeClr val="accent6">
                    <a:lumMod val="75000"/>
                  </a:schemeClr>
                </a:solidFill>
                <a:latin typeface="Courier New" panose="02070309020205020404" pitchFamily="49" charset="0"/>
                <a:cs typeface="Courier New" panose="02070309020205020404" pitchFamily="49" charset="0"/>
              </a:rPr>
              <a:t>flight_id</a:t>
            </a:r>
            <a:r>
              <a:rPr lang="en-US" sz="1800" b="1" kern="0" dirty="0">
                <a:solidFill>
                  <a:schemeClr val="accent6">
                    <a:lumMod val="75000"/>
                  </a:schemeClr>
                </a:solidFill>
                <a:latin typeface="Courier New" panose="02070309020205020404" pitchFamily="49" charset="0"/>
                <a:cs typeface="Courier New" panose="02070309020205020404" pitchFamily="49" charset="0"/>
              </a:rPr>
              <a:t>"), </a:t>
            </a:r>
          </a:p>
          <a:p>
            <a:pPr marL="0" indent="0">
              <a:lnSpc>
                <a:spcPct val="85000"/>
              </a:lnSpc>
              <a:spcBef>
                <a:spcPts val="200"/>
              </a:spcBef>
              <a:buFont typeface="Wingdings" charset="0"/>
              <a:buNone/>
            </a:pPr>
            <a:r>
              <a:rPr lang="en-US" sz="1800" b="1" kern="0" dirty="0" err="1">
                <a:solidFill>
                  <a:schemeClr val="accent6">
                    <a:lumMod val="75000"/>
                  </a:schemeClr>
                </a:solidFill>
                <a:latin typeface="Courier New" panose="02070309020205020404" pitchFamily="49" charset="0"/>
                <a:cs typeface="Courier New" panose="02070309020205020404" pitchFamily="49" charset="0"/>
              </a:rPr>
              <a:t>inverseJoinColumns</a:t>
            </a:r>
            <a:r>
              <a:rPr lang="en-US" sz="1800" b="1" kern="0" dirty="0">
                <a:solidFill>
                  <a:schemeClr val="accent6">
                    <a:lumMod val="75000"/>
                  </a:schemeClr>
                </a:solidFill>
                <a:latin typeface="Courier New" panose="02070309020205020404" pitchFamily="49" charset="0"/>
                <a:cs typeface="Courier New" panose="02070309020205020404" pitchFamily="49" charset="0"/>
              </a:rPr>
              <a:t> = @JoinColumn(name = "</a:t>
            </a:r>
            <a:r>
              <a:rPr lang="en-US" sz="1800" b="1" kern="0" dirty="0" err="1">
                <a:solidFill>
                  <a:schemeClr val="accent6">
                    <a:lumMod val="75000"/>
                  </a:schemeClr>
                </a:solidFill>
                <a:latin typeface="Courier New" panose="02070309020205020404" pitchFamily="49" charset="0"/>
                <a:cs typeface="Courier New" panose="02070309020205020404" pitchFamily="49" charset="0"/>
              </a:rPr>
              <a:t>person_id</a:t>
            </a:r>
            <a:r>
              <a:rPr lang="en-US" sz="1800" b="1" kern="0" dirty="0">
                <a:solidFill>
                  <a:schemeClr val="accent6">
                    <a:lumMod val="75000"/>
                  </a:schemeClr>
                </a:solidFill>
                <a:latin typeface="Courier New" panose="02070309020205020404" pitchFamily="49" charset="0"/>
                <a:cs typeface="Courier New" panose="02070309020205020404" pitchFamily="49" charset="0"/>
              </a:rPr>
              <a:t>")</a:t>
            </a:r>
          </a:p>
          <a:p>
            <a:pPr marL="0" indent="0">
              <a:lnSpc>
                <a:spcPct val="85000"/>
              </a:lnSpc>
              <a:spcBef>
                <a:spcPts val="200"/>
              </a:spcBef>
              <a:buFont typeface="Wingdings" charset="0"/>
              <a:buNone/>
            </a:pPr>
            <a:r>
              <a:rPr lang="en-US" sz="1800" b="1" kern="0" dirty="0">
                <a:solidFill>
                  <a:schemeClr val="accent6">
                    <a:lumMod val="75000"/>
                  </a:schemeClr>
                </a:solidFill>
                <a:latin typeface="Courier New" panose="02070309020205020404" pitchFamily="49" charset="0"/>
                <a:cs typeface="Courier New" panose="02070309020205020404" pitchFamily="49" charset="0"/>
              </a:rPr>
              <a:t>  )</a:t>
            </a:r>
          </a:p>
          <a:p>
            <a:pPr marL="0" indent="0">
              <a:lnSpc>
                <a:spcPct val="85000"/>
              </a:lnSpc>
              <a:spcBef>
                <a:spcPts val="200"/>
              </a:spcBef>
              <a:buFont typeface="Wingdings" charset="0"/>
              <a:buNone/>
            </a:pPr>
            <a:r>
              <a:rPr lang="en-US" sz="1800" b="1" kern="0" dirty="0">
                <a:latin typeface="Courier New" panose="02070309020205020404" pitchFamily="49" charset="0"/>
                <a:cs typeface="Courier New" panose="02070309020205020404" pitchFamily="49" charset="0"/>
              </a:rPr>
              <a:t>  private Set&lt;Person&gt; passengers = new HashSet&lt;&gt;();</a:t>
            </a:r>
          </a:p>
          <a:p>
            <a:pPr marL="0" indent="0">
              <a:lnSpc>
                <a:spcPct val="85000"/>
              </a:lnSpc>
              <a:spcBef>
                <a:spcPts val="200"/>
              </a:spcBef>
              <a:buFont typeface="Wingdings" charset="0"/>
              <a:buNone/>
            </a:pPr>
            <a:r>
              <a:rPr lang="en-US" sz="1800" b="1" kern="0" dirty="0">
                <a:latin typeface="Courier New" panose="02070309020205020404" pitchFamily="49" charset="0"/>
                <a:cs typeface="Courier New" panose="02070309020205020404" pitchFamily="49" charset="0"/>
              </a:rPr>
              <a:t>}</a:t>
            </a:r>
            <a:endParaRPr lang="en-US" sz="1800" b="1" kern="0" dirty="0"/>
          </a:p>
        </p:txBody>
      </p:sp>
      <p:sp>
        <p:nvSpPr>
          <p:cNvPr id="7" name="CasellaDiTesto 6">
            <a:extLst>
              <a:ext uri="{FF2B5EF4-FFF2-40B4-BE49-F238E27FC236}">
                <a16:creationId xmlns:a16="http://schemas.microsoft.com/office/drawing/2014/main" id="{055F9411-A230-B17B-EDEA-A221BC2092AF}"/>
              </a:ext>
            </a:extLst>
          </p:cNvPr>
          <p:cNvSpPr txBox="1"/>
          <p:nvPr/>
        </p:nvSpPr>
        <p:spPr>
          <a:xfrm>
            <a:off x="7991872" y="1066326"/>
            <a:ext cx="1152128" cy="798680"/>
          </a:xfrm>
          <a:prstGeom prst="rect">
            <a:avLst/>
          </a:prstGeom>
          <a:noFill/>
        </p:spPr>
        <p:txBody>
          <a:bodyPr wrap="square" rtlCol="0">
            <a:spAutoFit/>
          </a:bodyPr>
          <a:lstStyle/>
          <a:p>
            <a:r>
              <a:rPr lang="en-US" dirty="0">
                <a:solidFill>
                  <a:schemeClr val="accent6">
                    <a:lumMod val="75000"/>
                  </a:schemeClr>
                </a:solidFill>
                <a:latin typeface="+mn-lt"/>
              </a:rPr>
              <a:t>Owner </a:t>
            </a:r>
          </a:p>
          <a:p>
            <a:r>
              <a:rPr lang="en-US" dirty="0">
                <a:solidFill>
                  <a:schemeClr val="tx1"/>
                </a:solidFill>
                <a:latin typeface="+mn-lt"/>
              </a:rPr>
              <a:t>side</a:t>
            </a:r>
            <a:endParaRPr lang="it-IT" dirty="0">
              <a:solidFill>
                <a:schemeClr val="tx1"/>
              </a:solidFill>
              <a:latin typeface="+mn-lt"/>
            </a:endParaRPr>
          </a:p>
        </p:txBody>
      </p:sp>
      <p:sp>
        <p:nvSpPr>
          <p:cNvPr id="8" name="CasellaDiTesto 7">
            <a:extLst>
              <a:ext uri="{FF2B5EF4-FFF2-40B4-BE49-F238E27FC236}">
                <a16:creationId xmlns:a16="http://schemas.microsoft.com/office/drawing/2014/main" id="{1675D515-A35C-A429-7DA9-7022D1BA0986}"/>
              </a:ext>
            </a:extLst>
          </p:cNvPr>
          <p:cNvSpPr txBox="1"/>
          <p:nvPr/>
        </p:nvSpPr>
        <p:spPr>
          <a:xfrm>
            <a:off x="7745350" y="3946646"/>
            <a:ext cx="1407437" cy="798680"/>
          </a:xfrm>
          <a:prstGeom prst="rect">
            <a:avLst/>
          </a:prstGeom>
          <a:noFill/>
        </p:spPr>
        <p:txBody>
          <a:bodyPr wrap="square" rtlCol="0">
            <a:spAutoFit/>
          </a:bodyPr>
          <a:lstStyle/>
          <a:p>
            <a:r>
              <a:rPr lang="en-US" dirty="0">
                <a:solidFill>
                  <a:schemeClr val="accent6">
                    <a:lumMod val="75000"/>
                  </a:schemeClr>
                </a:solidFill>
                <a:latin typeface="+mn-lt"/>
              </a:rPr>
              <a:t>Inverse</a:t>
            </a:r>
            <a:r>
              <a:rPr lang="en-US" dirty="0">
                <a:solidFill>
                  <a:schemeClr val="tx1"/>
                </a:solidFill>
                <a:latin typeface="+mn-lt"/>
              </a:rPr>
              <a:t> side</a:t>
            </a:r>
            <a:endParaRPr lang="it-IT" dirty="0">
              <a:solidFill>
                <a:schemeClr val="tx1"/>
              </a:solidFill>
              <a:latin typeface="+mn-lt"/>
            </a:endParaRPr>
          </a:p>
        </p:txBody>
      </p:sp>
    </p:spTree>
    <p:extLst>
      <p:ext uri="{BB962C8B-B14F-4D97-AF65-F5344CB8AC3E}">
        <p14:creationId xmlns:p14="http://schemas.microsoft.com/office/powerpoint/2010/main" val="21443741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0700A-D528-5219-C48E-CED44E62B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23458-9DCB-4E82-0FAB-EB31EC7135E9}"/>
              </a:ext>
            </a:extLst>
          </p:cNvPr>
          <p:cNvSpPr>
            <a:spLocks noGrp="1"/>
          </p:cNvSpPr>
          <p:nvPr>
            <p:ph type="title"/>
          </p:nvPr>
        </p:nvSpPr>
        <p:spPr/>
        <p:txBody>
          <a:bodyPr/>
          <a:lstStyle/>
          <a:p>
            <a:r>
              <a:rPr lang="en-GB" noProof="0" dirty="0"/>
              <a:t>Generic Repository</a:t>
            </a:r>
          </a:p>
        </p:txBody>
      </p:sp>
      <p:sp>
        <p:nvSpPr>
          <p:cNvPr id="3" name="Content Placeholder 2">
            <a:extLst>
              <a:ext uri="{FF2B5EF4-FFF2-40B4-BE49-F238E27FC236}">
                <a16:creationId xmlns:a16="http://schemas.microsoft.com/office/drawing/2014/main" id="{090F1843-6913-DEB5-A4AA-39F66306B131}"/>
              </a:ext>
            </a:extLst>
          </p:cNvPr>
          <p:cNvSpPr>
            <a:spLocks noGrp="1"/>
          </p:cNvSpPr>
          <p:nvPr>
            <p:ph idx="1"/>
          </p:nvPr>
        </p:nvSpPr>
        <p:spPr>
          <a:xfrm>
            <a:off x="539552" y="1268760"/>
            <a:ext cx="8424936" cy="5184576"/>
          </a:xfrm>
        </p:spPr>
        <p:txBody>
          <a:bodyPr>
            <a:normAutofit fontScale="70000" lnSpcReduction="20000"/>
          </a:bodyPr>
          <a:lstStyle/>
          <a:p>
            <a:r>
              <a:rPr lang="en-GB" noProof="0" dirty="0"/>
              <a:t>Since JPA does not define a repository concept, a Generic Repository is a way to standardize common database operations</a:t>
            </a:r>
          </a:p>
          <a:p>
            <a:r>
              <a:rPr lang="en-GB" noProof="0" dirty="0"/>
              <a:t>A Generic Repository class defines reusable methods using Java Generics, making it adaptable to different entity types</a:t>
            </a:r>
          </a:p>
          <a:p>
            <a:r>
              <a:rPr lang="en-GB" noProof="0" dirty="0"/>
              <a:t>It allows to centralize basic CRUD operations for any entity type, avoiding code duplication</a:t>
            </a:r>
          </a:p>
          <a:p>
            <a:pPr lvl="1"/>
            <a:r>
              <a:rPr lang="en-GB" noProof="0" dirty="0"/>
              <a:t>Create, update, and delete operations can be fully generalized, as they follow the same persistence logic for any entity</a:t>
            </a:r>
          </a:p>
          <a:p>
            <a:pPr lvl="1"/>
            <a:r>
              <a:rPr lang="en-GB" noProof="0" dirty="0"/>
              <a:t>The only generic read operations, independent of entity-specific condition, are search by id and unconditioned search</a:t>
            </a:r>
          </a:p>
          <a:p>
            <a:r>
              <a:rPr lang="en-GB" noProof="0" dirty="0"/>
              <a:t>This approach ensures that basic persistence logic is implemented once, and specific repositories can extend it for more advanced queries</a:t>
            </a:r>
          </a:p>
        </p:txBody>
      </p:sp>
    </p:spTree>
    <p:extLst>
      <p:ext uri="{BB962C8B-B14F-4D97-AF65-F5344CB8AC3E}">
        <p14:creationId xmlns:p14="http://schemas.microsoft.com/office/powerpoint/2010/main" val="145246828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A5C7E-79FE-2A77-68C2-F5322D135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26C51-77F0-F31D-513E-166941657607}"/>
              </a:ext>
            </a:extLst>
          </p:cNvPr>
          <p:cNvSpPr>
            <a:spLocks noGrp="1"/>
          </p:cNvSpPr>
          <p:nvPr>
            <p:ph type="title"/>
          </p:nvPr>
        </p:nvSpPr>
        <p:spPr/>
        <p:txBody>
          <a:bodyPr/>
          <a:lstStyle/>
          <a:p>
            <a:r>
              <a:rPr lang="en-GB" noProof="0" dirty="0"/>
              <a:t>Generic Repository</a:t>
            </a:r>
          </a:p>
        </p:txBody>
      </p:sp>
      <p:sp>
        <p:nvSpPr>
          <p:cNvPr id="5" name="Rettangolo 4">
            <a:extLst>
              <a:ext uri="{FF2B5EF4-FFF2-40B4-BE49-F238E27FC236}">
                <a16:creationId xmlns:a16="http://schemas.microsoft.com/office/drawing/2014/main" id="{209EDCD3-D968-B1DD-83AB-16E53770C057}"/>
              </a:ext>
            </a:extLst>
          </p:cNvPr>
          <p:cNvSpPr/>
          <p:nvPr/>
        </p:nvSpPr>
        <p:spPr bwMode="auto">
          <a:xfrm>
            <a:off x="323528" y="989013"/>
            <a:ext cx="8280920" cy="5400600"/>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756F94E4-CBF7-84D5-3C03-B5D148F9E5CA}"/>
              </a:ext>
            </a:extLst>
          </p:cNvPr>
          <p:cNvSpPr>
            <a:spLocks noGrp="1"/>
          </p:cNvSpPr>
          <p:nvPr>
            <p:ph idx="1"/>
          </p:nvPr>
        </p:nvSpPr>
        <p:spPr>
          <a:xfrm>
            <a:off x="323528" y="1052736"/>
            <a:ext cx="7920879" cy="5400600"/>
          </a:xfrm>
        </p:spPr>
        <p:txBody>
          <a:bodyPr>
            <a:normAutofit/>
          </a:bodyPr>
          <a:lstStyle/>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public class </a:t>
            </a:r>
            <a:r>
              <a:rPr lang="en-GB" sz="1800" b="1" noProof="0" dirty="0" err="1">
                <a:solidFill>
                  <a:schemeClr val="accent6">
                    <a:lumMod val="75000"/>
                  </a:schemeClr>
                </a:solidFill>
                <a:latin typeface="Courier New" panose="02070309020205020404" pitchFamily="49" charset="0"/>
                <a:cs typeface="Courier New" panose="02070309020205020404" pitchFamily="49" charset="0"/>
              </a:rPr>
              <a:t>GenericRepository</a:t>
            </a:r>
            <a:r>
              <a:rPr lang="en-GB" sz="1800" b="1" noProof="0" dirty="0">
                <a:latin typeface="Courier New" panose="02070309020205020404" pitchFamily="49" charset="0"/>
                <a:cs typeface="Courier New" panose="02070309020205020404" pitchFamily="49" charset="0"/>
              </a:rPr>
              <a:t>&lt;T, ID&gt; {</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private final Class&lt;T&gt; </a:t>
            </a:r>
            <a:r>
              <a:rPr lang="en-GB" sz="1800" b="1" noProof="0" dirty="0" err="1">
                <a:latin typeface="Courier New" panose="02070309020205020404" pitchFamily="49" charset="0"/>
                <a:cs typeface="Courier New" panose="02070309020205020404" pitchFamily="49" charset="0"/>
              </a:rPr>
              <a:t>entityClass</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protected </a:t>
            </a:r>
            <a:r>
              <a:rPr lang="en-GB" sz="1800" b="1" noProof="0" dirty="0" err="1">
                <a:latin typeface="Courier New" panose="02070309020205020404" pitchFamily="49" charset="0"/>
                <a:cs typeface="Courier New" panose="02070309020205020404" pitchFamily="49" charset="0"/>
              </a:rPr>
              <a:t>GenericRepository</a:t>
            </a:r>
            <a:r>
              <a:rPr lang="en-GB" sz="1800" b="1" noProof="0" dirty="0">
                <a:latin typeface="Courier New" panose="02070309020205020404" pitchFamily="49" charset="0"/>
                <a:cs typeface="Courier New" panose="02070309020205020404" pitchFamily="49" charset="0"/>
              </a:rPr>
              <a:t>(Class&lt;T&gt; </a:t>
            </a:r>
            <a:r>
              <a:rPr lang="en-GB" sz="1800" b="1" noProof="0" dirty="0" err="1">
                <a:latin typeface="Courier New" panose="02070309020205020404" pitchFamily="49" charset="0"/>
                <a:cs typeface="Courier New" panose="02070309020205020404" pitchFamily="49" charset="0"/>
              </a:rPr>
              <a:t>entityClass</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this.entityClass</a:t>
            </a:r>
            <a:r>
              <a:rPr lang="en-GB" sz="1800" b="1" noProof="0" dirty="0">
                <a:latin typeface="Courier New" panose="02070309020205020404" pitchFamily="49" charset="0"/>
                <a:cs typeface="Courier New" panose="02070309020205020404" pitchFamily="49" charset="0"/>
              </a:rPr>
              <a:t> = </a:t>
            </a:r>
            <a:r>
              <a:rPr lang="en-GB" sz="1800" b="1" noProof="0" dirty="0" err="1">
                <a:latin typeface="Courier New" panose="02070309020205020404" pitchFamily="49" charset="0"/>
                <a:cs typeface="Courier New" panose="02070309020205020404" pitchFamily="49" charset="0"/>
              </a:rPr>
              <a:t>entityClass</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public void </a:t>
            </a:r>
            <a:r>
              <a:rPr lang="en-GB" sz="1800" b="1" noProof="0" dirty="0">
                <a:solidFill>
                  <a:schemeClr val="accent6">
                    <a:lumMod val="75000"/>
                  </a:schemeClr>
                </a:solidFill>
                <a:latin typeface="Courier New" panose="02070309020205020404" pitchFamily="49" charset="0"/>
                <a:cs typeface="Courier New" panose="02070309020205020404" pitchFamily="49" charset="0"/>
              </a:rPr>
              <a:t>update</a:t>
            </a:r>
            <a:r>
              <a:rPr lang="en-GB" sz="1800" b="1" noProof="0" dirty="0">
                <a:latin typeface="Courier New" panose="02070309020205020404" pitchFamily="49" charset="0"/>
                <a:cs typeface="Courier New" panose="02070309020205020404" pitchFamily="49" charset="0"/>
              </a:rPr>
              <a:t>(T entity) {</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EntityManager</a:t>
            </a: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em</a:t>
            </a:r>
            <a:r>
              <a:rPr lang="en-GB" sz="1800" b="1" noProof="0" dirty="0">
                <a:latin typeface="Courier New" panose="02070309020205020404" pitchFamily="49" charset="0"/>
                <a:cs typeface="Courier New" panose="02070309020205020404" pitchFamily="49" charset="0"/>
              </a:rPr>
              <a:t> = </a:t>
            </a:r>
            <a:r>
              <a:rPr lang="en-GB" sz="1800" b="1" noProof="0" dirty="0" err="1">
                <a:latin typeface="Courier New" panose="02070309020205020404" pitchFamily="49" charset="0"/>
                <a:cs typeface="Courier New" panose="02070309020205020404" pitchFamily="49" charset="0"/>
              </a:rPr>
              <a:t>JPAUtil.getEntityManager</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EntityTransaction</a:t>
            </a: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tx</a:t>
            </a:r>
            <a:r>
              <a:rPr lang="en-GB" sz="1800" b="1" noProof="0" dirty="0">
                <a:latin typeface="Courier New" panose="02070309020205020404" pitchFamily="49" charset="0"/>
                <a:cs typeface="Courier New" panose="02070309020205020404" pitchFamily="49" charset="0"/>
              </a:rPr>
              <a:t> = </a:t>
            </a:r>
            <a:r>
              <a:rPr lang="en-GB" sz="1800" b="1" noProof="0" dirty="0" err="1">
                <a:latin typeface="Courier New" panose="02070309020205020404" pitchFamily="49" charset="0"/>
                <a:cs typeface="Courier New" panose="02070309020205020404" pitchFamily="49" charset="0"/>
              </a:rPr>
              <a:t>em.getTransaction</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tx.begin</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em.merge</a:t>
            </a:r>
            <a:r>
              <a:rPr lang="en-GB" sz="1800" b="1" noProof="0" dirty="0">
                <a:latin typeface="Courier New" panose="02070309020205020404" pitchFamily="49" charset="0"/>
                <a:cs typeface="Courier New" panose="02070309020205020404" pitchFamily="49" charset="0"/>
              </a:rPr>
              <a:t>(entity);</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tx.commit</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em.close</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public void </a:t>
            </a:r>
            <a:r>
              <a:rPr lang="en-GB" sz="1800" b="1" noProof="0" dirty="0">
                <a:solidFill>
                  <a:schemeClr val="accent6">
                    <a:lumMod val="75000"/>
                  </a:schemeClr>
                </a:solidFill>
                <a:latin typeface="Courier New" panose="02070309020205020404" pitchFamily="49" charset="0"/>
                <a:cs typeface="Courier New" panose="02070309020205020404" pitchFamily="49" charset="0"/>
              </a:rPr>
              <a:t>delete</a:t>
            </a:r>
            <a:r>
              <a:rPr lang="en-GB" sz="1800" b="1" noProof="0" dirty="0">
                <a:latin typeface="Courier New" panose="02070309020205020404" pitchFamily="49" charset="0"/>
                <a:cs typeface="Courier New" panose="02070309020205020404" pitchFamily="49" charset="0"/>
              </a:rPr>
              <a:t>(ID id) {</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EntityManager</a:t>
            </a: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em</a:t>
            </a:r>
            <a:r>
              <a:rPr lang="en-GB" sz="1800" b="1" noProof="0" dirty="0">
                <a:latin typeface="Courier New" panose="02070309020205020404" pitchFamily="49" charset="0"/>
                <a:cs typeface="Courier New" panose="02070309020205020404" pitchFamily="49" charset="0"/>
              </a:rPr>
              <a:t> = </a:t>
            </a:r>
            <a:r>
              <a:rPr lang="en-GB" sz="1800" b="1" noProof="0" dirty="0" err="1">
                <a:latin typeface="Courier New" panose="02070309020205020404" pitchFamily="49" charset="0"/>
                <a:cs typeface="Courier New" panose="02070309020205020404" pitchFamily="49" charset="0"/>
              </a:rPr>
              <a:t>JPAUtil.getEntityManager</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EntityTransaction</a:t>
            </a: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tx</a:t>
            </a:r>
            <a:r>
              <a:rPr lang="en-GB" sz="1800" b="1" noProof="0" dirty="0">
                <a:latin typeface="Courier New" panose="02070309020205020404" pitchFamily="49" charset="0"/>
                <a:cs typeface="Courier New" panose="02070309020205020404" pitchFamily="49" charset="0"/>
              </a:rPr>
              <a:t> = </a:t>
            </a:r>
            <a:r>
              <a:rPr lang="en-GB" sz="1800" b="1" noProof="0" dirty="0" err="1">
                <a:latin typeface="Courier New" panose="02070309020205020404" pitchFamily="49" charset="0"/>
                <a:cs typeface="Courier New" panose="02070309020205020404" pitchFamily="49" charset="0"/>
              </a:rPr>
              <a:t>em.getTransaction</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tx.begin</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T entity = </a:t>
            </a:r>
            <a:r>
              <a:rPr lang="en-GB" sz="1800" b="1" noProof="0" dirty="0" err="1">
                <a:latin typeface="Courier New" panose="02070309020205020404" pitchFamily="49" charset="0"/>
                <a:cs typeface="Courier New" panose="02070309020205020404" pitchFamily="49" charset="0"/>
              </a:rPr>
              <a:t>em.find</a:t>
            </a:r>
            <a:r>
              <a:rPr lang="en-GB" sz="1800" b="1" noProof="0" dirty="0">
                <a:latin typeface="Courier New" panose="02070309020205020404" pitchFamily="49" charset="0"/>
                <a:cs typeface="Courier New" panose="02070309020205020404" pitchFamily="49" charset="0"/>
              </a:rPr>
              <a:t>(</a:t>
            </a:r>
            <a:r>
              <a:rPr lang="en-GB" sz="1800" b="1" noProof="0" dirty="0" err="1">
                <a:latin typeface="Courier New" panose="02070309020205020404" pitchFamily="49" charset="0"/>
                <a:cs typeface="Courier New" panose="02070309020205020404" pitchFamily="49" charset="0"/>
              </a:rPr>
              <a:t>entityClass</a:t>
            </a:r>
            <a:r>
              <a:rPr lang="en-GB" sz="1800" b="1" noProof="0" dirty="0">
                <a:latin typeface="Courier New" panose="02070309020205020404" pitchFamily="49" charset="0"/>
                <a:cs typeface="Courier New" panose="02070309020205020404" pitchFamily="49" charset="0"/>
              </a:rPr>
              <a:t>, id);</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if (entity != null) {</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em.remove</a:t>
            </a:r>
            <a:r>
              <a:rPr lang="en-GB" sz="1800" b="1" noProof="0" dirty="0">
                <a:latin typeface="Courier New" panose="02070309020205020404" pitchFamily="49" charset="0"/>
                <a:cs typeface="Courier New" panose="02070309020205020404" pitchFamily="49" charset="0"/>
              </a:rPr>
              <a:t>(entity); }</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tx.commit</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em.close</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0"/>
              </a:spcBef>
              <a:buNone/>
            </a:pPr>
            <a:r>
              <a:rPr lang="en-GB" sz="1800" b="1" noProof="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20742614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A5C7E-79FE-2A77-68C2-F5322D135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26C51-77F0-F31D-513E-166941657607}"/>
              </a:ext>
            </a:extLst>
          </p:cNvPr>
          <p:cNvSpPr>
            <a:spLocks noGrp="1"/>
          </p:cNvSpPr>
          <p:nvPr>
            <p:ph type="title" idx="4294967295"/>
          </p:nvPr>
        </p:nvSpPr>
        <p:spPr>
          <a:xfrm>
            <a:off x="0" y="-444500"/>
            <a:ext cx="8607425" cy="1433513"/>
          </a:xfrm>
        </p:spPr>
        <p:txBody>
          <a:bodyPr/>
          <a:lstStyle/>
          <a:p>
            <a:r>
              <a:rPr lang="en-GB" noProof="0" dirty="0"/>
              <a:t>Generic Repository</a:t>
            </a:r>
          </a:p>
        </p:txBody>
      </p:sp>
      <p:sp>
        <p:nvSpPr>
          <p:cNvPr id="6" name="Rettangolo 5">
            <a:extLst>
              <a:ext uri="{FF2B5EF4-FFF2-40B4-BE49-F238E27FC236}">
                <a16:creationId xmlns:a16="http://schemas.microsoft.com/office/drawing/2014/main" id="{D6C1FEC5-46A0-A829-240A-4424E2DCA2B1}"/>
              </a:ext>
            </a:extLst>
          </p:cNvPr>
          <p:cNvSpPr/>
          <p:nvPr/>
        </p:nvSpPr>
        <p:spPr bwMode="auto">
          <a:xfrm>
            <a:off x="323528" y="1052736"/>
            <a:ext cx="8712968" cy="5400600"/>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4" name="Content Placeholder 2">
            <a:extLst>
              <a:ext uri="{FF2B5EF4-FFF2-40B4-BE49-F238E27FC236}">
                <a16:creationId xmlns:a16="http://schemas.microsoft.com/office/drawing/2014/main" id="{67954003-79C1-8DDC-2295-063AED89D0E7}"/>
              </a:ext>
            </a:extLst>
          </p:cNvPr>
          <p:cNvSpPr txBox="1">
            <a:spLocks/>
          </p:cNvSpPr>
          <p:nvPr/>
        </p:nvSpPr>
        <p:spPr bwMode="auto">
          <a:xfrm>
            <a:off x="287017" y="1052736"/>
            <a:ext cx="8856983" cy="5400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FAA26D3D-D897-4be2-8F04-BA451C77F1D7}">
              <ma14:placeholderFlag xmlns="" xmlns:ma14="http://schemas.microsoft.com/office/mac/drawingml/2011/main" val="1"/>
            </a:ext>
          </a:extLst>
        </p:spPr>
        <p:txBody>
          <a:bodyPr vert="horz" wrap="square" lIns="90000" tIns="46800" rIns="90000" bIns="46800" numCol="1" anchor="t" anchorCtr="0" compatLnSpc="1">
            <a:prstTxWarp prst="textNoShape">
              <a:avLst/>
            </a:prstTxWarp>
            <a:normAutofit lnSpcReduction="10000"/>
          </a:bodyPr>
          <a:lstStyle>
            <a:lvl1pPr marL="341313" indent="-341313" algn="l" defTabSz="457200" rtl="0" eaLnBrk="0" fontAlgn="base" hangingPunct="0">
              <a:lnSpc>
                <a:spcPct val="101000"/>
              </a:lnSpc>
              <a:spcBef>
                <a:spcPts val="800"/>
              </a:spcBef>
              <a:spcAft>
                <a:spcPct val="0"/>
              </a:spcAft>
              <a:buClr>
                <a:srgbClr val="000000"/>
              </a:buClr>
              <a:buSzPct val="100000"/>
              <a:buFont typeface="Wingdings" charset="0"/>
              <a:buChar char=""/>
              <a:defRPr sz="3200">
                <a:solidFill>
                  <a:srgbClr val="000000"/>
                </a:solidFill>
                <a:latin typeface="+mn-lt"/>
                <a:ea typeface="ＭＳ Ｐゴシック" charset="0"/>
                <a:cs typeface="+mn-cs"/>
              </a:defRPr>
            </a:lvl1pPr>
            <a:lvl2pPr marL="741363" indent="-284163" algn="l" defTabSz="457200" rtl="0" eaLnBrk="0" fontAlgn="base" hangingPunct="0">
              <a:lnSpc>
                <a:spcPct val="101000"/>
              </a:lnSpc>
              <a:spcBef>
                <a:spcPts val="700"/>
              </a:spcBef>
              <a:spcAft>
                <a:spcPct val="0"/>
              </a:spcAft>
              <a:buClr>
                <a:srgbClr val="000000"/>
              </a:buClr>
              <a:buSzPct val="80000"/>
              <a:buFont typeface="Symbol" charset="0"/>
              <a:buChar char=""/>
              <a:defRPr sz="2800">
                <a:solidFill>
                  <a:srgbClr val="000000"/>
                </a:solidFill>
                <a:latin typeface="+mn-lt"/>
                <a:ea typeface="Lucida Sans Unicode" pitchFamily="-110" charset="-52"/>
                <a:cs typeface="+mn-cs"/>
              </a:defRPr>
            </a:lvl2pPr>
            <a:lvl3pPr marL="1143000" indent="-228600" algn="l" defTabSz="457200" rtl="0" eaLnBrk="0" fontAlgn="base" hangingPunct="0">
              <a:lnSpc>
                <a:spcPct val="101000"/>
              </a:lnSpc>
              <a:spcBef>
                <a:spcPts val="600"/>
              </a:spcBef>
              <a:spcAft>
                <a:spcPct val="0"/>
              </a:spcAft>
              <a:buClr>
                <a:srgbClr val="000000"/>
              </a:buClr>
              <a:buSzPct val="100000"/>
              <a:buFont typeface="Symbol" charset="0"/>
              <a:buChar char=""/>
              <a:defRPr sz="2400">
                <a:solidFill>
                  <a:srgbClr val="000000"/>
                </a:solidFill>
                <a:latin typeface="+mn-lt"/>
                <a:ea typeface="Lucida Sans Unicode" pitchFamily="-110" charset="-52"/>
                <a:cs typeface="+mn-cs"/>
              </a:defRPr>
            </a:lvl3pPr>
            <a:lvl4pPr marL="16002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4pPr>
            <a:lvl5pPr marL="2057400" indent="-228600" algn="l" defTabSz="457200" rtl="0" eaLnBrk="0" fontAlgn="base" hangingPunct="0">
              <a:lnSpc>
                <a:spcPct val="101000"/>
              </a:lnSpc>
              <a:spcBef>
                <a:spcPts val="500"/>
              </a:spcBef>
              <a:spcAft>
                <a:spcPct val="0"/>
              </a:spcAft>
              <a:buClr>
                <a:srgbClr val="000000"/>
              </a:buClr>
              <a:buSzPct val="100000"/>
              <a:buFont typeface="Symbol" charset="0"/>
              <a:buChar char=""/>
              <a:defRPr sz="2000">
                <a:solidFill>
                  <a:srgbClr val="000000"/>
                </a:solidFill>
                <a:latin typeface="+mn-lt"/>
                <a:ea typeface="Lucida Sans Unicode" pitchFamily="-110" charset="-52"/>
                <a:cs typeface="+mn-cs"/>
              </a:defRPr>
            </a:lvl5pPr>
            <a:lvl6pPr marL="25146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6pPr>
            <a:lvl7pPr marL="29718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7pPr>
            <a:lvl8pPr marL="34290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8pPr>
            <a:lvl9pPr marL="3886200" indent="-228600" algn="l" defTabSz="457200" rtl="0" fontAlgn="base">
              <a:lnSpc>
                <a:spcPct val="101000"/>
              </a:lnSpc>
              <a:spcBef>
                <a:spcPts val="500"/>
              </a:spcBef>
              <a:spcAft>
                <a:spcPct val="0"/>
              </a:spcAft>
              <a:buClr>
                <a:srgbClr val="000000"/>
              </a:buClr>
              <a:buSzPct val="100000"/>
              <a:buFont typeface="Symbol" pitchFamily="16" charset="2"/>
              <a:buChar char=""/>
              <a:defRPr sz="2000">
                <a:solidFill>
                  <a:srgbClr val="000000"/>
                </a:solidFill>
                <a:latin typeface="+mn-lt"/>
                <a:cs typeface="+mn-cs"/>
              </a:defRPr>
            </a:lvl9pPr>
          </a:lstStyle>
          <a:p>
            <a:pPr marL="0" indent="0">
              <a:lnSpc>
                <a:spcPct val="90000"/>
              </a:lnSpc>
              <a:spcBef>
                <a:spcPts val="0"/>
              </a:spcBef>
              <a:buFont typeface="Wingdings" charset="0"/>
              <a:buNone/>
            </a:pPr>
            <a:r>
              <a:rPr lang="en-US" sz="1600" kern="0" dirty="0">
                <a:latin typeface="Courier New" panose="02070309020205020404" pitchFamily="49" charset="0"/>
                <a:cs typeface="Courier New" panose="02070309020205020404" pitchFamily="49" charset="0"/>
              </a:rPr>
              <a:t>    </a:t>
            </a:r>
            <a:r>
              <a:rPr lang="en-US" sz="1800" b="1" kern="0" dirty="0">
                <a:latin typeface="Courier New" panose="02070309020205020404" pitchFamily="49" charset="0"/>
                <a:cs typeface="Courier New" panose="02070309020205020404" pitchFamily="49" charset="0"/>
              </a:rPr>
              <a:t>public void </a:t>
            </a:r>
            <a:r>
              <a:rPr lang="en-US" sz="1800" b="1" kern="0" dirty="0">
                <a:solidFill>
                  <a:schemeClr val="accent6">
                    <a:lumMod val="75000"/>
                  </a:schemeClr>
                </a:solidFill>
                <a:latin typeface="Courier New" panose="02070309020205020404" pitchFamily="49" charset="0"/>
                <a:cs typeface="Courier New" panose="02070309020205020404" pitchFamily="49" charset="0"/>
              </a:rPr>
              <a:t>save</a:t>
            </a:r>
            <a:r>
              <a:rPr lang="en-US" sz="1800" b="1" kern="0" dirty="0">
                <a:latin typeface="Courier New" panose="02070309020205020404" pitchFamily="49" charset="0"/>
                <a:cs typeface="Courier New" panose="02070309020205020404" pitchFamily="49" charset="0"/>
              </a:rPr>
              <a:t>(T entity) {</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EntityManager</a:t>
            </a: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em</a:t>
            </a:r>
            <a:r>
              <a:rPr lang="en-US" sz="1800" b="1" kern="0" dirty="0">
                <a:latin typeface="Courier New" panose="02070309020205020404" pitchFamily="49" charset="0"/>
                <a:cs typeface="Courier New" panose="02070309020205020404" pitchFamily="49" charset="0"/>
              </a:rPr>
              <a:t> = </a:t>
            </a:r>
            <a:r>
              <a:rPr lang="en-US" sz="1800" b="1" kern="0" dirty="0" err="1">
                <a:latin typeface="Courier New" panose="02070309020205020404" pitchFamily="49" charset="0"/>
                <a:cs typeface="Courier New" panose="02070309020205020404" pitchFamily="49" charset="0"/>
              </a:rPr>
              <a:t>JPAUtil.getEntityManager</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EntityTransaction</a:t>
            </a: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tx</a:t>
            </a:r>
            <a:r>
              <a:rPr lang="en-US" sz="1800" b="1" kern="0" dirty="0">
                <a:latin typeface="Courier New" panose="02070309020205020404" pitchFamily="49" charset="0"/>
                <a:cs typeface="Courier New" panose="02070309020205020404" pitchFamily="49" charset="0"/>
              </a:rPr>
              <a:t> = </a:t>
            </a:r>
            <a:r>
              <a:rPr lang="en-US" sz="1800" b="1" kern="0" dirty="0" err="1">
                <a:latin typeface="Courier New" panose="02070309020205020404" pitchFamily="49" charset="0"/>
                <a:cs typeface="Courier New" panose="02070309020205020404" pitchFamily="49" charset="0"/>
              </a:rPr>
              <a:t>em.getTransaction</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tx.begin</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em.persist</a:t>
            </a:r>
            <a:r>
              <a:rPr lang="en-US" sz="1800" b="1" kern="0" dirty="0">
                <a:latin typeface="Courier New" panose="02070309020205020404" pitchFamily="49" charset="0"/>
                <a:cs typeface="Courier New" panose="02070309020205020404" pitchFamily="49" charset="0"/>
              </a:rPr>
              <a:t>(entity);</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tx.commit</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em.close</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public T </a:t>
            </a:r>
            <a:r>
              <a:rPr lang="en-US" sz="1800" b="1" kern="0" dirty="0" err="1">
                <a:solidFill>
                  <a:schemeClr val="accent6">
                    <a:lumMod val="75000"/>
                  </a:schemeClr>
                </a:solidFill>
                <a:latin typeface="Courier New" panose="02070309020205020404" pitchFamily="49" charset="0"/>
                <a:cs typeface="Courier New" panose="02070309020205020404" pitchFamily="49" charset="0"/>
              </a:rPr>
              <a:t>findById</a:t>
            </a:r>
            <a:r>
              <a:rPr lang="en-US" sz="1800" b="1" kern="0" dirty="0">
                <a:latin typeface="Courier New" panose="02070309020205020404" pitchFamily="49" charset="0"/>
                <a:cs typeface="Courier New" panose="02070309020205020404" pitchFamily="49" charset="0"/>
              </a:rPr>
              <a:t>(ID id) {</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EntityManager</a:t>
            </a: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em</a:t>
            </a:r>
            <a:r>
              <a:rPr lang="en-US" sz="1800" b="1" kern="0" dirty="0">
                <a:latin typeface="Courier New" panose="02070309020205020404" pitchFamily="49" charset="0"/>
                <a:cs typeface="Courier New" panose="02070309020205020404" pitchFamily="49" charset="0"/>
              </a:rPr>
              <a:t> = </a:t>
            </a:r>
            <a:r>
              <a:rPr lang="en-US" sz="1800" b="1" kern="0" dirty="0" err="1">
                <a:latin typeface="Courier New" panose="02070309020205020404" pitchFamily="49" charset="0"/>
                <a:cs typeface="Courier New" panose="02070309020205020404" pitchFamily="49" charset="0"/>
              </a:rPr>
              <a:t>JPAUtil.getEntityManager</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T entity = </a:t>
            </a:r>
            <a:r>
              <a:rPr lang="en-US" sz="1800" b="1" kern="0" dirty="0" err="1">
                <a:latin typeface="Courier New" panose="02070309020205020404" pitchFamily="49" charset="0"/>
                <a:cs typeface="Courier New" panose="02070309020205020404" pitchFamily="49" charset="0"/>
              </a:rPr>
              <a:t>em.find</a:t>
            </a:r>
            <a:r>
              <a:rPr lang="en-US" sz="1800" b="1" kern="0" dirty="0">
                <a:latin typeface="Courier New" panose="02070309020205020404" pitchFamily="49" charset="0"/>
                <a:cs typeface="Courier New" panose="02070309020205020404" pitchFamily="49" charset="0"/>
              </a:rPr>
              <a:t>(</a:t>
            </a:r>
            <a:r>
              <a:rPr lang="en-US" sz="1800" b="1" kern="0" dirty="0" err="1">
                <a:latin typeface="Courier New" panose="02070309020205020404" pitchFamily="49" charset="0"/>
                <a:cs typeface="Courier New" panose="02070309020205020404" pitchFamily="49" charset="0"/>
              </a:rPr>
              <a:t>entityClass</a:t>
            </a:r>
            <a:r>
              <a:rPr lang="en-US" sz="1800" b="1" kern="0" dirty="0">
                <a:latin typeface="Courier New" panose="02070309020205020404" pitchFamily="49" charset="0"/>
                <a:cs typeface="Courier New" panose="02070309020205020404" pitchFamily="49" charset="0"/>
              </a:rPr>
              <a:t>, id);</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em.close</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return entity;</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public List&lt;T&gt; </a:t>
            </a:r>
            <a:r>
              <a:rPr lang="en-US" sz="1800" b="1" kern="0" dirty="0" err="1">
                <a:solidFill>
                  <a:schemeClr val="accent6">
                    <a:lumMod val="75000"/>
                  </a:schemeClr>
                </a:solidFill>
                <a:latin typeface="Courier New" panose="02070309020205020404" pitchFamily="49" charset="0"/>
                <a:cs typeface="Courier New" panose="02070309020205020404" pitchFamily="49" charset="0"/>
              </a:rPr>
              <a:t>findAll</a:t>
            </a:r>
            <a:r>
              <a:rPr lang="en-US" sz="1800" b="1" kern="0" dirty="0">
                <a:latin typeface="Courier New" panose="02070309020205020404" pitchFamily="49" charset="0"/>
                <a:cs typeface="Courier New" panose="02070309020205020404" pitchFamily="49" charset="0"/>
              </a:rPr>
              <a:t>() {</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EntityManager</a:t>
            </a: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em</a:t>
            </a:r>
            <a:r>
              <a:rPr lang="en-US" sz="1800" b="1" kern="0" dirty="0">
                <a:latin typeface="Courier New" panose="02070309020205020404" pitchFamily="49" charset="0"/>
                <a:cs typeface="Courier New" panose="02070309020205020404" pitchFamily="49" charset="0"/>
              </a:rPr>
              <a:t> = </a:t>
            </a:r>
            <a:r>
              <a:rPr lang="en-US" sz="1800" b="1" kern="0" dirty="0" err="1">
                <a:latin typeface="Courier New" panose="02070309020205020404" pitchFamily="49" charset="0"/>
                <a:cs typeface="Courier New" panose="02070309020205020404" pitchFamily="49" charset="0"/>
              </a:rPr>
              <a:t>JPAUtil.getEntityManager</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List&lt;T&gt; result = </a:t>
            </a:r>
            <a:r>
              <a:rPr lang="en-US" sz="1800" b="1" kern="0" dirty="0" err="1">
                <a:latin typeface="Courier New" panose="02070309020205020404" pitchFamily="49" charset="0"/>
                <a:cs typeface="Courier New" panose="02070309020205020404" pitchFamily="49" charset="0"/>
              </a:rPr>
              <a:t>em.createQuery</a:t>
            </a:r>
            <a:r>
              <a:rPr lang="en-US" sz="1800" b="1" kern="0" dirty="0">
                <a:latin typeface="Courier New" panose="02070309020205020404" pitchFamily="49" charset="0"/>
                <a:cs typeface="Courier New" panose="02070309020205020404" pitchFamily="49" charset="0"/>
              </a:rPr>
              <a:t>("SELECT e FROM " </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 </a:t>
            </a:r>
            <a:r>
              <a:rPr lang="en-US" sz="1800" b="1" kern="0" dirty="0" err="1">
                <a:latin typeface="Courier New" panose="02070309020205020404" pitchFamily="49" charset="0"/>
                <a:cs typeface="Courier New" panose="02070309020205020404" pitchFamily="49" charset="0"/>
              </a:rPr>
              <a:t>entityClass.getSimpleName</a:t>
            </a:r>
            <a:r>
              <a:rPr lang="en-US" sz="1800" b="1" kern="0" dirty="0">
                <a:latin typeface="Courier New" panose="02070309020205020404" pitchFamily="49" charset="0"/>
                <a:cs typeface="Courier New" panose="02070309020205020404" pitchFamily="49" charset="0"/>
              </a:rPr>
              <a:t>() </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 " e", </a:t>
            </a:r>
            <a:r>
              <a:rPr lang="en-US" sz="1800" b="1" kern="0" dirty="0" err="1">
                <a:latin typeface="Courier New" panose="02070309020205020404" pitchFamily="49" charset="0"/>
                <a:cs typeface="Courier New" panose="02070309020205020404" pitchFamily="49" charset="0"/>
              </a:rPr>
              <a:t>entityClass</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getResultList</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r>
              <a:rPr lang="en-US" sz="1800" b="1" kern="0" dirty="0" err="1">
                <a:latin typeface="Courier New" panose="02070309020205020404" pitchFamily="49" charset="0"/>
                <a:cs typeface="Courier New" panose="02070309020205020404" pitchFamily="49" charset="0"/>
              </a:rPr>
              <a:t>em.close</a:t>
            </a:r>
            <a:r>
              <a:rPr lang="en-US" sz="1800" b="1" kern="0" dirty="0">
                <a:latin typeface="Courier New" panose="02070309020205020404" pitchFamily="49" charset="0"/>
                <a:cs typeface="Courier New" panose="02070309020205020404" pitchFamily="49" charset="0"/>
              </a:rPr>
              <a: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return result;</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    }</a:t>
            </a:r>
          </a:p>
          <a:p>
            <a:pPr marL="0" indent="0">
              <a:lnSpc>
                <a:spcPct val="90000"/>
              </a:lnSpc>
              <a:spcBef>
                <a:spcPts val="0"/>
              </a:spcBef>
              <a:buFont typeface="Wingdings" charset="0"/>
              <a:buNone/>
            </a:pPr>
            <a:r>
              <a:rPr lang="en-US" sz="1800" b="1"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0960963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F99DD-51ED-9567-0CD0-76ECDAC0A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EE784-173A-96E4-7456-20404F3FB834}"/>
              </a:ext>
            </a:extLst>
          </p:cNvPr>
          <p:cNvSpPr>
            <a:spLocks noGrp="1"/>
          </p:cNvSpPr>
          <p:nvPr>
            <p:ph type="title"/>
          </p:nvPr>
        </p:nvSpPr>
        <p:spPr/>
        <p:txBody>
          <a:bodyPr/>
          <a:lstStyle/>
          <a:p>
            <a:r>
              <a:rPr lang="en-GB" noProof="0" dirty="0"/>
              <a:t>Typed Repository</a:t>
            </a:r>
          </a:p>
        </p:txBody>
      </p:sp>
      <p:sp>
        <p:nvSpPr>
          <p:cNvPr id="3" name="Content Placeholder 2">
            <a:extLst>
              <a:ext uri="{FF2B5EF4-FFF2-40B4-BE49-F238E27FC236}">
                <a16:creationId xmlns:a16="http://schemas.microsoft.com/office/drawing/2014/main" id="{070BB2A3-0D87-24A6-3F55-C9DEF1937ABF}"/>
              </a:ext>
            </a:extLst>
          </p:cNvPr>
          <p:cNvSpPr>
            <a:spLocks noGrp="1"/>
          </p:cNvSpPr>
          <p:nvPr>
            <p:ph idx="1"/>
          </p:nvPr>
        </p:nvSpPr>
        <p:spPr>
          <a:xfrm>
            <a:off x="539552" y="1268760"/>
            <a:ext cx="8424936" cy="5256584"/>
          </a:xfrm>
        </p:spPr>
        <p:txBody>
          <a:bodyPr>
            <a:normAutofit fontScale="77500" lnSpcReduction="20000"/>
          </a:bodyPr>
          <a:lstStyle/>
          <a:p>
            <a:r>
              <a:rPr lang="en-GB" noProof="0" dirty="0"/>
              <a:t>While a Generic Repository provides common CRUD operations for any entity, a Typed Repository is a specialized implementation for a specific entity type</a:t>
            </a:r>
          </a:p>
          <a:p>
            <a:r>
              <a:rPr lang="en-GB" noProof="0" dirty="0"/>
              <a:t>It extends the Generic Repository and allows defining custom queries tailored to the entity’s attributes and business logic</a:t>
            </a:r>
          </a:p>
          <a:p>
            <a:r>
              <a:rPr lang="en-GB" noProof="0" dirty="0"/>
              <a:t>A Typed Repository enables more complex data retrieval using JPQL, Criteria API, or native SQL queries, without exposing raw </a:t>
            </a:r>
            <a:r>
              <a:rPr lang="en-GB" noProof="0" dirty="0" err="1"/>
              <a:t>EntityManager</a:t>
            </a:r>
            <a:r>
              <a:rPr lang="en-GB" noProof="0" dirty="0"/>
              <a:t> operations in the application logic</a:t>
            </a:r>
          </a:p>
          <a:p>
            <a:r>
              <a:rPr lang="en-GB" noProof="0" dirty="0"/>
              <a:t>This approach ensures a structured separation of concerns, keeping generic persistence logic in the Generic Repository and custom queries in the Typed Repository</a:t>
            </a:r>
          </a:p>
        </p:txBody>
      </p:sp>
    </p:spTree>
    <p:extLst>
      <p:ext uri="{BB962C8B-B14F-4D97-AF65-F5344CB8AC3E}">
        <p14:creationId xmlns:p14="http://schemas.microsoft.com/office/powerpoint/2010/main" val="126918906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17B41-84EE-87CC-E1DB-792AF911E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FE160-82DF-DFCC-5706-FCF0FE488995}"/>
              </a:ext>
            </a:extLst>
          </p:cNvPr>
          <p:cNvSpPr>
            <a:spLocks noGrp="1"/>
          </p:cNvSpPr>
          <p:nvPr>
            <p:ph type="title"/>
          </p:nvPr>
        </p:nvSpPr>
        <p:spPr/>
        <p:txBody>
          <a:bodyPr/>
          <a:lstStyle/>
          <a:p>
            <a:r>
              <a:rPr lang="en-GB" noProof="0" dirty="0"/>
              <a:t>Typed Repository</a:t>
            </a:r>
          </a:p>
        </p:txBody>
      </p:sp>
      <p:sp>
        <p:nvSpPr>
          <p:cNvPr id="5" name="Rettangolo 4">
            <a:extLst>
              <a:ext uri="{FF2B5EF4-FFF2-40B4-BE49-F238E27FC236}">
                <a16:creationId xmlns:a16="http://schemas.microsoft.com/office/drawing/2014/main" id="{6E8634F1-2D92-F823-A2F1-6DE3E24F1F64}"/>
              </a:ext>
            </a:extLst>
          </p:cNvPr>
          <p:cNvSpPr/>
          <p:nvPr/>
        </p:nvSpPr>
        <p:spPr bwMode="auto">
          <a:xfrm>
            <a:off x="539552" y="1124744"/>
            <a:ext cx="8352928" cy="5400600"/>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8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B351EBFE-3AB9-2236-B3EF-D583AF4B52CC}"/>
              </a:ext>
            </a:extLst>
          </p:cNvPr>
          <p:cNvSpPr>
            <a:spLocks noGrp="1"/>
          </p:cNvSpPr>
          <p:nvPr>
            <p:ph idx="1"/>
          </p:nvPr>
        </p:nvSpPr>
        <p:spPr>
          <a:xfrm>
            <a:off x="575555" y="1196752"/>
            <a:ext cx="8260469" cy="5400600"/>
          </a:xfrm>
        </p:spPr>
        <p:txBody>
          <a:bodyPr>
            <a:normAutofit/>
          </a:bodyPr>
          <a:lstStyle/>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public class </a:t>
            </a:r>
            <a:r>
              <a:rPr lang="en-GB" sz="1800" b="1" noProof="0" dirty="0" err="1">
                <a:solidFill>
                  <a:schemeClr val="accent6">
                    <a:lumMod val="75000"/>
                  </a:schemeClr>
                </a:solidFill>
                <a:latin typeface="Courier New" panose="02070309020205020404" pitchFamily="49" charset="0"/>
                <a:cs typeface="Courier New" panose="02070309020205020404" pitchFamily="49" charset="0"/>
              </a:rPr>
              <a:t>FlightRepository</a:t>
            </a:r>
            <a:r>
              <a:rPr lang="en-GB" sz="1800" b="1" noProof="0" dirty="0">
                <a:latin typeface="Courier New" panose="02070309020205020404" pitchFamily="49" charset="0"/>
                <a:cs typeface="Courier New" panose="02070309020205020404" pitchFamily="49" charset="0"/>
              </a:rPr>
              <a:t> </a:t>
            </a:r>
          </a:p>
          <a:p>
            <a:pPr marL="0" indent="0">
              <a:lnSpc>
                <a:spcPct val="80000"/>
              </a:lnSpc>
              <a:spcBef>
                <a:spcPts val="200"/>
              </a:spcBef>
              <a:buNone/>
            </a:pPr>
            <a:r>
              <a:rPr lang="en-GB" sz="1800" b="1" dirty="0">
                <a:latin typeface="Courier New" panose="02070309020205020404" pitchFamily="49" charset="0"/>
                <a:cs typeface="Courier New" panose="02070309020205020404" pitchFamily="49" charset="0"/>
              </a:rPr>
              <a:t>		      </a:t>
            </a:r>
            <a:r>
              <a:rPr lang="en-GB" sz="1800" b="1" noProof="0" dirty="0">
                <a:latin typeface="Courier New" panose="02070309020205020404" pitchFamily="49" charset="0"/>
                <a:cs typeface="Courier New" panose="02070309020205020404" pitchFamily="49" charset="0"/>
              </a:rPr>
              <a:t>extends </a:t>
            </a:r>
            <a:r>
              <a:rPr lang="en-GB" sz="1800" b="1" noProof="0" dirty="0" err="1">
                <a:latin typeface="Courier New" panose="02070309020205020404" pitchFamily="49" charset="0"/>
                <a:cs typeface="Courier New" panose="02070309020205020404" pitchFamily="49" charset="0"/>
              </a:rPr>
              <a:t>GenericRepository</a:t>
            </a:r>
            <a:r>
              <a:rPr lang="en-GB" sz="1800" b="1" noProof="0" dirty="0">
                <a:latin typeface="Courier New" panose="02070309020205020404" pitchFamily="49" charset="0"/>
                <a:cs typeface="Courier New" panose="02070309020205020404" pitchFamily="49" charset="0"/>
              </a:rPr>
              <a:t>&lt;Flight, Long&gt;{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public </a:t>
            </a:r>
            <a:r>
              <a:rPr lang="en-GB" sz="1800" b="1" noProof="0" dirty="0" err="1">
                <a:latin typeface="Courier New" panose="02070309020205020404" pitchFamily="49" charset="0"/>
                <a:cs typeface="Courier New" panose="02070309020205020404" pitchFamily="49" charset="0"/>
              </a:rPr>
              <a:t>FlightRepository</a:t>
            </a:r>
            <a:r>
              <a:rPr lang="en-GB" sz="1800" b="1" noProof="0" dirty="0">
                <a:latin typeface="Courier New" panose="02070309020205020404" pitchFamily="49" charset="0"/>
                <a:cs typeface="Courier New" panose="02070309020205020404" pitchFamily="49" charset="0"/>
              </a:rPr>
              <a:t>() {</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super(</a:t>
            </a:r>
            <a:r>
              <a:rPr lang="en-GB" sz="1800" b="1" noProof="0" dirty="0" err="1">
                <a:latin typeface="Courier New" panose="02070309020205020404" pitchFamily="49" charset="0"/>
                <a:cs typeface="Courier New" panose="02070309020205020404" pitchFamily="49" charset="0"/>
              </a:rPr>
              <a:t>Flight.class</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    </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public List&lt;Flight&gt; </a:t>
            </a:r>
            <a:r>
              <a:rPr lang="en-GB" sz="1800" b="1" noProof="0" dirty="0" err="1">
                <a:solidFill>
                  <a:schemeClr val="accent6">
                    <a:lumMod val="75000"/>
                  </a:schemeClr>
                </a:solidFill>
                <a:latin typeface="Courier New" panose="02070309020205020404" pitchFamily="49" charset="0"/>
                <a:cs typeface="Courier New" panose="02070309020205020404" pitchFamily="49" charset="0"/>
              </a:rPr>
              <a:t>findByAirplaneModel</a:t>
            </a:r>
            <a:r>
              <a:rPr lang="en-GB" sz="1800" b="1" noProof="0" dirty="0">
                <a:latin typeface="Courier New" panose="02070309020205020404" pitchFamily="49" charset="0"/>
                <a:cs typeface="Courier New" panose="02070309020205020404" pitchFamily="49" charset="0"/>
              </a:rPr>
              <a:t>(String model) {</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EntityManager</a:t>
            </a: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em</a:t>
            </a:r>
            <a:r>
              <a:rPr lang="en-GB" sz="1800" b="1" noProof="0" dirty="0">
                <a:latin typeface="Courier New" panose="02070309020205020404" pitchFamily="49" charset="0"/>
                <a:cs typeface="Courier New" panose="02070309020205020404" pitchFamily="49" charset="0"/>
              </a:rPr>
              <a:t> = </a:t>
            </a:r>
            <a:r>
              <a:rPr lang="en-GB" sz="1800" b="1" noProof="0" dirty="0" err="1">
                <a:latin typeface="Courier New" panose="02070309020205020404" pitchFamily="49" charset="0"/>
                <a:cs typeface="Courier New" panose="02070309020205020404" pitchFamily="49" charset="0"/>
              </a:rPr>
              <a:t>JPAUtil.getEntityManager</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CriteriaBuilder</a:t>
            </a: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cb</a:t>
            </a:r>
            <a:r>
              <a:rPr lang="en-GB" sz="1800" b="1" noProof="0" dirty="0">
                <a:latin typeface="Courier New" panose="02070309020205020404" pitchFamily="49" charset="0"/>
                <a:cs typeface="Courier New" panose="02070309020205020404" pitchFamily="49" charset="0"/>
              </a:rPr>
              <a:t> = </a:t>
            </a:r>
            <a:r>
              <a:rPr lang="en-GB" sz="1800" b="1" noProof="0" dirty="0" err="1">
                <a:latin typeface="Courier New" panose="02070309020205020404" pitchFamily="49" charset="0"/>
                <a:cs typeface="Courier New" panose="02070309020205020404" pitchFamily="49" charset="0"/>
              </a:rPr>
              <a:t>em.getCriteriaBuilder</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CriteriaQuery</a:t>
            </a:r>
            <a:r>
              <a:rPr lang="en-GB" sz="1800" b="1" noProof="0" dirty="0">
                <a:latin typeface="Courier New" panose="02070309020205020404" pitchFamily="49" charset="0"/>
                <a:cs typeface="Courier New" panose="02070309020205020404" pitchFamily="49" charset="0"/>
              </a:rPr>
              <a:t>&lt;Flight&gt; query = </a:t>
            </a:r>
          </a:p>
          <a:p>
            <a:pPr marL="0" indent="0">
              <a:lnSpc>
                <a:spcPct val="80000"/>
              </a:lnSpc>
              <a:spcBef>
                <a:spcPts val="200"/>
              </a:spcBef>
              <a:buNone/>
            </a:pPr>
            <a:r>
              <a:rPr lang="en-GB" sz="1800" b="1"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cb.createQuery</a:t>
            </a:r>
            <a:r>
              <a:rPr lang="en-GB" sz="1800" b="1" noProof="0" dirty="0">
                <a:latin typeface="Courier New" panose="02070309020205020404" pitchFamily="49" charset="0"/>
                <a:cs typeface="Courier New" panose="02070309020205020404" pitchFamily="49" charset="0"/>
              </a:rPr>
              <a:t>(</a:t>
            </a:r>
            <a:r>
              <a:rPr lang="en-GB" sz="1800" b="1" noProof="0" dirty="0" err="1">
                <a:latin typeface="Courier New" panose="02070309020205020404" pitchFamily="49" charset="0"/>
                <a:cs typeface="Courier New" panose="02070309020205020404" pitchFamily="49" charset="0"/>
              </a:rPr>
              <a:t>Flight.class</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Root&lt;Flight&gt; root = </a:t>
            </a:r>
            <a:r>
              <a:rPr lang="en-GB" sz="1800" b="1" noProof="0" dirty="0" err="1">
                <a:latin typeface="Courier New" panose="02070309020205020404" pitchFamily="49" charset="0"/>
                <a:cs typeface="Courier New" panose="02070309020205020404" pitchFamily="49" charset="0"/>
              </a:rPr>
              <a:t>query.from</a:t>
            </a:r>
            <a:r>
              <a:rPr lang="en-GB" sz="1800" b="1" noProof="0" dirty="0">
                <a:latin typeface="Courier New" panose="02070309020205020404" pitchFamily="49" charset="0"/>
                <a:cs typeface="Courier New" panose="02070309020205020404" pitchFamily="49" charset="0"/>
              </a:rPr>
              <a:t>(</a:t>
            </a:r>
            <a:r>
              <a:rPr lang="en-GB" sz="1800" b="1" noProof="0" dirty="0" err="1">
                <a:latin typeface="Courier New" panose="02070309020205020404" pitchFamily="49" charset="0"/>
                <a:cs typeface="Courier New" panose="02070309020205020404" pitchFamily="49" charset="0"/>
              </a:rPr>
              <a:t>Flight.class</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Join&lt;Flight, Airplane&gt; </a:t>
            </a:r>
            <a:r>
              <a:rPr lang="en-GB" sz="1800" b="1" noProof="0" dirty="0" err="1">
                <a:latin typeface="Courier New" panose="02070309020205020404" pitchFamily="49" charset="0"/>
                <a:cs typeface="Courier New" panose="02070309020205020404" pitchFamily="49" charset="0"/>
              </a:rPr>
              <a:t>airplaneJoin</a:t>
            </a:r>
            <a:r>
              <a:rPr lang="en-GB" sz="1800" b="1" noProof="0" dirty="0">
                <a:latin typeface="Courier New" panose="02070309020205020404" pitchFamily="49" charset="0"/>
                <a:cs typeface="Courier New" panose="02070309020205020404" pitchFamily="49" charset="0"/>
              </a:rPr>
              <a:t> = </a:t>
            </a:r>
          </a:p>
          <a:p>
            <a:pPr marL="0" indent="0">
              <a:lnSpc>
                <a:spcPct val="80000"/>
              </a:lnSpc>
              <a:spcBef>
                <a:spcPts val="200"/>
              </a:spcBef>
              <a:buNone/>
            </a:pPr>
            <a:r>
              <a:rPr lang="en-GB" sz="1800" b="1"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root.join</a:t>
            </a:r>
            <a:r>
              <a:rPr lang="en-GB" sz="1800" b="1" noProof="0" dirty="0">
                <a:latin typeface="Courier New" panose="02070309020205020404" pitchFamily="49" charset="0"/>
                <a:cs typeface="Courier New" panose="02070309020205020404" pitchFamily="49" charset="0"/>
              </a:rPr>
              <a:t>("airplane");</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query.select</a:t>
            </a:r>
            <a:r>
              <a:rPr lang="en-GB" sz="1800" b="1" noProof="0" dirty="0">
                <a:latin typeface="Courier New" panose="02070309020205020404" pitchFamily="49" charset="0"/>
                <a:cs typeface="Courier New" panose="02070309020205020404" pitchFamily="49" charset="0"/>
              </a:rPr>
              <a:t>(root)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.where(</a:t>
            </a:r>
            <a:r>
              <a:rPr lang="en-GB" sz="1800" b="1" noProof="0" dirty="0" err="1">
                <a:latin typeface="Courier New" panose="02070309020205020404" pitchFamily="49" charset="0"/>
                <a:cs typeface="Courier New" panose="02070309020205020404" pitchFamily="49" charset="0"/>
              </a:rPr>
              <a:t>cb.equal</a:t>
            </a:r>
            <a:r>
              <a:rPr lang="en-GB" sz="1800" b="1" noProof="0" dirty="0">
                <a:latin typeface="Courier New" panose="02070309020205020404" pitchFamily="49" charset="0"/>
                <a:cs typeface="Courier New" panose="02070309020205020404" pitchFamily="49" charset="0"/>
              </a:rPr>
              <a:t>(</a:t>
            </a:r>
            <a:r>
              <a:rPr lang="en-GB" sz="1800" b="1" noProof="0" dirty="0" err="1">
                <a:latin typeface="Courier New" panose="02070309020205020404" pitchFamily="49" charset="0"/>
                <a:cs typeface="Courier New" panose="02070309020205020404" pitchFamily="49" charset="0"/>
              </a:rPr>
              <a:t>airplaneJoin.get</a:t>
            </a:r>
            <a:r>
              <a:rPr lang="en-GB" sz="1800" b="1" noProof="0" dirty="0">
                <a:latin typeface="Courier New" panose="02070309020205020404" pitchFamily="49" charset="0"/>
                <a:cs typeface="Courier New" panose="02070309020205020404" pitchFamily="49" charset="0"/>
              </a:rPr>
              <a:t>("model"), model));</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List&lt;Flight&gt; flights =  </a:t>
            </a:r>
            <a:r>
              <a:rPr lang="en-GB" sz="1800" b="1" noProof="0" dirty="0" err="1">
                <a:latin typeface="Courier New" panose="02070309020205020404" pitchFamily="49" charset="0"/>
                <a:cs typeface="Courier New" panose="02070309020205020404" pitchFamily="49" charset="0"/>
              </a:rPr>
              <a:t>em.createQuery</a:t>
            </a:r>
            <a:r>
              <a:rPr lang="en-GB" sz="1800" b="1" noProof="0" dirty="0">
                <a:latin typeface="Courier New" panose="02070309020205020404" pitchFamily="49" charset="0"/>
                <a:cs typeface="Courier New" panose="02070309020205020404" pitchFamily="49" charset="0"/>
              </a:rPr>
              <a:t>(query)</a:t>
            </a:r>
          </a:p>
          <a:p>
            <a:pPr marL="0" indent="0">
              <a:lnSpc>
                <a:spcPct val="80000"/>
              </a:lnSpc>
              <a:spcBef>
                <a:spcPts val="200"/>
              </a:spcBef>
              <a:buNone/>
            </a:pPr>
            <a:r>
              <a:rPr lang="en-GB" sz="1800" b="1" dirty="0">
                <a:latin typeface="Courier New" panose="02070309020205020404" pitchFamily="49" charset="0"/>
                <a:cs typeface="Courier New" panose="02070309020205020404" pitchFamily="49" charset="0"/>
              </a:rPr>
              <a:t>								 </a:t>
            </a:r>
            <a:r>
              <a:rPr lang="en-GB" sz="1800" b="1" noProof="0" dirty="0">
                <a:latin typeface="Courier New" panose="02070309020205020404" pitchFamily="49" charset="0"/>
                <a:cs typeface="Courier New" panose="02070309020205020404" pitchFamily="49" charset="0"/>
              </a:rPr>
              <a:t>.</a:t>
            </a:r>
            <a:r>
              <a:rPr lang="en-GB" sz="1800" b="1" noProof="0" dirty="0" err="1">
                <a:latin typeface="Courier New" panose="02070309020205020404" pitchFamily="49" charset="0"/>
                <a:cs typeface="Courier New" panose="02070309020205020404" pitchFamily="49" charset="0"/>
              </a:rPr>
              <a:t>getResultList</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a:t>
            </a:r>
            <a:r>
              <a:rPr lang="en-GB" sz="1800" b="1" noProof="0" dirty="0" err="1">
                <a:latin typeface="Courier New" panose="02070309020205020404" pitchFamily="49" charset="0"/>
                <a:cs typeface="Courier New" panose="02070309020205020404" pitchFamily="49" charset="0"/>
              </a:rPr>
              <a:t>em.close</a:t>
            </a: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return flights;</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  }</a:t>
            </a:r>
          </a:p>
          <a:p>
            <a:pPr marL="0" indent="0">
              <a:lnSpc>
                <a:spcPct val="80000"/>
              </a:lnSpc>
              <a:spcBef>
                <a:spcPts val="200"/>
              </a:spcBef>
              <a:buNone/>
            </a:pPr>
            <a:r>
              <a:rPr lang="en-GB" sz="1800" b="1" noProof="0" dirty="0">
                <a:latin typeface="Courier New" panose="02070309020205020404" pitchFamily="49" charset="0"/>
                <a:cs typeface="Courier New" panose="02070309020205020404" pitchFamily="49" charset="0"/>
              </a:rPr>
              <a:t>}</a:t>
            </a:r>
          </a:p>
          <a:p>
            <a:pPr marL="0" indent="0">
              <a:lnSpc>
                <a:spcPct val="80000"/>
              </a:lnSpc>
              <a:spcBef>
                <a:spcPts val="200"/>
              </a:spcBef>
              <a:buNone/>
            </a:pPr>
            <a:endParaRPr lang="en-GB" sz="1800" b="1" noProof="0" dirty="0">
              <a:latin typeface="Courier New" panose="02070309020205020404" pitchFamily="49" charset="0"/>
              <a:cs typeface="Courier New" panose="02070309020205020404" pitchFamily="49" charset="0"/>
            </a:endParaRPr>
          </a:p>
          <a:p>
            <a:pPr marL="0" indent="0">
              <a:lnSpc>
                <a:spcPct val="80000"/>
              </a:lnSpc>
              <a:spcBef>
                <a:spcPts val="200"/>
              </a:spcBef>
              <a:buNone/>
            </a:pPr>
            <a:endParaRPr lang="en-GB" sz="1800" b="1"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9489650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A21E11-1BB1-638A-49CA-EBB16127D0BE}"/>
              </a:ext>
            </a:extLst>
          </p:cNvPr>
          <p:cNvSpPr>
            <a:spLocks noGrp="1"/>
          </p:cNvSpPr>
          <p:nvPr>
            <p:ph type="title"/>
          </p:nvPr>
        </p:nvSpPr>
        <p:spPr/>
        <p:txBody>
          <a:bodyPr/>
          <a:lstStyle/>
          <a:p>
            <a:r>
              <a:rPr lang="en-GB" noProof="0" dirty="0"/>
              <a:t>Main executor</a:t>
            </a:r>
          </a:p>
        </p:txBody>
      </p:sp>
      <p:sp>
        <p:nvSpPr>
          <p:cNvPr id="3" name="Segnaposto contenuto 2">
            <a:extLst>
              <a:ext uri="{FF2B5EF4-FFF2-40B4-BE49-F238E27FC236}">
                <a16:creationId xmlns:a16="http://schemas.microsoft.com/office/drawing/2014/main" id="{7E2638F5-9FF9-8A28-B399-3CEA172E9091}"/>
              </a:ext>
            </a:extLst>
          </p:cNvPr>
          <p:cNvSpPr>
            <a:spLocks noGrp="1"/>
          </p:cNvSpPr>
          <p:nvPr>
            <p:ph idx="1"/>
          </p:nvPr>
        </p:nvSpPr>
        <p:spPr/>
        <p:txBody>
          <a:bodyPr>
            <a:normAutofit fontScale="70000" lnSpcReduction="20000"/>
          </a:bodyPr>
          <a:lstStyle/>
          <a:p>
            <a:r>
              <a:rPr lang="en-GB" noProof="0" dirty="0"/>
              <a:t>The Main Executor serves as the entry point for the application, handling entity persistence and data manipulation in the database.</a:t>
            </a:r>
          </a:p>
          <a:p>
            <a:r>
              <a:rPr lang="en-GB" noProof="0" dirty="0"/>
              <a:t>Since Hibernate is used standalone (without a higher-level framework), it is necessary to explicitly close </a:t>
            </a:r>
            <a:r>
              <a:rPr lang="en-GB" noProof="0" dirty="0" err="1"/>
              <a:t>EntityManagerFactory</a:t>
            </a:r>
            <a:r>
              <a:rPr lang="en-GB" noProof="0" dirty="0"/>
              <a:t> when the application shuts down.</a:t>
            </a:r>
          </a:p>
          <a:p>
            <a:r>
              <a:rPr lang="en-GB" noProof="0" dirty="0"/>
              <a:t>A shutdown hook is registered to ensure that Hibernate properly releases resources at the end of execution.</a:t>
            </a:r>
          </a:p>
          <a:p>
            <a:r>
              <a:rPr lang="en-GB" noProof="0" dirty="0"/>
              <a:t>In frameworks like Spring or Jakarta EE, this process is managed automatically, but when using Hibernate standalone, it must be handled manually.</a:t>
            </a:r>
          </a:p>
        </p:txBody>
      </p:sp>
    </p:spTree>
    <p:extLst>
      <p:ext uri="{BB962C8B-B14F-4D97-AF65-F5344CB8AC3E}">
        <p14:creationId xmlns:p14="http://schemas.microsoft.com/office/powerpoint/2010/main" val="201632802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A083AE-0767-9A19-06A4-EA33E44F103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3CB7CBC-792D-D202-D99B-91E40C486DD6}"/>
              </a:ext>
            </a:extLst>
          </p:cNvPr>
          <p:cNvSpPr>
            <a:spLocks noGrp="1"/>
          </p:cNvSpPr>
          <p:nvPr>
            <p:ph type="title"/>
          </p:nvPr>
        </p:nvSpPr>
        <p:spPr/>
        <p:txBody>
          <a:bodyPr/>
          <a:lstStyle/>
          <a:p>
            <a:r>
              <a:rPr lang="en-GB" noProof="0" dirty="0"/>
              <a:t>Main executor</a:t>
            </a:r>
          </a:p>
        </p:txBody>
      </p:sp>
      <p:sp>
        <p:nvSpPr>
          <p:cNvPr id="4" name="Rettangolo 3">
            <a:extLst>
              <a:ext uri="{FF2B5EF4-FFF2-40B4-BE49-F238E27FC236}">
                <a16:creationId xmlns:a16="http://schemas.microsoft.com/office/drawing/2014/main" id="{5292B166-160C-4EAE-CA99-531A05E0866B}"/>
              </a:ext>
            </a:extLst>
          </p:cNvPr>
          <p:cNvSpPr/>
          <p:nvPr/>
        </p:nvSpPr>
        <p:spPr bwMode="auto">
          <a:xfrm>
            <a:off x="395536" y="1052736"/>
            <a:ext cx="8440489" cy="532859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Segnaposto contenuto 2">
            <a:extLst>
              <a:ext uri="{FF2B5EF4-FFF2-40B4-BE49-F238E27FC236}">
                <a16:creationId xmlns:a16="http://schemas.microsoft.com/office/drawing/2014/main" id="{0F9C9848-B4FB-7A26-F297-7BF2E81DA8F8}"/>
              </a:ext>
            </a:extLst>
          </p:cNvPr>
          <p:cNvSpPr>
            <a:spLocks noGrp="1"/>
          </p:cNvSpPr>
          <p:nvPr>
            <p:ph idx="1"/>
          </p:nvPr>
        </p:nvSpPr>
        <p:spPr>
          <a:xfrm>
            <a:off x="395536" y="1052736"/>
            <a:ext cx="8607425" cy="5328592"/>
          </a:xfrm>
        </p:spPr>
        <p:txBody>
          <a:bodyPr>
            <a:normAutofit fontScale="32500" lnSpcReduction="20000"/>
          </a:bodyPr>
          <a:lstStyle/>
          <a:p>
            <a:pPr marL="0" indent="0">
              <a:buNone/>
            </a:pPr>
            <a:r>
              <a:rPr lang="en-GB" noProof="0" dirty="0">
                <a:latin typeface="Courier New" panose="02070309020205020404" pitchFamily="49" charset="0"/>
                <a:cs typeface="Courier New" panose="02070309020205020404" pitchFamily="49" charset="0"/>
              </a:rPr>
              <a:t>public class </a:t>
            </a:r>
            <a:r>
              <a:rPr lang="en-GB" noProof="0" dirty="0" err="1">
                <a:latin typeface="Courier New" panose="02070309020205020404" pitchFamily="49" charset="0"/>
                <a:cs typeface="Courier New" panose="02070309020205020404" pitchFamily="49" charset="0"/>
              </a:rPr>
              <a:t>DatabaseInitializer</a:t>
            </a:r>
            <a:r>
              <a:rPr lang="en-GB" noProof="0" dirty="0">
                <a:latin typeface="Courier New" panose="02070309020205020404" pitchFamily="49" charset="0"/>
                <a:cs typeface="Courier New" panose="02070309020205020404" pitchFamily="49" charset="0"/>
              </a:rPr>
              <a:t> {</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a:latin typeface="Courier New" panose="02070309020205020404" pitchFamily="49" charset="0"/>
                <a:cs typeface="Courier New" panose="02070309020205020404" pitchFamily="49" charset="0"/>
              </a:rPr>
              <a:t>    private static final </a:t>
            </a:r>
            <a:r>
              <a:rPr lang="en-GB" noProof="0" dirty="0" err="1">
                <a:latin typeface="Courier New" panose="02070309020205020404" pitchFamily="49" charset="0"/>
                <a:cs typeface="Courier New" panose="02070309020205020404" pitchFamily="49" charset="0"/>
              </a:rPr>
              <a:t>GenericRepository</a:t>
            </a:r>
            <a:r>
              <a:rPr lang="en-GB" noProof="0" dirty="0">
                <a:latin typeface="Courier New" panose="02070309020205020404" pitchFamily="49" charset="0"/>
                <a:cs typeface="Courier New" panose="02070309020205020404" pitchFamily="49" charset="0"/>
              </a:rPr>
              <a:t>&lt;Airplane, Long&gt; </a:t>
            </a:r>
            <a:r>
              <a:rPr lang="en-GB" noProof="0" dirty="0" err="1">
                <a:latin typeface="Courier New" panose="02070309020205020404" pitchFamily="49" charset="0"/>
                <a:cs typeface="Courier New" panose="02070309020205020404" pitchFamily="49" charset="0"/>
              </a:rPr>
              <a:t>airplaneRepository</a:t>
            </a:r>
            <a:r>
              <a:rPr lang="en-GB" noProof="0" dirty="0">
                <a:latin typeface="Courier New" panose="02070309020205020404" pitchFamily="49" charset="0"/>
                <a:cs typeface="Courier New" panose="02070309020205020404" pitchFamily="49" charset="0"/>
              </a:rPr>
              <a:t> = new </a:t>
            </a:r>
            <a:r>
              <a:rPr lang="en-GB" noProof="0" dirty="0" err="1">
                <a:latin typeface="Courier New" panose="02070309020205020404" pitchFamily="49" charset="0"/>
                <a:cs typeface="Courier New" panose="02070309020205020404" pitchFamily="49" charset="0"/>
              </a:rPr>
              <a:t>GenericRepository</a:t>
            </a:r>
            <a:r>
              <a:rPr lang="en-GB" noProof="0" dirty="0">
                <a:latin typeface="Courier New" panose="02070309020205020404" pitchFamily="49" charset="0"/>
                <a:cs typeface="Courier New" panose="02070309020205020404" pitchFamily="49" charset="0"/>
              </a:rPr>
              <a:t>&lt;&gt;(</a:t>
            </a:r>
            <a:r>
              <a:rPr lang="en-GB" noProof="0" dirty="0" err="1">
                <a:latin typeface="Courier New" panose="02070309020205020404" pitchFamily="49" charset="0"/>
                <a:cs typeface="Courier New" panose="02070309020205020404" pitchFamily="49" charset="0"/>
              </a:rPr>
              <a:t>Airplane.class</a:t>
            </a:r>
            <a:r>
              <a:rPr lang="en-GB" noProof="0" dirty="0">
                <a:latin typeface="Courier New" panose="02070309020205020404" pitchFamily="49" charset="0"/>
                <a:cs typeface="Courier New" panose="02070309020205020404" pitchFamily="49" charset="0"/>
              </a:rPr>
              <a:t>) {};</a:t>
            </a:r>
          </a:p>
          <a:p>
            <a:pPr marL="0" indent="0">
              <a:buNone/>
            </a:pPr>
            <a:r>
              <a:rPr lang="en-GB" noProof="0" dirty="0">
                <a:latin typeface="Courier New" panose="02070309020205020404" pitchFamily="49" charset="0"/>
                <a:cs typeface="Courier New" panose="02070309020205020404" pitchFamily="49" charset="0"/>
              </a:rPr>
              <a:t>    private static final </a:t>
            </a:r>
            <a:r>
              <a:rPr lang="en-GB" noProof="0" dirty="0" err="1">
                <a:latin typeface="Courier New" panose="02070309020205020404" pitchFamily="49" charset="0"/>
                <a:cs typeface="Courier New" panose="02070309020205020404" pitchFamily="49" charset="0"/>
              </a:rPr>
              <a:t>FlightRepository</a:t>
            </a:r>
            <a:r>
              <a:rPr lang="en-GB" noProof="0" dirty="0">
                <a:latin typeface="Courier New" panose="02070309020205020404" pitchFamily="49" charset="0"/>
                <a:cs typeface="Courier New" panose="02070309020205020404" pitchFamily="49" charset="0"/>
              </a:rPr>
              <a:t> </a:t>
            </a:r>
            <a:r>
              <a:rPr lang="en-GB" noProof="0" dirty="0" err="1">
                <a:latin typeface="Courier New" panose="02070309020205020404" pitchFamily="49" charset="0"/>
                <a:cs typeface="Courier New" panose="02070309020205020404" pitchFamily="49" charset="0"/>
              </a:rPr>
              <a:t>flightRepository</a:t>
            </a:r>
            <a:r>
              <a:rPr lang="en-GB" noProof="0" dirty="0">
                <a:latin typeface="Courier New" panose="02070309020205020404" pitchFamily="49" charset="0"/>
                <a:cs typeface="Courier New" panose="02070309020205020404" pitchFamily="49" charset="0"/>
              </a:rPr>
              <a:t> = new </a:t>
            </a:r>
            <a:r>
              <a:rPr lang="en-GB" noProof="0" dirty="0" err="1">
                <a:latin typeface="Courier New" panose="02070309020205020404" pitchFamily="49" charset="0"/>
                <a:cs typeface="Courier New" panose="02070309020205020404" pitchFamily="49" charset="0"/>
              </a:rPr>
              <a:t>FlightRepository</a:t>
            </a:r>
            <a:r>
              <a:rPr lang="en-GB" noProof="0" dirty="0">
                <a:latin typeface="Courier New" panose="02070309020205020404" pitchFamily="49" charset="0"/>
                <a:cs typeface="Courier New" panose="02070309020205020404" pitchFamily="49" charset="0"/>
              </a:rPr>
              <a:t>();</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a:latin typeface="Courier New" panose="02070309020205020404" pitchFamily="49" charset="0"/>
                <a:cs typeface="Courier New" panose="02070309020205020404" pitchFamily="49" charset="0"/>
              </a:rPr>
              <a:t>    public static void main(String[] </a:t>
            </a:r>
            <a:r>
              <a:rPr lang="en-GB" noProof="0" dirty="0" err="1">
                <a:latin typeface="Courier New" panose="02070309020205020404" pitchFamily="49" charset="0"/>
                <a:cs typeface="Courier New" panose="02070309020205020404" pitchFamily="49" charset="0"/>
              </a:rPr>
              <a:t>args</a:t>
            </a:r>
            <a:r>
              <a:rPr lang="en-GB" noProof="0" dirty="0">
                <a:latin typeface="Courier New" panose="02070309020205020404" pitchFamily="49" charset="0"/>
                <a:cs typeface="Courier New" panose="02070309020205020404" pitchFamily="49" charset="0"/>
              </a:rPr>
              <a:t>) {</a:t>
            </a:r>
          </a:p>
          <a:p>
            <a:pPr marL="0" indent="0">
              <a:buNone/>
            </a:pPr>
            <a:r>
              <a:rPr lang="en-GB" noProof="0" dirty="0">
                <a:latin typeface="Courier New" panose="02070309020205020404" pitchFamily="49" charset="0"/>
                <a:cs typeface="Courier New" panose="02070309020205020404" pitchFamily="49" charset="0"/>
              </a:rPr>
              <a:t>        </a:t>
            </a:r>
            <a:r>
              <a:rPr lang="en-GB" b="1" noProof="0" dirty="0" err="1">
                <a:latin typeface="Courier New" panose="02070309020205020404" pitchFamily="49" charset="0"/>
                <a:cs typeface="Courier New" panose="02070309020205020404" pitchFamily="49" charset="0"/>
              </a:rPr>
              <a:t>Runtime.getRuntime</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addShutdownHook</a:t>
            </a:r>
            <a:r>
              <a:rPr lang="en-GB" b="1" noProof="0" dirty="0">
                <a:latin typeface="Courier New" panose="02070309020205020404" pitchFamily="49" charset="0"/>
                <a:cs typeface="Courier New" panose="02070309020205020404" pitchFamily="49" charset="0"/>
              </a:rPr>
              <a:t>(new Thread(</a:t>
            </a:r>
            <a:r>
              <a:rPr lang="en-GB" b="1" noProof="0" dirty="0" err="1">
                <a:latin typeface="Courier New" panose="02070309020205020404" pitchFamily="49" charset="0"/>
                <a:cs typeface="Courier New" panose="02070309020205020404" pitchFamily="49" charset="0"/>
              </a:rPr>
              <a:t>JPAUtil</a:t>
            </a:r>
            <a:r>
              <a:rPr lang="en-GB" b="1" noProof="0" dirty="0">
                <a:latin typeface="Courier New" panose="02070309020205020404" pitchFamily="49" charset="0"/>
                <a:cs typeface="Courier New" panose="02070309020205020404" pitchFamily="49" charset="0"/>
              </a:rPr>
              <a:t>::close));</a:t>
            </a:r>
          </a:p>
          <a:p>
            <a:pPr marL="0" indent="0">
              <a:buNone/>
            </a:pPr>
            <a:r>
              <a:rPr lang="en-GB" noProof="0" dirty="0">
                <a:latin typeface="Courier New" panose="02070309020205020404" pitchFamily="49" charset="0"/>
                <a:cs typeface="Courier New" panose="02070309020205020404" pitchFamily="49" charset="0"/>
              </a:rPr>
              <a:t>        </a:t>
            </a:r>
            <a:r>
              <a:rPr lang="en-GB" noProof="0" dirty="0" err="1">
                <a:latin typeface="Courier New" panose="02070309020205020404" pitchFamily="49" charset="0"/>
                <a:cs typeface="Courier New" panose="02070309020205020404" pitchFamily="49" charset="0"/>
              </a:rPr>
              <a:t>DatabaseInitializer.initialize</a:t>
            </a:r>
            <a:r>
              <a:rPr lang="en-GB" noProof="0" dirty="0">
                <a:latin typeface="Courier New" panose="02070309020205020404" pitchFamily="49" charset="0"/>
                <a:cs typeface="Courier New" panose="02070309020205020404" pitchFamily="49" charset="0"/>
              </a:rPr>
              <a:t>();</a:t>
            </a:r>
          </a:p>
          <a:p>
            <a:pPr marL="0" indent="0">
              <a:buNone/>
            </a:pPr>
            <a:r>
              <a:rPr lang="en-GB" noProof="0" dirty="0">
                <a:latin typeface="Courier New" panose="02070309020205020404" pitchFamily="49" charset="0"/>
                <a:cs typeface="Courier New" panose="02070309020205020404" pitchFamily="49" charset="0"/>
              </a:rPr>
              <a:t>    }</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a:latin typeface="Courier New" panose="02070309020205020404" pitchFamily="49" charset="0"/>
                <a:cs typeface="Courier New" panose="02070309020205020404" pitchFamily="49" charset="0"/>
              </a:rPr>
              <a:t>    public static void initialize() {</a:t>
            </a:r>
          </a:p>
          <a:p>
            <a:pPr marL="0" indent="0">
              <a:buNone/>
            </a:pPr>
            <a:r>
              <a:rPr lang="en-GB" noProof="0" dirty="0">
                <a:latin typeface="Courier New" panose="02070309020205020404" pitchFamily="49" charset="0"/>
                <a:cs typeface="Courier New" panose="02070309020205020404" pitchFamily="49" charset="0"/>
              </a:rPr>
              <a:t>        Airplane airplane1 = </a:t>
            </a:r>
            <a:r>
              <a:rPr lang="en-GB" noProof="0" dirty="0" err="1">
                <a:latin typeface="Courier New" panose="02070309020205020404" pitchFamily="49" charset="0"/>
                <a:cs typeface="Courier New" panose="02070309020205020404" pitchFamily="49" charset="0"/>
              </a:rPr>
              <a:t>createAirplane</a:t>
            </a:r>
            <a:r>
              <a:rPr lang="en-GB" noProof="0" dirty="0">
                <a:latin typeface="Courier New" panose="02070309020205020404" pitchFamily="49" charset="0"/>
                <a:cs typeface="Courier New" panose="02070309020205020404" pitchFamily="49" charset="0"/>
              </a:rPr>
              <a:t>("Boeing 737", "Airways", 180, </a:t>
            </a:r>
            <a:r>
              <a:rPr lang="en-GB" noProof="0" dirty="0" err="1">
                <a:latin typeface="Courier New" panose="02070309020205020404" pitchFamily="49" charset="0"/>
                <a:cs typeface="Courier New" panose="02070309020205020404" pitchFamily="49" charset="0"/>
              </a:rPr>
              <a:t>AirplaneStatus.IN_SERVICE</a:t>
            </a:r>
            <a:r>
              <a:rPr lang="en-GB" noProof="0" dirty="0">
                <a:latin typeface="Courier New" panose="02070309020205020404" pitchFamily="49" charset="0"/>
                <a:cs typeface="Courier New" panose="02070309020205020404" pitchFamily="49" charset="0"/>
              </a:rPr>
              <a:t>);</a:t>
            </a:r>
          </a:p>
          <a:p>
            <a:pPr marL="0" indent="0">
              <a:buNone/>
            </a:pPr>
            <a:r>
              <a:rPr lang="en-GB" noProof="0" dirty="0">
                <a:latin typeface="Courier New" panose="02070309020205020404" pitchFamily="49" charset="0"/>
                <a:cs typeface="Courier New" panose="02070309020205020404" pitchFamily="49" charset="0"/>
              </a:rPr>
              <a:t>        Airplane airplane2 = </a:t>
            </a:r>
            <a:r>
              <a:rPr lang="en-GB" noProof="0" dirty="0" err="1">
                <a:latin typeface="Courier New" panose="02070309020205020404" pitchFamily="49" charset="0"/>
                <a:cs typeface="Courier New" panose="02070309020205020404" pitchFamily="49" charset="0"/>
              </a:rPr>
              <a:t>createAirplane</a:t>
            </a:r>
            <a:r>
              <a:rPr lang="en-GB" noProof="0" dirty="0">
                <a:latin typeface="Courier New" panose="02070309020205020404" pitchFamily="49" charset="0"/>
                <a:cs typeface="Courier New" panose="02070309020205020404" pitchFamily="49" charset="0"/>
              </a:rPr>
              <a:t>("Airbus A320", "Sky Airlines", 160, </a:t>
            </a:r>
            <a:r>
              <a:rPr lang="en-GB" noProof="0" dirty="0" err="1">
                <a:latin typeface="Courier New" panose="02070309020205020404" pitchFamily="49" charset="0"/>
                <a:cs typeface="Courier New" panose="02070309020205020404" pitchFamily="49" charset="0"/>
              </a:rPr>
              <a:t>AirplaneStatus.IN_SERVICE</a:t>
            </a:r>
            <a:r>
              <a:rPr lang="en-GB" noProof="0" dirty="0">
                <a:latin typeface="Courier New" panose="02070309020205020404" pitchFamily="49" charset="0"/>
                <a:cs typeface="Courier New" panose="02070309020205020404" pitchFamily="49" charset="0"/>
              </a:rPr>
              <a:t>);</a:t>
            </a:r>
          </a:p>
          <a:p>
            <a:pPr marL="0" indent="0">
              <a:buNone/>
            </a:pPr>
            <a:r>
              <a:rPr lang="en-GB" noProof="0" dirty="0">
                <a:latin typeface="Courier New" panose="02070309020205020404" pitchFamily="49" charset="0"/>
                <a:cs typeface="Courier New" panose="02070309020205020404" pitchFamily="49" charset="0"/>
              </a:rPr>
              <a:t>        </a:t>
            </a:r>
            <a:r>
              <a:rPr lang="en-GB" noProof="0" dirty="0" err="1">
                <a:latin typeface="Courier New" panose="02070309020205020404" pitchFamily="49" charset="0"/>
                <a:cs typeface="Courier New" panose="02070309020205020404" pitchFamily="49" charset="0"/>
              </a:rPr>
              <a:t>airplaneRepository.save</a:t>
            </a:r>
            <a:r>
              <a:rPr lang="en-GB" noProof="0" dirty="0">
                <a:latin typeface="Courier New" panose="02070309020205020404" pitchFamily="49" charset="0"/>
                <a:cs typeface="Courier New" panose="02070309020205020404" pitchFamily="49" charset="0"/>
              </a:rPr>
              <a:t>(airplane1);</a:t>
            </a:r>
          </a:p>
          <a:p>
            <a:pPr marL="0" indent="0">
              <a:buNone/>
            </a:pPr>
            <a:r>
              <a:rPr lang="en-GB" noProof="0" dirty="0">
                <a:latin typeface="Courier New" panose="02070309020205020404" pitchFamily="49" charset="0"/>
                <a:cs typeface="Courier New" panose="02070309020205020404" pitchFamily="49" charset="0"/>
              </a:rPr>
              <a:t>        </a:t>
            </a:r>
            <a:r>
              <a:rPr lang="en-GB" noProof="0" dirty="0" err="1">
                <a:latin typeface="Courier New" panose="02070309020205020404" pitchFamily="49" charset="0"/>
                <a:cs typeface="Courier New" panose="02070309020205020404" pitchFamily="49" charset="0"/>
              </a:rPr>
              <a:t>airplaneRepository.save</a:t>
            </a:r>
            <a:r>
              <a:rPr lang="en-GB" noProof="0" dirty="0">
                <a:latin typeface="Courier New" panose="02070309020205020404" pitchFamily="49" charset="0"/>
                <a:cs typeface="Courier New" panose="02070309020205020404" pitchFamily="49" charset="0"/>
              </a:rPr>
              <a:t>(airplane2);</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a:latin typeface="Courier New" panose="02070309020205020404" pitchFamily="49" charset="0"/>
                <a:cs typeface="Courier New" panose="02070309020205020404" pitchFamily="49" charset="0"/>
              </a:rPr>
              <a:t>        Flight flight1 = </a:t>
            </a:r>
            <a:r>
              <a:rPr lang="en-GB" noProof="0" dirty="0" err="1">
                <a:latin typeface="Courier New" panose="02070309020205020404" pitchFamily="49" charset="0"/>
                <a:cs typeface="Courier New" panose="02070309020205020404" pitchFamily="49" charset="0"/>
              </a:rPr>
              <a:t>createFlight</a:t>
            </a:r>
            <a:r>
              <a:rPr lang="en-GB" noProof="0" dirty="0">
                <a:latin typeface="Courier New" panose="02070309020205020404" pitchFamily="49" charset="0"/>
                <a:cs typeface="Courier New" panose="02070309020205020404" pitchFamily="49" charset="0"/>
              </a:rPr>
              <a:t>("FL1234", "2024-04-01T10:00", "2024-04-01T13:00", airplane1);</a:t>
            </a:r>
          </a:p>
          <a:p>
            <a:pPr marL="0" indent="0">
              <a:buNone/>
            </a:pPr>
            <a:r>
              <a:rPr lang="en-GB" noProof="0" dirty="0">
                <a:latin typeface="Courier New" panose="02070309020205020404" pitchFamily="49" charset="0"/>
                <a:cs typeface="Courier New" panose="02070309020205020404" pitchFamily="49" charset="0"/>
              </a:rPr>
              <a:t>        Flight flight2 = </a:t>
            </a:r>
            <a:r>
              <a:rPr lang="en-GB" noProof="0" dirty="0" err="1">
                <a:latin typeface="Courier New" panose="02070309020205020404" pitchFamily="49" charset="0"/>
                <a:cs typeface="Courier New" panose="02070309020205020404" pitchFamily="49" charset="0"/>
              </a:rPr>
              <a:t>createFlight</a:t>
            </a:r>
            <a:r>
              <a:rPr lang="en-GB" noProof="0" dirty="0">
                <a:latin typeface="Courier New" panose="02070309020205020404" pitchFamily="49" charset="0"/>
                <a:cs typeface="Courier New" panose="02070309020205020404" pitchFamily="49" charset="0"/>
              </a:rPr>
              <a:t>("FL5678", "2024-04-02T12:00", "2024-04-02T16:00", airplane2);</a:t>
            </a:r>
          </a:p>
          <a:p>
            <a:pPr marL="0" indent="0">
              <a:buNone/>
            </a:pPr>
            <a:endParaRPr lang="en-GB" noProof="0" dirty="0">
              <a:latin typeface="Courier New" panose="02070309020205020404" pitchFamily="49" charset="0"/>
              <a:cs typeface="Courier New" panose="02070309020205020404" pitchFamily="49" charset="0"/>
            </a:endParaRPr>
          </a:p>
          <a:p>
            <a:pPr marL="0" indent="0">
              <a:buNone/>
            </a:pPr>
            <a:r>
              <a:rPr lang="en-GB" noProof="0" dirty="0">
                <a:latin typeface="Courier New" panose="02070309020205020404" pitchFamily="49" charset="0"/>
                <a:cs typeface="Courier New" panose="02070309020205020404" pitchFamily="49" charset="0"/>
              </a:rPr>
              <a:t>        </a:t>
            </a:r>
            <a:r>
              <a:rPr lang="en-GB" noProof="0" dirty="0" err="1">
                <a:latin typeface="Courier New" panose="02070309020205020404" pitchFamily="49" charset="0"/>
                <a:cs typeface="Courier New" panose="02070309020205020404" pitchFamily="49" charset="0"/>
              </a:rPr>
              <a:t>flightRepository.save</a:t>
            </a:r>
            <a:r>
              <a:rPr lang="en-GB" noProof="0" dirty="0">
                <a:latin typeface="Courier New" panose="02070309020205020404" pitchFamily="49" charset="0"/>
                <a:cs typeface="Courier New" panose="02070309020205020404" pitchFamily="49" charset="0"/>
              </a:rPr>
              <a:t>(flight1);</a:t>
            </a:r>
          </a:p>
          <a:p>
            <a:pPr marL="0" indent="0">
              <a:buNone/>
            </a:pPr>
            <a:r>
              <a:rPr lang="en-GB" noProof="0" dirty="0">
                <a:latin typeface="Courier New" panose="02070309020205020404" pitchFamily="49" charset="0"/>
                <a:cs typeface="Courier New" panose="02070309020205020404" pitchFamily="49" charset="0"/>
              </a:rPr>
              <a:t>        </a:t>
            </a:r>
            <a:r>
              <a:rPr lang="en-GB" noProof="0" dirty="0" err="1">
                <a:latin typeface="Courier New" panose="02070309020205020404" pitchFamily="49" charset="0"/>
                <a:cs typeface="Courier New" panose="02070309020205020404" pitchFamily="49" charset="0"/>
              </a:rPr>
              <a:t>flightRepository.save</a:t>
            </a:r>
            <a:r>
              <a:rPr lang="en-GB" noProof="0" dirty="0">
                <a:latin typeface="Courier New" panose="02070309020205020404" pitchFamily="49" charset="0"/>
                <a:cs typeface="Courier New" panose="02070309020205020404" pitchFamily="49" charset="0"/>
              </a:rPr>
              <a:t>(flight2);</a:t>
            </a:r>
          </a:p>
          <a:p>
            <a:pPr marL="0" indent="0">
              <a:buNone/>
            </a:pPr>
            <a:r>
              <a:rPr lang="en-GB" noProof="0" dirty="0">
                <a:latin typeface="Courier New" panose="02070309020205020404" pitchFamily="49" charset="0"/>
                <a:cs typeface="Courier New" panose="02070309020205020404" pitchFamily="49" charset="0"/>
              </a:rPr>
              <a:t>    }</a:t>
            </a:r>
          </a:p>
          <a:p>
            <a:pPr marL="0" indent="0">
              <a:buNone/>
            </a:pPr>
            <a:r>
              <a:rPr lang="en-GB" noProof="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8451511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17EB-666E-874A-C2D3-E56093C4723D}"/>
              </a:ext>
            </a:extLst>
          </p:cNvPr>
          <p:cNvSpPr>
            <a:spLocks noGrp="1"/>
          </p:cNvSpPr>
          <p:nvPr>
            <p:ph type="title"/>
          </p:nvPr>
        </p:nvSpPr>
        <p:spPr/>
        <p:txBody>
          <a:bodyPr/>
          <a:lstStyle/>
          <a:p>
            <a:r>
              <a:rPr lang="en-GB" dirty="0"/>
              <a:t>Testing App with ORM</a:t>
            </a:r>
          </a:p>
        </p:txBody>
      </p:sp>
      <p:sp>
        <p:nvSpPr>
          <p:cNvPr id="4" name="Text Placeholder 3">
            <a:extLst>
              <a:ext uri="{FF2B5EF4-FFF2-40B4-BE49-F238E27FC236}">
                <a16:creationId xmlns:a16="http://schemas.microsoft.com/office/drawing/2014/main" id="{A7599633-51DF-DD66-15FF-6F19E9391655}"/>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29632085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2E2D0-03C6-A393-B0D0-C91F5DF1E027}"/>
              </a:ext>
            </a:extLst>
          </p:cNvPr>
          <p:cNvSpPr>
            <a:spLocks noGrp="1"/>
          </p:cNvSpPr>
          <p:nvPr>
            <p:ph type="title"/>
          </p:nvPr>
        </p:nvSpPr>
        <p:spPr/>
        <p:txBody>
          <a:bodyPr/>
          <a:lstStyle/>
          <a:p>
            <a:r>
              <a:rPr lang="en-GB" dirty="0"/>
              <a:t>Testing with ORM</a:t>
            </a:r>
          </a:p>
        </p:txBody>
      </p:sp>
      <p:sp>
        <p:nvSpPr>
          <p:cNvPr id="3" name="Content Placeholder 2">
            <a:extLst>
              <a:ext uri="{FF2B5EF4-FFF2-40B4-BE49-F238E27FC236}">
                <a16:creationId xmlns:a16="http://schemas.microsoft.com/office/drawing/2014/main" id="{6C811BE4-53CD-7231-06DF-85F7DC3CD60C}"/>
              </a:ext>
            </a:extLst>
          </p:cNvPr>
          <p:cNvSpPr>
            <a:spLocks noGrp="1"/>
          </p:cNvSpPr>
          <p:nvPr>
            <p:ph idx="1"/>
          </p:nvPr>
        </p:nvSpPr>
        <p:spPr/>
        <p:txBody>
          <a:bodyPr>
            <a:normAutofit fontScale="92500" lnSpcReduction="20000"/>
          </a:bodyPr>
          <a:lstStyle/>
          <a:p>
            <a:r>
              <a:rPr lang="en-GB" dirty="0"/>
              <a:t>Use a PU dedicated to testing using </a:t>
            </a:r>
            <a:r>
              <a:rPr lang="en-GB" b="1" dirty="0">
                <a:latin typeface="Courier New" panose="02070309020205020404" pitchFamily="49" charset="0"/>
                <a:cs typeface="Courier New" panose="02070309020205020404" pitchFamily="49" charset="0"/>
              </a:rPr>
              <a:t>drop-and-create</a:t>
            </a:r>
            <a:r>
              <a:rPr lang="en-GB" dirty="0"/>
              <a:t> policy</a:t>
            </a:r>
          </a:p>
          <a:p>
            <a:r>
              <a:rPr lang="en-GB" dirty="0"/>
              <a:t>Each test should start with well defined database contents</a:t>
            </a:r>
          </a:p>
          <a:p>
            <a:r>
              <a:rPr lang="en-GB" dirty="0"/>
              <a:t>Cleanup is required to avoid poisoning successive test cases</a:t>
            </a:r>
          </a:p>
          <a:p>
            <a:r>
              <a:rPr lang="en-GB" dirty="0"/>
              <a:t>Use different data (especially keys) in different tests</a:t>
            </a:r>
          </a:p>
          <a:p>
            <a:pPr lvl="1"/>
            <a:r>
              <a:rPr lang="en-GB" dirty="0"/>
              <a:t>Tests are executed in parallel so they should not interfere in insert, delete, and updated operations</a:t>
            </a:r>
          </a:p>
        </p:txBody>
      </p:sp>
    </p:spTree>
    <p:extLst>
      <p:ext uri="{BB962C8B-B14F-4D97-AF65-F5344CB8AC3E}">
        <p14:creationId xmlns:p14="http://schemas.microsoft.com/office/powerpoint/2010/main" val="102876755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33E10-4A43-8E75-DF2F-F00283F0C91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8E8D912-017A-8289-2310-F85CF8681B05}"/>
              </a:ext>
            </a:extLst>
          </p:cNvPr>
          <p:cNvSpPr>
            <a:spLocks noGrp="1"/>
          </p:cNvSpPr>
          <p:nvPr>
            <p:ph type="title"/>
          </p:nvPr>
        </p:nvSpPr>
        <p:spPr/>
        <p:txBody>
          <a:bodyPr>
            <a:normAutofit/>
          </a:bodyPr>
          <a:lstStyle/>
          <a:p>
            <a:r>
              <a:rPr lang="en-GB" noProof="0" dirty="0"/>
              <a:t>Entity – Testing</a:t>
            </a:r>
          </a:p>
        </p:txBody>
      </p:sp>
      <p:sp>
        <p:nvSpPr>
          <p:cNvPr id="3" name="Segnaposto contenuto 2">
            <a:extLst>
              <a:ext uri="{FF2B5EF4-FFF2-40B4-BE49-F238E27FC236}">
                <a16:creationId xmlns:a16="http://schemas.microsoft.com/office/drawing/2014/main" id="{F0E9A2DB-DF51-96A1-2F8E-3178451C05E4}"/>
              </a:ext>
            </a:extLst>
          </p:cNvPr>
          <p:cNvSpPr>
            <a:spLocks noGrp="1"/>
          </p:cNvSpPr>
          <p:nvPr>
            <p:ph idx="1"/>
          </p:nvPr>
        </p:nvSpPr>
        <p:spPr/>
        <p:txBody>
          <a:bodyPr>
            <a:normAutofit fontScale="85000" lnSpcReduction="20000"/>
          </a:bodyPr>
          <a:lstStyle/>
          <a:p>
            <a:r>
              <a:rPr lang="en-GB" noProof="0" dirty="0"/>
              <a:t>Entities are simple data holders, representing the structure of the database</a:t>
            </a:r>
          </a:p>
          <a:p>
            <a:r>
              <a:rPr lang="en-GB" noProof="0" dirty="0"/>
              <a:t>They do not contain business logic, only fields, relationships, and metadata (e.g., constraints)</a:t>
            </a:r>
          </a:p>
          <a:p>
            <a:r>
              <a:rPr lang="en-GB" noProof="0" dirty="0"/>
              <a:t>Testing them is not necessary, as their correctness is enforced by</a:t>
            </a:r>
          </a:p>
          <a:p>
            <a:pPr lvl="1"/>
            <a:r>
              <a:rPr lang="en-GB" noProof="0" dirty="0"/>
              <a:t>The ORM itself, which ensures mappings are correctly applied</a:t>
            </a:r>
          </a:p>
          <a:p>
            <a:pPr lvl="1"/>
            <a:r>
              <a:rPr lang="en-GB" noProof="0" dirty="0"/>
              <a:t>The database schema, which enforces constraints (e.g., foreign keys, uniqueness)</a:t>
            </a:r>
          </a:p>
          <a:p>
            <a:pPr lvl="1"/>
            <a:r>
              <a:rPr lang="en-GB" noProof="0" dirty="0"/>
              <a:t>Other application tests, where entities are implicitly used and validated</a:t>
            </a:r>
          </a:p>
        </p:txBody>
      </p:sp>
    </p:spTree>
    <p:extLst>
      <p:ext uri="{BB962C8B-B14F-4D97-AF65-F5344CB8AC3E}">
        <p14:creationId xmlns:p14="http://schemas.microsoft.com/office/powerpoint/2010/main" val="346105731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3">
            <a:extLst>
              <a:ext uri="{FF2B5EF4-FFF2-40B4-BE49-F238E27FC236}">
                <a16:creationId xmlns:a16="http://schemas.microsoft.com/office/drawing/2014/main" id="{9538ACA2-FC98-8B39-0B8C-D4CA9A7EE58B}"/>
              </a:ext>
            </a:extLst>
          </p:cNvPr>
          <p:cNvSpPr/>
          <p:nvPr/>
        </p:nvSpPr>
        <p:spPr bwMode="auto">
          <a:xfrm>
            <a:off x="395536" y="3645024"/>
            <a:ext cx="8568952" cy="2232248"/>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2" name="Title 1">
            <a:extLst>
              <a:ext uri="{FF2B5EF4-FFF2-40B4-BE49-F238E27FC236}">
                <a16:creationId xmlns:a16="http://schemas.microsoft.com/office/drawing/2014/main" id="{2467486F-A0E6-E645-E48E-7DD23953768D}"/>
              </a:ext>
            </a:extLst>
          </p:cNvPr>
          <p:cNvSpPr>
            <a:spLocks noGrp="1"/>
          </p:cNvSpPr>
          <p:nvPr>
            <p:ph type="title"/>
          </p:nvPr>
        </p:nvSpPr>
        <p:spPr/>
        <p:txBody>
          <a:bodyPr/>
          <a:lstStyle/>
          <a:p>
            <a:r>
              <a:rPr lang="en-GB" dirty="0"/>
              <a:t>Persistence Unit</a:t>
            </a:r>
          </a:p>
        </p:txBody>
      </p:sp>
      <p:sp>
        <p:nvSpPr>
          <p:cNvPr id="3" name="Content Placeholder 2">
            <a:extLst>
              <a:ext uri="{FF2B5EF4-FFF2-40B4-BE49-F238E27FC236}">
                <a16:creationId xmlns:a16="http://schemas.microsoft.com/office/drawing/2014/main" id="{44CE1187-188F-1989-3F4A-32584D62BD54}"/>
              </a:ext>
            </a:extLst>
          </p:cNvPr>
          <p:cNvSpPr>
            <a:spLocks noGrp="1"/>
          </p:cNvSpPr>
          <p:nvPr>
            <p:ph idx="1"/>
          </p:nvPr>
        </p:nvSpPr>
        <p:spPr/>
        <p:txBody>
          <a:bodyPr>
            <a:normAutofit fontScale="92500" lnSpcReduction="10000"/>
          </a:bodyPr>
          <a:lstStyle/>
          <a:p>
            <a:r>
              <a:rPr lang="en-GB" dirty="0"/>
              <a:t>Use a in-memory </a:t>
            </a:r>
            <a:r>
              <a:rPr lang="en-GB" dirty="0" err="1"/>
              <a:t>db</a:t>
            </a:r>
            <a:r>
              <a:rPr lang="en-GB" dirty="0"/>
              <a:t> to reduce test time</a:t>
            </a:r>
          </a:p>
          <a:p>
            <a:r>
              <a:rPr lang="en-GB" dirty="0"/>
              <a:t>Recreate DB often</a:t>
            </a:r>
          </a:p>
          <a:p>
            <a:r>
              <a:rPr lang="en-GB" dirty="0"/>
              <a:t>Enable logging to make debugging easier</a:t>
            </a:r>
          </a:p>
          <a:p>
            <a:pPr lvl="1"/>
            <a:endParaRPr lang="en-GB" dirty="0"/>
          </a:p>
          <a:p>
            <a:pPr marL="0" indent="0">
              <a:buNone/>
            </a:pPr>
            <a:r>
              <a:rPr lang="en-GB" sz="1900" b="1" dirty="0">
                <a:latin typeface="Courier New" panose="02070309020205020404" pitchFamily="49" charset="0"/>
                <a:cs typeface="Courier New" panose="02070309020205020404" pitchFamily="49" charset="0"/>
              </a:rPr>
              <a:t>&lt;property name="</a:t>
            </a:r>
            <a:r>
              <a:rPr lang="en-GB" sz="1900" b="1" dirty="0" err="1">
                <a:latin typeface="Courier New" panose="02070309020205020404" pitchFamily="49" charset="0"/>
                <a:cs typeface="Courier New" panose="02070309020205020404" pitchFamily="49" charset="0"/>
              </a:rPr>
              <a:t>jakarta.persistence.jdbc.url</a:t>
            </a:r>
            <a:r>
              <a:rPr lang="en-GB" sz="1900" b="1" dirty="0">
                <a:latin typeface="Courier New" panose="02070309020205020404" pitchFamily="49" charset="0"/>
                <a:cs typeface="Courier New" panose="02070309020205020404" pitchFamily="49" charset="0"/>
              </a:rPr>
              <a:t>" </a:t>
            </a:r>
          </a:p>
          <a:p>
            <a:pPr marL="0" indent="0">
              <a:buNone/>
            </a:pPr>
            <a:r>
              <a:rPr lang="en-GB" sz="1900" b="1" dirty="0">
                <a:latin typeface="Courier New" panose="02070309020205020404" pitchFamily="49" charset="0"/>
                <a:cs typeface="Courier New" panose="02070309020205020404" pitchFamily="49" charset="0"/>
              </a:rPr>
              <a:t>  value="jdbc:h2:</a:t>
            </a:r>
            <a:r>
              <a:rPr lang="en-GB" sz="1900" b="1" dirty="0">
                <a:solidFill>
                  <a:schemeClr val="accent6">
                    <a:lumMod val="75000"/>
                  </a:schemeClr>
                </a:solidFill>
                <a:latin typeface="Courier New" panose="02070309020205020404" pitchFamily="49" charset="0"/>
                <a:cs typeface="Courier New" panose="02070309020205020404" pitchFamily="49" charset="0"/>
              </a:rPr>
              <a:t>mem</a:t>
            </a:r>
            <a:r>
              <a:rPr lang="en-GB" sz="1900" b="1" dirty="0">
                <a:latin typeface="Courier New" panose="02070309020205020404" pitchFamily="49" charset="0"/>
                <a:cs typeface="Courier New" panose="02070309020205020404" pitchFamily="49" charset="0"/>
              </a:rPr>
              <a:t>:testuniversitydb;DB_CLOSE_DELAY=-1"/&gt;</a:t>
            </a:r>
          </a:p>
          <a:p>
            <a:pPr marL="0" indent="0">
              <a:buNone/>
            </a:pPr>
            <a:r>
              <a:rPr lang="en-GB" sz="1900" b="1" dirty="0">
                <a:latin typeface="Courier New" panose="02070309020205020404" pitchFamily="49" charset="0"/>
                <a:cs typeface="Courier New" panose="02070309020205020404" pitchFamily="49" charset="0"/>
              </a:rPr>
              <a:t>&lt;property name="</a:t>
            </a:r>
            <a:r>
              <a:rPr lang="en-GB" sz="1900" b="1" dirty="0" err="1">
                <a:latin typeface="Courier New" panose="02070309020205020404" pitchFamily="49" charset="0"/>
                <a:cs typeface="Courier New" panose="02070309020205020404" pitchFamily="49" charset="0"/>
              </a:rPr>
              <a:t>jakarta.persistence.</a:t>
            </a:r>
            <a:r>
              <a:rPr lang="en-GB" sz="1900" b="1" dirty="0" err="1">
                <a:solidFill>
                  <a:schemeClr val="accent6">
                    <a:lumMod val="75000"/>
                  </a:schemeClr>
                </a:solidFill>
                <a:latin typeface="Courier New" panose="02070309020205020404" pitchFamily="49" charset="0"/>
                <a:cs typeface="Courier New" panose="02070309020205020404" pitchFamily="49" charset="0"/>
              </a:rPr>
              <a:t>schema-generation.database.action</a:t>
            </a:r>
            <a:r>
              <a:rPr lang="en-GB" sz="1900" b="1" dirty="0">
                <a:latin typeface="Courier New" panose="02070309020205020404" pitchFamily="49" charset="0"/>
                <a:cs typeface="Courier New" panose="02070309020205020404" pitchFamily="49" charset="0"/>
              </a:rPr>
              <a:t>" value="</a:t>
            </a:r>
            <a:r>
              <a:rPr lang="en-GB" sz="1900" b="1" dirty="0">
                <a:solidFill>
                  <a:schemeClr val="accent6">
                    <a:lumMod val="75000"/>
                  </a:schemeClr>
                </a:solidFill>
                <a:latin typeface="Courier New" panose="02070309020205020404" pitchFamily="49" charset="0"/>
                <a:cs typeface="Courier New" panose="02070309020205020404" pitchFamily="49" charset="0"/>
              </a:rPr>
              <a:t>drop-and-create</a:t>
            </a:r>
            <a:r>
              <a:rPr lang="en-GB" sz="1900" b="1" dirty="0">
                <a:latin typeface="Courier New" panose="02070309020205020404" pitchFamily="49" charset="0"/>
                <a:cs typeface="Courier New" panose="02070309020205020404" pitchFamily="49" charset="0"/>
              </a:rPr>
              <a:t>"/&gt;</a:t>
            </a:r>
          </a:p>
          <a:p>
            <a:pPr marL="0" indent="0">
              <a:buNone/>
            </a:pPr>
            <a:r>
              <a:rPr lang="en-GB" sz="1900" b="1" dirty="0">
                <a:latin typeface="Courier New" panose="02070309020205020404" pitchFamily="49" charset="0"/>
                <a:cs typeface="Courier New" panose="02070309020205020404" pitchFamily="49" charset="0"/>
              </a:rPr>
              <a:t>&lt;property name="</a:t>
            </a:r>
            <a:r>
              <a:rPr lang="en-GB" sz="1900" b="1" dirty="0" err="1">
                <a:latin typeface="Courier New" panose="02070309020205020404" pitchFamily="49" charset="0"/>
                <a:cs typeface="Courier New" panose="02070309020205020404" pitchFamily="49" charset="0"/>
              </a:rPr>
              <a:t>hibernate.</a:t>
            </a:r>
            <a:r>
              <a:rPr lang="en-GB" sz="1900" b="1" dirty="0" err="1">
                <a:solidFill>
                  <a:schemeClr val="accent6">
                    <a:lumMod val="75000"/>
                  </a:schemeClr>
                </a:solidFill>
                <a:latin typeface="Courier New" panose="02070309020205020404" pitchFamily="49" charset="0"/>
                <a:cs typeface="Courier New" panose="02070309020205020404" pitchFamily="49" charset="0"/>
              </a:rPr>
              <a:t>show_sql</a:t>
            </a:r>
            <a:r>
              <a:rPr lang="en-GB" sz="1900" b="1" dirty="0">
                <a:latin typeface="Courier New" panose="02070309020205020404" pitchFamily="49" charset="0"/>
                <a:cs typeface="Courier New" panose="02070309020205020404" pitchFamily="49" charset="0"/>
              </a:rPr>
              <a:t>" value="</a:t>
            </a:r>
            <a:r>
              <a:rPr lang="en-GB" sz="1900" b="1" dirty="0">
                <a:solidFill>
                  <a:schemeClr val="accent6">
                    <a:lumMod val="75000"/>
                  </a:schemeClr>
                </a:solidFill>
                <a:latin typeface="Courier New" panose="02070309020205020404" pitchFamily="49" charset="0"/>
                <a:cs typeface="Courier New" panose="02070309020205020404" pitchFamily="49" charset="0"/>
              </a:rPr>
              <a:t>true</a:t>
            </a:r>
            <a:r>
              <a:rPr lang="en-GB" sz="1900" b="1" dirty="0">
                <a:latin typeface="Courier New" panose="02070309020205020404" pitchFamily="49" charset="0"/>
                <a:cs typeface="Courier New" panose="02070309020205020404" pitchFamily="49" charset="0"/>
              </a:rPr>
              <a:t>"/&gt;</a:t>
            </a:r>
          </a:p>
          <a:p>
            <a:pPr marL="0" indent="0">
              <a:buNone/>
            </a:pPr>
            <a:r>
              <a:rPr lang="en-GB" sz="1900" b="1" dirty="0">
                <a:latin typeface="Courier New" panose="02070309020205020404" pitchFamily="49" charset="0"/>
                <a:cs typeface="Courier New" panose="02070309020205020404" pitchFamily="49" charset="0"/>
              </a:rPr>
              <a:t>&lt;property name="</a:t>
            </a:r>
            <a:r>
              <a:rPr lang="en-GB" sz="1900" b="1" dirty="0" err="1">
                <a:latin typeface="Courier New" panose="02070309020205020404" pitchFamily="49" charset="0"/>
                <a:cs typeface="Courier New" panose="02070309020205020404" pitchFamily="49" charset="0"/>
              </a:rPr>
              <a:t>hibernate.format_sql</a:t>
            </a:r>
            <a:r>
              <a:rPr lang="en-GB" sz="1900" b="1" dirty="0">
                <a:latin typeface="Courier New" panose="02070309020205020404" pitchFamily="49" charset="0"/>
                <a:cs typeface="Courier New" panose="02070309020205020404" pitchFamily="49" charset="0"/>
              </a:rPr>
              <a:t>" value="true"/&gt;</a:t>
            </a:r>
          </a:p>
        </p:txBody>
      </p:sp>
    </p:spTree>
    <p:extLst>
      <p:ext uri="{BB962C8B-B14F-4D97-AF65-F5344CB8AC3E}">
        <p14:creationId xmlns:p14="http://schemas.microsoft.com/office/powerpoint/2010/main" val="327489175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27B36-B135-0662-3B0E-739703B24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08EC8-1333-B7F9-4412-AE7F83F141C5}"/>
              </a:ext>
            </a:extLst>
          </p:cNvPr>
          <p:cNvSpPr>
            <a:spLocks noGrp="1"/>
          </p:cNvSpPr>
          <p:nvPr>
            <p:ph type="title"/>
          </p:nvPr>
        </p:nvSpPr>
        <p:spPr/>
        <p:txBody>
          <a:bodyPr/>
          <a:lstStyle/>
          <a:p>
            <a:r>
              <a:rPr lang="en-GB" noProof="0" dirty="0" err="1"/>
              <a:t>EntityManager</a:t>
            </a:r>
            <a:r>
              <a:rPr lang="en-GB" noProof="0" dirty="0"/>
              <a:t> handling</a:t>
            </a:r>
          </a:p>
        </p:txBody>
      </p:sp>
      <p:sp>
        <p:nvSpPr>
          <p:cNvPr id="4" name="Rettangolo 3">
            <a:extLst>
              <a:ext uri="{FF2B5EF4-FFF2-40B4-BE49-F238E27FC236}">
                <a16:creationId xmlns:a16="http://schemas.microsoft.com/office/drawing/2014/main" id="{CE3940A3-248D-DEBF-560D-12CFDF1F08EE}"/>
              </a:ext>
            </a:extLst>
          </p:cNvPr>
          <p:cNvSpPr/>
          <p:nvPr/>
        </p:nvSpPr>
        <p:spPr bwMode="auto">
          <a:xfrm>
            <a:off x="395535" y="1196752"/>
            <a:ext cx="8440489" cy="4968552"/>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3" name="Content Placeholder 2">
            <a:extLst>
              <a:ext uri="{FF2B5EF4-FFF2-40B4-BE49-F238E27FC236}">
                <a16:creationId xmlns:a16="http://schemas.microsoft.com/office/drawing/2014/main" id="{5B2661C6-88D4-9404-EFAE-706C1702C4A1}"/>
              </a:ext>
            </a:extLst>
          </p:cNvPr>
          <p:cNvSpPr>
            <a:spLocks noGrp="1"/>
          </p:cNvSpPr>
          <p:nvPr>
            <p:ph idx="1"/>
          </p:nvPr>
        </p:nvSpPr>
        <p:spPr>
          <a:xfrm>
            <a:off x="539552" y="1268760"/>
            <a:ext cx="8424936" cy="5040560"/>
          </a:xfrm>
        </p:spPr>
        <p:txBody>
          <a:bodyPr>
            <a:normAutofit fontScale="55000" lnSpcReduction="20000"/>
          </a:bodyPr>
          <a:lstStyle/>
          <a:p>
            <a:pPr marL="0" indent="0">
              <a:buNone/>
            </a:pPr>
            <a:r>
              <a:rPr lang="en-GB" b="1" noProof="0" dirty="0">
                <a:latin typeface="Courier New" panose="02070309020205020404" pitchFamily="49" charset="0"/>
                <a:cs typeface="Courier New" panose="02070309020205020404" pitchFamily="49" charset="0"/>
              </a:rPr>
              <a:t>public class </a:t>
            </a:r>
            <a:r>
              <a:rPr lang="en-GB" b="1" noProof="0" dirty="0" err="1">
                <a:solidFill>
                  <a:srgbClr val="FF772E"/>
                </a:solidFill>
                <a:latin typeface="Courier New" panose="02070309020205020404" pitchFamily="49" charset="0"/>
                <a:cs typeface="Courier New" panose="02070309020205020404" pitchFamily="49" charset="0"/>
              </a:rPr>
              <a:t>JPAUtil</a:t>
            </a: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private static final String TEST_PU_NAME = ”</a:t>
            </a:r>
            <a:r>
              <a:rPr lang="en-GB" b="1" noProof="0" dirty="0" err="1">
                <a:latin typeface="Courier New" panose="02070309020205020404" pitchFamily="49" charset="0"/>
                <a:cs typeface="Courier New" panose="02070309020205020404" pitchFamily="49" charset="0"/>
              </a:rPr>
              <a:t>flightTestPU</a:t>
            </a:r>
            <a:r>
              <a:rPr lang="en-GB" b="1" noProof="0" dirty="0">
                <a:latin typeface="Courier New" panose="02070309020205020404" pitchFamily="49" charset="0"/>
                <a:cs typeface="Courier New" panose="02070309020205020404" pitchFamily="49" charset="0"/>
              </a:rPr>
              <a:t>";</a:t>
            </a:r>
          </a:p>
          <a:p>
            <a:pPr marL="0" indent="0">
              <a:buNone/>
            </a:pPr>
            <a:r>
              <a:rPr lang="en-GB" b="1" noProof="0" dirty="0">
                <a:latin typeface="Courier New" panose="02070309020205020404" pitchFamily="49" charset="0"/>
                <a:cs typeface="Courier New" panose="02070309020205020404" pitchFamily="49" charset="0"/>
              </a:rPr>
              <a:t>  private static final String PU_NAME = "</a:t>
            </a:r>
            <a:r>
              <a:rPr lang="en-GB" b="1" noProof="0" dirty="0" err="1">
                <a:latin typeface="Courier New" panose="02070309020205020404" pitchFamily="49" charset="0"/>
                <a:cs typeface="Courier New" panose="02070309020205020404" pitchFamily="49" charset="0"/>
              </a:rPr>
              <a:t>flightPU</a:t>
            </a:r>
            <a:r>
              <a:rPr lang="en-GB" b="1" noProof="0" dirty="0">
                <a:latin typeface="Courier New" panose="02070309020205020404" pitchFamily="49" charset="0"/>
                <a:cs typeface="Courier New" panose="02070309020205020404" pitchFamily="49" charset="0"/>
              </a:rPr>
              <a:t>";</a:t>
            </a:r>
          </a:p>
          <a:p>
            <a:pPr marL="0" indent="0">
              <a:buNone/>
            </a:pPr>
            <a:r>
              <a:rPr lang="en-GB" b="1" noProof="0" dirty="0">
                <a:latin typeface="Courier New" panose="02070309020205020404" pitchFamily="49" charset="0"/>
                <a:cs typeface="Courier New" panose="02070309020205020404" pitchFamily="49" charset="0"/>
              </a:rPr>
              <a:t>  private static </a:t>
            </a:r>
            <a:r>
              <a:rPr lang="en-GB" b="1" noProof="0" dirty="0" err="1">
                <a:latin typeface="Courier New" panose="02070309020205020404" pitchFamily="49" charset="0"/>
                <a:cs typeface="Courier New" panose="02070309020205020404" pitchFamily="49" charset="0"/>
              </a:rPr>
              <a:t>EntityManagerFactory</a:t>
            </a:r>
            <a:r>
              <a:rPr lang="en-GB" b="1" noProof="0" dirty="0">
                <a:latin typeface="Courier New" panose="02070309020205020404" pitchFamily="49" charset="0"/>
                <a:cs typeface="Courier New" panose="02070309020205020404" pitchFamily="49" charset="0"/>
              </a:rPr>
              <a:t> emf;</a:t>
            </a:r>
          </a:p>
          <a:p>
            <a:pPr marL="0" indent="0">
              <a:buNone/>
            </a:pPr>
            <a:r>
              <a:rPr lang="en-GB" b="1" noProof="0" dirty="0">
                <a:latin typeface="Courier New" panose="02070309020205020404" pitchFamily="49" charset="0"/>
                <a:cs typeface="Courier New" panose="02070309020205020404" pitchFamily="49" charset="0"/>
              </a:rPr>
              <a:t>  private static String </a:t>
            </a:r>
            <a:r>
              <a:rPr lang="en-GB" b="1" noProof="0" dirty="0" err="1">
                <a:latin typeface="Courier New" panose="02070309020205020404" pitchFamily="49" charset="0"/>
                <a:cs typeface="Courier New" panose="02070309020205020404" pitchFamily="49" charset="0"/>
              </a:rPr>
              <a:t>currentPUName</a:t>
            </a:r>
            <a:r>
              <a:rPr lang="en-GB" b="1" noProof="0" dirty="0">
                <a:latin typeface="Courier New" panose="02070309020205020404" pitchFamily="49" charset="0"/>
                <a:cs typeface="Courier New" panose="02070309020205020404" pitchFamily="49" charset="0"/>
              </a:rPr>
              <a:t> = </a:t>
            </a:r>
            <a:r>
              <a:rPr lang="en-GB" b="1" noProof="0" dirty="0" err="1">
                <a:latin typeface="Courier New" panose="02070309020205020404" pitchFamily="49" charset="0"/>
                <a:cs typeface="Courier New" panose="02070309020205020404" pitchFamily="49" charset="0"/>
              </a:rPr>
              <a:t>JPAUtil.PU_NAME</a:t>
            </a:r>
            <a:r>
              <a:rPr lang="en-GB" b="1" noProof="0" dirty="0">
                <a:latin typeface="Courier New" panose="02070309020205020404" pitchFamily="49" charset="0"/>
                <a:cs typeface="Courier New" panose="02070309020205020404" pitchFamily="49" charset="0"/>
              </a:rPr>
              <a:t>;</a:t>
            </a:r>
          </a:p>
          <a:p>
            <a:pPr marL="0" indent="0">
              <a:buNone/>
            </a:pPr>
            <a:r>
              <a:rPr lang="en-GB" b="1" noProof="0" dirty="0">
                <a:latin typeface="Courier New" panose="02070309020205020404" pitchFamily="49" charset="0"/>
                <a:cs typeface="Courier New" panose="02070309020205020404" pitchFamily="49" charset="0"/>
              </a:rPr>
              <a:t>  private static </a:t>
            </a:r>
            <a:r>
              <a:rPr lang="en-GB" b="1" noProof="0" dirty="0" err="1">
                <a:latin typeface="Courier New" panose="02070309020205020404" pitchFamily="49" charset="0"/>
                <a:cs typeface="Courier New" panose="02070309020205020404" pitchFamily="49" charset="0"/>
              </a:rPr>
              <a:t>EntityManagerFactory</a:t>
            </a:r>
            <a:r>
              <a:rPr lang="en-GB" b="1" noProof="0" dirty="0">
                <a:latin typeface="Courier New" panose="02070309020205020404" pitchFamily="49" charset="0"/>
                <a:cs typeface="Courier New" panose="02070309020205020404" pitchFamily="49" charset="0"/>
              </a:rPr>
              <a:t> </a:t>
            </a:r>
            <a:r>
              <a:rPr lang="en-GB" b="1" noProof="0" dirty="0" err="1">
                <a:latin typeface="Courier New" panose="02070309020205020404" pitchFamily="49" charset="0"/>
                <a:cs typeface="Courier New" panose="02070309020205020404" pitchFamily="49" charset="0"/>
              </a:rPr>
              <a:t>getCurrentFactory</a:t>
            </a: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if( emf == null || !</a:t>
            </a:r>
            <a:r>
              <a:rPr lang="en-GB" b="1" noProof="0" dirty="0" err="1">
                <a:latin typeface="Courier New" panose="02070309020205020404" pitchFamily="49" charset="0"/>
                <a:cs typeface="Courier New" panose="02070309020205020404" pitchFamily="49" charset="0"/>
              </a:rPr>
              <a:t>emf.isOpen</a:t>
            </a: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emf = Persistence. </a:t>
            </a:r>
          </a:p>
          <a:p>
            <a:pPr marL="0" indent="0">
              <a:buNone/>
            </a:pPr>
            <a:r>
              <a:rPr lang="en-GB" b="1" dirty="0">
                <a:latin typeface="Courier New" panose="02070309020205020404" pitchFamily="49" charset="0"/>
                <a:cs typeface="Courier New" panose="02070309020205020404" pitchFamily="49" charset="0"/>
              </a:rPr>
              <a:t>			  </a:t>
            </a:r>
            <a:r>
              <a:rPr lang="en-GB" b="1" noProof="0" dirty="0" err="1">
                <a:latin typeface="Courier New" panose="02070309020205020404" pitchFamily="49" charset="0"/>
                <a:cs typeface="Courier New" panose="02070309020205020404" pitchFamily="49" charset="0"/>
              </a:rPr>
              <a:t>createEntityManagerFactory</a:t>
            </a:r>
            <a:r>
              <a:rPr lang="en-GB" b="1" noProof="0" dirty="0">
                <a:latin typeface="Courier New" panose="02070309020205020404" pitchFamily="49" charset="0"/>
                <a:cs typeface="Courier New" panose="02070309020205020404" pitchFamily="49" charset="0"/>
              </a:rPr>
              <a:t>(</a:t>
            </a:r>
            <a:r>
              <a:rPr lang="en-GB" b="1" noProof="0" dirty="0" err="1">
                <a:latin typeface="Courier New" panose="02070309020205020404" pitchFamily="49" charset="0"/>
                <a:cs typeface="Courier New" panose="02070309020205020404" pitchFamily="49" charset="0"/>
              </a:rPr>
              <a:t>currentPUName</a:t>
            </a:r>
            <a:r>
              <a:rPr lang="en-GB" b="1" noProof="0" dirty="0">
                <a:latin typeface="Courier New" panose="02070309020205020404" pitchFamily="49" charset="0"/>
                <a:cs typeface="Courier New" panose="02070309020205020404" pitchFamily="49" charset="0"/>
              </a:rPr>
              <a:t>);</a:t>
            </a:r>
          </a:p>
          <a:p>
            <a:pPr marL="0" indent="0">
              <a:buNone/>
            </a:pPr>
            <a:r>
              <a:rPr lang="en-GB" b="1" noProof="0" dirty="0">
                <a:latin typeface="Courier New" panose="02070309020205020404" pitchFamily="49" charset="0"/>
                <a:cs typeface="Courier New" panose="02070309020205020404" pitchFamily="49" charset="0"/>
              </a:rPr>
              <a:t>    return emf;</a:t>
            </a:r>
          </a:p>
          <a:p>
            <a:pPr marL="0" indent="0">
              <a:buNone/>
            </a:pP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public static void </a:t>
            </a:r>
            <a:r>
              <a:rPr lang="en-GB" b="1" noProof="0" dirty="0" err="1">
                <a:latin typeface="Courier New" panose="02070309020205020404" pitchFamily="49" charset="0"/>
                <a:cs typeface="Courier New" panose="02070309020205020404" pitchFamily="49" charset="0"/>
              </a:rPr>
              <a:t>setTestMode</a:t>
            </a: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    </a:t>
            </a:r>
            <a:r>
              <a:rPr lang="en-GB" b="1" noProof="0" dirty="0" err="1">
                <a:latin typeface="Courier New" panose="02070309020205020404" pitchFamily="49" charset="0"/>
                <a:cs typeface="Courier New" panose="02070309020205020404" pitchFamily="49" charset="0"/>
              </a:rPr>
              <a:t>currentPUName</a:t>
            </a:r>
            <a:r>
              <a:rPr lang="en-GB" b="1" noProof="0" dirty="0">
                <a:latin typeface="Courier New" panose="02070309020205020404" pitchFamily="49" charset="0"/>
                <a:cs typeface="Courier New" panose="02070309020205020404" pitchFamily="49" charset="0"/>
              </a:rPr>
              <a:t> = </a:t>
            </a:r>
            <a:r>
              <a:rPr lang="en-GB" b="1" noProof="0" dirty="0" err="1">
                <a:latin typeface="Courier New" panose="02070309020205020404" pitchFamily="49" charset="0"/>
                <a:cs typeface="Courier New" panose="02070309020205020404" pitchFamily="49" charset="0"/>
              </a:rPr>
              <a:t>JPAUtil.TEST_PU_NAME</a:t>
            </a:r>
            <a:r>
              <a:rPr lang="en-GB" b="1" noProof="0" dirty="0">
                <a:latin typeface="Courier New" panose="02070309020205020404" pitchFamily="49" charset="0"/>
                <a:cs typeface="Courier New" panose="02070309020205020404" pitchFamily="49" charset="0"/>
              </a:rPr>
              <a:t>;</a:t>
            </a:r>
          </a:p>
          <a:p>
            <a:pPr marL="0" indent="0">
              <a:buNone/>
            </a:pPr>
            <a:r>
              <a:rPr lang="en-GB" b="1" noProof="0" dirty="0">
                <a:latin typeface="Courier New" panose="02070309020205020404" pitchFamily="49" charset="0"/>
                <a:cs typeface="Courier New" panose="02070309020205020404" pitchFamily="49" charset="0"/>
              </a:rPr>
              <a:t>  }</a:t>
            </a:r>
          </a:p>
          <a:p>
            <a:pPr marL="0" indent="0">
              <a:buNone/>
            </a:pPr>
            <a:r>
              <a:rPr lang="en-GB" b="1" noProof="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14410330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40BF-93D8-E3B2-6381-842CAEF99D75}"/>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474E7397-D601-10A0-C380-4422B2B76C67}"/>
              </a:ext>
            </a:extLst>
          </p:cNvPr>
          <p:cNvSpPr/>
          <p:nvPr/>
        </p:nvSpPr>
        <p:spPr bwMode="auto">
          <a:xfrm>
            <a:off x="395535" y="1988840"/>
            <a:ext cx="8440489" cy="4176464"/>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2" name="Title 1">
            <a:extLst>
              <a:ext uri="{FF2B5EF4-FFF2-40B4-BE49-F238E27FC236}">
                <a16:creationId xmlns:a16="http://schemas.microsoft.com/office/drawing/2014/main" id="{EA9A1E72-953F-E79D-2046-C0638B9DFD48}"/>
              </a:ext>
            </a:extLst>
          </p:cNvPr>
          <p:cNvSpPr>
            <a:spLocks noGrp="1"/>
          </p:cNvSpPr>
          <p:nvPr>
            <p:ph type="title"/>
          </p:nvPr>
        </p:nvSpPr>
        <p:spPr/>
        <p:txBody>
          <a:bodyPr/>
          <a:lstStyle/>
          <a:p>
            <a:r>
              <a:rPr lang="en-GB" dirty="0" err="1"/>
              <a:t>SetUp</a:t>
            </a:r>
            <a:r>
              <a:rPr lang="en-GB" dirty="0"/>
              <a:t> and </a:t>
            </a:r>
            <a:r>
              <a:rPr lang="en-GB" dirty="0" err="1"/>
              <a:t>TearDown</a:t>
            </a:r>
            <a:r>
              <a:rPr lang="en-GB" dirty="0"/>
              <a:t> </a:t>
            </a:r>
          </a:p>
        </p:txBody>
      </p:sp>
      <p:sp>
        <p:nvSpPr>
          <p:cNvPr id="3" name="Content Placeholder 2">
            <a:extLst>
              <a:ext uri="{FF2B5EF4-FFF2-40B4-BE49-F238E27FC236}">
                <a16:creationId xmlns:a16="http://schemas.microsoft.com/office/drawing/2014/main" id="{F9E333BB-3EE7-362E-1D16-414B69EC962B}"/>
              </a:ext>
            </a:extLst>
          </p:cNvPr>
          <p:cNvSpPr>
            <a:spLocks noGrp="1"/>
          </p:cNvSpPr>
          <p:nvPr>
            <p:ph idx="1"/>
          </p:nvPr>
        </p:nvSpPr>
        <p:spPr/>
        <p:txBody>
          <a:bodyPr>
            <a:normAutofit fontScale="85000" lnSpcReduction="20000"/>
          </a:bodyPr>
          <a:lstStyle/>
          <a:p>
            <a:r>
              <a:rPr lang="en-GB" dirty="0"/>
              <a:t>In case no test case writes to </a:t>
            </a:r>
            <a:r>
              <a:rPr lang="en-GB" dirty="0" err="1"/>
              <a:t>db</a:t>
            </a:r>
            <a:endParaRPr lang="en-GB" dirty="0"/>
          </a:p>
          <a:p>
            <a:endParaRPr lang="en-GB" dirty="0"/>
          </a:p>
          <a:p>
            <a:pPr marL="0" indent="0">
              <a:buNone/>
            </a:pPr>
            <a:r>
              <a:rPr lang="en-GB" sz="2600" b="1" dirty="0">
                <a:latin typeface="Courier New" panose="02070309020205020404" pitchFamily="49" charset="0"/>
                <a:cs typeface="Courier New" panose="02070309020205020404" pitchFamily="49" charset="0"/>
              </a:rPr>
              <a:t>	</a:t>
            </a:r>
            <a:r>
              <a:rPr lang="en-GB" sz="2600" b="1" dirty="0">
                <a:solidFill>
                  <a:schemeClr val="accent6">
                    <a:lumMod val="75000"/>
                  </a:schemeClr>
                </a:solidFill>
                <a:latin typeface="Courier New" panose="02070309020205020404" pitchFamily="49" charset="0"/>
                <a:cs typeface="Courier New" panose="02070309020205020404" pitchFamily="49" charset="0"/>
              </a:rPr>
              <a:t>@</a:t>
            </a:r>
            <a:r>
              <a:rPr lang="en-GB" sz="2600" b="1" dirty="0" err="1">
                <a:solidFill>
                  <a:schemeClr val="accent6">
                    <a:lumMod val="75000"/>
                  </a:schemeClr>
                </a:solidFill>
                <a:latin typeface="Courier New" panose="02070309020205020404" pitchFamily="49" charset="0"/>
                <a:cs typeface="Courier New" panose="02070309020205020404" pitchFamily="49" charset="0"/>
              </a:rPr>
              <a:t>BeforeAll</a:t>
            </a:r>
            <a:endParaRPr lang="en-GB" sz="2600" b="1" dirty="0">
              <a:solidFill>
                <a:schemeClr val="accent6">
                  <a:lumMod val="75000"/>
                </a:schemeClr>
              </a:solidFill>
              <a:latin typeface="Courier New" panose="02070309020205020404" pitchFamily="49" charset="0"/>
              <a:cs typeface="Courier New" panose="02070309020205020404" pitchFamily="49" charset="0"/>
            </a:endParaRPr>
          </a:p>
          <a:p>
            <a:pPr marL="0" indent="0">
              <a:buNone/>
            </a:pPr>
            <a:r>
              <a:rPr lang="en-GB" sz="2600" b="1" dirty="0">
                <a:latin typeface="Courier New" panose="02070309020205020404" pitchFamily="49" charset="0"/>
                <a:cs typeface="Courier New" panose="02070309020205020404" pitchFamily="49" charset="0"/>
              </a:rPr>
              <a:t>	static void </a:t>
            </a:r>
            <a:r>
              <a:rPr lang="en-GB" sz="2600" b="1" dirty="0" err="1">
                <a:latin typeface="Courier New" panose="02070309020205020404" pitchFamily="49" charset="0"/>
                <a:cs typeface="Courier New" panose="02070309020205020404" pitchFamily="49" charset="0"/>
              </a:rPr>
              <a:t>populateDb</a:t>
            </a:r>
            <a:r>
              <a:rPr lang="en-GB" sz="2600" b="1" dirty="0">
                <a:latin typeface="Courier New" panose="02070309020205020404" pitchFamily="49" charset="0"/>
                <a:cs typeface="Courier New" panose="02070309020205020404" pitchFamily="49" charset="0"/>
              </a:rPr>
              <a:t>() {</a:t>
            </a:r>
          </a:p>
          <a:p>
            <a:pPr marL="0" indent="0">
              <a:buNone/>
            </a:pPr>
            <a:r>
              <a:rPr lang="en-GB" sz="2600" b="1" dirty="0">
                <a:latin typeface="Courier New" panose="02070309020205020404" pitchFamily="49" charset="0"/>
                <a:cs typeface="Courier New" panose="02070309020205020404" pitchFamily="49" charset="0"/>
              </a:rPr>
              <a:t>		</a:t>
            </a:r>
            <a:r>
              <a:rPr lang="en-GB" sz="2600" b="1" dirty="0" err="1">
                <a:latin typeface="Courier New" panose="02070309020205020404" pitchFamily="49" charset="0"/>
                <a:cs typeface="Courier New" panose="02070309020205020404" pitchFamily="49" charset="0"/>
              </a:rPr>
              <a:t>JPAUtil.setTestMode</a:t>
            </a:r>
            <a:r>
              <a:rPr lang="en-GB" sz="2600" b="1" dirty="0">
                <a:latin typeface="Courier New" panose="02070309020205020404" pitchFamily="49" charset="0"/>
                <a:cs typeface="Courier New" panose="02070309020205020404" pitchFamily="49" charset="0"/>
              </a:rPr>
              <a:t>();</a:t>
            </a:r>
          </a:p>
          <a:p>
            <a:pPr marL="914400" lvl="2" indent="0">
              <a:buNone/>
            </a:pPr>
            <a:r>
              <a:rPr lang="en-GB" sz="2100" b="1" dirty="0">
                <a:latin typeface="Courier New" panose="02070309020205020404" pitchFamily="49" charset="0"/>
                <a:cs typeface="Courier New" panose="02070309020205020404" pitchFamily="49" charset="0"/>
              </a:rPr>
              <a:t>//…</a:t>
            </a:r>
          </a:p>
          <a:p>
            <a:pPr marL="0" indent="0">
              <a:buNone/>
            </a:pPr>
            <a:r>
              <a:rPr lang="en-GB" sz="2600" b="1" dirty="0">
                <a:latin typeface="Courier New" panose="02070309020205020404" pitchFamily="49" charset="0"/>
                <a:cs typeface="Courier New" panose="02070309020205020404" pitchFamily="49" charset="0"/>
              </a:rPr>
              <a:t>	}</a:t>
            </a:r>
          </a:p>
          <a:p>
            <a:pPr marL="0" indent="0">
              <a:buNone/>
            </a:pPr>
            <a:endParaRPr lang="en-GB" sz="2600" b="1" dirty="0">
              <a:latin typeface="Courier New" panose="02070309020205020404" pitchFamily="49" charset="0"/>
              <a:cs typeface="Courier New" panose="02070309020205020404" pitchFamily="49" charset="0"/>
            </a:endParaRPr>
          </a:p>
          <a:p>
            <a:pPr marL="0" indent="0">
              <a:buNone/>
            </a:pPr>
            <a:r>
              <a:rPr lang="en-GB" sz="2600" b="1" dirty="0">
                <a:latin typeface="Courier New" panose="02070309020205020404" pitchFamily="49" charset="0"/>
                <a:cs typeface="Courier New" panose="02070309020205020404" pitchFamily="49" charset="0"/>
              </a:rPr>
              <a:t>	</a:t>
            </a:r>
            <a:r>
              <a:rPr lang="en-GB" sz="2600" b="1" dirty="0">
                <a:solidFill>
                  <a:schemeClr val="accent6">
                    <a:lumMod val="75000"/>
                  </a:schemeClr>
                </a:solidFill>
                <a:latin typeface="Courier New" panose="02070309020205020404" pitchFamily="49" charset="0"/>
                <a:cs typeface="Courier New" panose="02070309020205020404" pitchFamily="49" charset="0"/>
              </a:rPr>
              <a:t>@</a:t>
            </a:r>
            <a:r>
              <a:rPr lang="en-GB" sz="2600" b="1" dirty="0" err="1">
                <a:solidFill>
                  <a:schemeClr val="accent6">
                    <a:lumMod val="75000"/>
                  </a:schemeClr>
                </a:solidFill>
                <a:latin typeface="Courier New" panose="02070309020205020404" pitchFamily="49" charset="0"/>
                <a:cs typeface="Courier New" panose="02070309020205020404" pitchFamily="49" charset="0"/>
              </a:rPr>
              <a:t>AfterAll</a:t>
            </a:r>
            <a:endParaRPr lang="en-GB" sz="2600" b="1" dirty="0">
              <a:solidFill>
                <a:schemeClr val="accent6">
                  <a:lumMod val="75000"/>
                </a:schemeClr>
              </a:solidFill>
              <a:latin typeface="Courier New" panose="02070309020205020404" pitchFamily="49" charset="0"/>
              <a:cs typeface="Courier New" panose="02070309020205020404" pitchFamily="49" charset="0"/>
            </a:endParaRPr>
          </a:p>
          <a:p>
            <a:pPr marL="0" indent="0">
              <a:buNone/>
            </a:pPr>
            <a:r>
              <a:rPr lang="en-GB" sz="2600" b="1" dirty="0">
                <a:latin typeface="Courier New" panose="02070309020205020404" pitchFamily="49" charset="0"/>
                <a:cs typeface="Courier New" panose="02070309020205020404" pitchFamily="49" charset="0"/>
              </a:rPr>
              <a:t>	static void </a:t>
            </a:r>
            <a:r>
              <a:rPr lang="en-GB" sz="2600" b="1" dirty="0" err="1">
                <a:latin typeface="Courier New" panose="02070309020205020404" pitchFamily="49" charset="0"/>
                <a:cs typeface="Courier New" panose="02070309020205020404" pitchFamily="49" charset="0"/>
              </a:rPr>
              <a:t>cleanDb</a:t>
            </a:r>
            <a:r>
              <a:rPr lang="en-GB" sz="2600" b="1" dirty="0">
                <a:latin typeface="Courier New" panose="02070309020205020404" pitchFamily="49" charset="0"/>
                <a:cs typeface="Courier New" panose="02070309020205020404" pitchFamily="49" charset="0"/>
              </a:rPr>
              <a:t>() {</a:t>
            </a:r>
          </a:p>
          <a:p>
            <a:pPr marL="0" indent="0">
              <a:buNone/>
            </a:pPr>
            <a:r>
              <a:rPr lang="en-GB" sz="2600" b="1" dirty="0">
                <a:latin typeface="Courier New" panose="02070309020205020404" pitchFamily="49" charset="0"/>
                <a:cs typeface="Courier New" panose="02070309020205020404" pitchFamily="49" charset="0"/>
              </a:rPr>
              <a:t>		</a:t>
            </a:r>
            <a:r>
              <a:rPr lang="en-GB" sz="2600" b="1" dirty="0" err="1">
                <a:latin typeface="Courier New" panose="02070309020205020404" pitchFamily="49" charset="0"/>
                <a:cs typeface="Courier New" panose="02070309020205020404" pitchFamily="49" charset="0"/>
              </a:rPr>
              <a:t>JPAUtil.close</a:t>
            </a:r>
            <a:r>
              <a:rPr lang="en-GB" sz="2600" b="1" dirty="0">
                <a:latin typeface="Courier New" panose="02070309020205020404" pitchFamily="49" charset="0"/>
                <a:cs typeface="Courier New" panose="02070309020205020404" pitchFamily="49" charset="0"/>
              </a:rPr>
              <a:t>();</a:t>
            </a:r>
          </a:p>
          <a:p>
            <a:pPr marL="0" indent="0">
              <a:buNone/>
            </a:pPr>
            <a:r>
              <a:rPr lang="en-GB" sz="2600" b="1" dirty="0">
                <a:latin typeface="Courier New" panose="02070309020205020404" pitchFamily="49" charset="0"/>
                <a:cs typeface="Courier New" panose="02070309020205020404" pitchFamily="49" charset="0"/>
              </a:rPr>
              <a:t>	}</a:t>
            </a:r>
          </a:p>
          <a:p>
            <a:pPr marL="0" indent="0">
              <a:buNone/>
            </a:pPr>
            <a:endParaRPr lang="en-GB"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6753185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F53F7-46B2-62CF-E3DC-17914048C92A}"/>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061A75A2-7EAA-81BE-51D8-3AA73BC06761}"/>
              </a:ext>
            </a:extLst>
          </p:cNvPr>
          <p:cNvSpPr/>
          <p:nvPr/>
        </p:nvSpPr>
        <p:spPr bwMode="auto">
          <a:xfrm>
            <a:off x="395535" y="1988840"/>
            <a:ext cx="8440489" cy="4176464"/>
          </a:xfrm>
          <a:prstGeom prst="rect">
            <a:avLst/>
          </a:prstGeom>
          <a:solidFill>
            <a:srgbClr val="FDEADA"/>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pPr>
            <a:endParaRPr kumimoji="0" lang="it-IT" sz="2400" b="0" i="0" u="none" strike="noStrike" cap="none" normalizeH="0" baseline="0" dirty="0" err="1">
              <a:ln>
                <a:noFill/>
              </a:ln>
              <a:solidFill>
                <a:schemeClr val="tx1"/>
              </a:solidFill>
              <a:effectLst/>
              <a:latin typeface="+mn-lt"/>
              <a:cs typeface="Lucida Sans Unicode" pitchFamily="32" charset="0"/>
            </a:endParaRPr>
          </a:p>
        </p:txBody>
      </p:sp>
      <p:sp>
        <p:nvSpPr>
          <p:cNvPr id="2" name="Title 1">
            <a:extLst>
              <a:ext uri="{FF2B5EF4-FFF2-40B4-BE49-F238E27FC236}">
                <a16:creationId xmlns:a16="http://schemas.microsoft.com/office/drawing/2014/main" id="{3E71DCB9-F4A2-7C35-247A-27768F9E8BA4}"/>
              </a:ext>
            </a:extLst>
          </p:cNvPr>
          <p:cNvSpPr>
            <a:spLocks noGrp="1"/>
          </p:cNvSpPr>
          <p:nvPr>
            <p:ph type="title"/>
          </p:nvPr>
        </p:nvSpPr>
        <p:spPr/>
        <p:txBody>
          <a:bodyPr/>
          <a:lstStyle/>
          <a:p>
            <a:r>
              <a:rPr lang="en-GB" dirty="0" err="1"/>
              <a:t>SetUp</a:t>
            </a:r>
            <a:r>
              <a:rPr lang="en-GB" dirty="0"/>
              <a:t> and </a:t>
            </a:r>
            <a:r>
              <a:rPr lang="en-GB" dirty="0" err="1"/>
              <a:t>TearDown</a:t>
            </a:r>
            <a:r>
              <a:rPr lang="en-GB" dirty="0"/>
              <a:t> </a:t>
            </a:r>
          </a:p>
        </p:txBody>
      </p:sp>
      <p:sp>
        <p:nvSpPr>
          <p:cNvPr id="3" name="Content Placeholder 2">
            <a:extLst>
              <a:ext uri="{FF2B5EF4-FFF2-40B4-BE49-F238E27FC236}">
                <a16:creationId xmlns:a16="http://schemas.microsoft.com/office/drawing/2014/main" id="{440B94D8-CC19-D02B-EDBA-35A151A0742E}"/>
              </a:ext>
            </a:extLst>
          </p:cNvPr>
          <p:cNvSpPr>
            <a:spLocks noGrp="1"/>
          </p:cNvSpPr>
          <p:nvPr>
            <p:ph idx="1"/>
          </p:nvPr>
        </p:nvSpPr>
        <p:spPr/>
        <p:txBody>
          <a:bodyPr>
            <a:normAutofit fontScale="85000" lnSpcReduction="20000"/>
          </a:bodyPr>
          <a:lstStyle/>
          <a:p>
            <a:r>
              <a:rPr lang="en-GB" dirty="0"/>
              <a:t>In case any test case writes to </a:t>
            </a:r>
            <a:r>
              <a:rPr lang="en-GB" dirty="0" err="1"/>
              <a:t>db</a:t>
            </a:r>
            <a:endParaRPr lang="en-GB" dirty="0"/>
          </a:p>
          <a:p>
            <a:endParaRPr lang="en-GB" dirty="0"/>
          </a:p>
          <a:p>
            <a:pPr marL="0" indent="0">
              <a:buNone/>
            </a:pPr>
            <a:r>
              <a:rPr lang="en-GB" sz="2600" b="1" dirty="0">
                <a:latin typeface="Courier New" panose="02070309020205020404" pitchFamily="49" charset="0"/>
                <a:cs typeface="Courier New" panose="02070309020205020404" pitchFamily="49" charset="0"/>
              </a:rPr>
              <a:t>	</a:t>
            </a:r>
            <a:r>
              <a:rPr lang="en-GB" sz="2600" b="1" dirty="0">
                <a:solidFill>
                  <a:schemeClr val="accent6">
                    <a:lumMod val="75000"/>
                  </a:schemeClr>
                </a:solidFill>
                <a:latin typeface="Courier New" panose="02070309020205020404" pitchFamily="49" charset="0"/>
                <a:cs typeface="Courier New" panose="02070309020205020404" pitchFamily="49" charset="0"/>
              </a:rPr>
              <a:t>@</a:t>
            </a:r>
            <a:r>
              <a:rPr lang="en-GB" sz="2600" b="1" dirty="0" err="1">
                <a:solidFill>
                  <a:schemeClr val="accent6">
                    <a:lumMod val="75000"/>
                  </a:schemeClr>
                </a:solidFill>
                <a:latin typeface="Courier New" panose="02070309020205020404" pitchFamily="49" charset="0"/>
                <a:cs typeface="Courier New" panose="02070309020205020404" pitchFamily="49" charset="0"/>
              </a:rPr>
              <a:t>BeforeEach</a:t>
            </a:r>
            <a:endParaRPr lang="en-GB" sz="2600" b="1" dirty="0">
              <a:solidFill>
                <a:schemeClr val="accent6">
                  <a:lumMod val="75000"/>
                </a:schemeClr>
              </a:solidFill>
              <a:latin typeface="Courier New" panose="02070309020205020404" pitchFamily="49" charset="0"/>
              <a:cs typeface="Courier New" panose="02070309020205020404" pitchFamily="49" charset="0"/>
            </a:endParaRPr>
          </a:p>
          <a:p>
            <a:pPr marL="0" indent="0">
              <a:buNone/>
            </a:pPr>
            <a:r>
              <a:rPr lang="en-GB" sz="2600" b="1" dirty="0">
                <a:latin typeface="Courier New" panose="02070309020205020404" pitchFamily="49" charset="0"/>
                <a:cs typeface="Courier New" panose="02070309020205020404" pitchFamily="49" charset="0"/>
              </a:rPr>
              <a:t>	static void </a:t>
            </a:r>
            <a:r>
              <a:rPr lang="en-GB" sz="2600" b="1" dirty="0" err="1">
                <a:latin typeface="Courier New" panose="02070309020205020404" pitchFamily="49" charset="0"/>
                <a:cs typeface="Courier New" panose="02070309020205020404" pitchFamily="49" charset="0"/>
              </a:rPr>
              <a:t>populateDb</a:t>
            </a:r>
            <a:r>
              <a:rPr lang="en-GB" sz="2600" b="1" dirty="0">
                <a:latin typeface="Courier New" panose="02070309020205020404" pitchFamily="49" charset="0"/>
                <a:cs typeface="Courier New" panose="02070309020205020404" pitchFamily="49" charset="0"/>
              </a:rPr>
              <a:t>() {</a:t>
            </a:r>
          </a:p>
          <a:p>
            <a:pPr marL="0" indent="0">
              <a:buNone/>
            </a:pPr>
            <a:r>
              <a:rPr lang="en-GB" sz="2600" b="1" dirty="0">
                <a:latin typeface="Courier New" panose="02070309020205020404" pitchFamily="49" charset="0"/>
                <a:cs typeface="Courier New" panose="02070309020205020404" pitchFamily="49" charset="0"/>
              </a:rPr>
              <a:t>		</a:t>
            </a:r>
            <a:r>
              <a:rPr lang="en-GB" sz="2600" b="1" dirty="0" err="1">
                <a:latin typeface="Courier New" panose="02070309020205020404" pitchFamily="49" charset="0"/>
                <a:cs typeface="Courier New" panose="02070309020205020404" pitchFamily="49" charset="0"/>
              </a:rPr>
              <a:t>JPAUtil.setTestMode</a:t>
            </a:r>
            <a:r>
              <a:rPr lang="en-GB" sz="2600" b="1" dirty="0">
                <a:latin typeface="Courier New" panose="02070309020205020404" pitchFamily="49" charset="0"/>
                <a:cs typeface="Courier New" panose="02070309020205020404" pitchFamily="49" charset="0"/>
              </a:rPr>
              <a:t>();</a:t>
            </a:r>
          </a:p>
          <a:p>
            <a:pPr marL="914400" lvl="2" indent="0">
              <a:buNone/>
            </a:pPr>
            <a:r>
              <a:rPr lang="en-GB" sz="2100" b="1" dirty="0">
                <a:latin typeface="Courier New" panose="02070309020205020404" pitchFamily="49" charset="0"/>
                <a:cs typeface="Courier New" panose="02070309020205020404" pitchFamily="49" charset="0"/>
              </a:rPr>
              <a:t>//…</a:t>
            </a:r>
          </a:p>
          <a:p>
            <a:pPr marL="0" indent="0">
              <a:buNone/>
            </a:pPr>
            <a:r>
              <a:rPr lang="en-GB" sz="2600" b="1" dirty="0">
                <a:latin typeface="Courier New" panose="02070309020205020404" pitchFamily="49" charset="0"/>
                <a:cs typeface="Courier New" panose="02070309020205020404" pitchFamily="49" charset="0"/>
              </a:rPr>
              <a:t>	}</a:t>
            </a:r>
          </a:p>
          <a:p>
            <a:pPr marL="0" indent="0">
              <a:buNone/>
            </a:pPr>
            <a:endParaRPr lang="en-GB" sz="2600" b="1" dirty="0">
              <a:latin typeface="Courier New" panose="02070309020205020404" pitchFamily="49" charset="0"/>
              <a:cs typeface="Courier New" panose="02070309020205020404" pitchFamily="49" charset="0"/>
            </a:endParaRPr>
          </a:p>
          <a:p>
            <a:pPr marL="0" indent="0">
              <a:buNone/>
            </a:pPr>
            <a:r>
              <a:rPr lang="en-GB" sz="2600" b="1" dirty="0">
                <a:latin typeface="Courier New" panose="02070309020205020404" pitchFamily="49" charset="0"/>
                <a:cs typeface="Courier New" panose="02070309020205020404" pitchFamily="49" charset="0"/>
              </a:rPr>
              <a:t>	</a:t>
            </a:r>
            <a:r>
              <a:rPr lang="en-GB" sz="2600" b="1" dirty="0">
                <a:solidFill>
                  <a:schemeClr val="accent6">
                    <a:lumMod val="75000"/>
                  </a:schemeClr>
                </a:solidFill>
                <a:latin typeface="Courier New" panose="02070309020205020404" pitchFamily="49" charset="0"/>
                <a:cs typeface="Courier New" panose="02070309020205020404" pitchFamily="49" charset="0"/>
              </a:rPr>
              <a:t>@</a:t>
            </a:r>
            <a:r>
              <a:rPr lang="en-GB" sz="2600" b="1" dirty="0" err="1">
                <a:solidFill>
                  <a:schemeClr val="accent6">
                    <a:lumMod val="75000"/>
                  </a:schemeClr>
                </a:solidFill>
                <a:latin typeface="Courier New" panose="02070309020205020404" pitchFamily="49" charset="0"/>
                <a:cs typeface="Courier New" panose="02070309020205020404" pitchFamily="49" charset="0"/>
              </a:rPr>
              <a:t>AfterEach</a:t>
            </a:r>
            <a:endParaRPr lang="en-GB" sz="2600" b="1" dirty="0">
              <a:solidFill>
                <a:schemeClr val="accent6">
                  <a:lumMod val="75000"/>
                </a:schemeClr>
              </a:solidFill>
              <a:latin typeface="Courier New" panose="02070309020205020404" pitchFamily="49" charset="0"/>
              <a:cs typeface="Courier New" panose="02070309020205020404" pitchFamily="49" charset="0"/>
            </a:endParaRPr>
          </a:p>
          <a:p>
            <a:pPr marL="0" indent="0">
              <a:buNone/>
            </a:pPr>
            <a:r>
              <a:rPr lang="en-GB" sz="2600" b="1" dirty="0">
                <a:latin typeface="Courier New" panose="02070309020205020404" pitchFamily="49" charset="0"/>
                <a:cs typeface="Courier New" panose="02070309020205020404" pitchFamily="49" charset="0"/>
              </a:rPr>
              <a:t>	static void </a:t>
            </a:r>
            <a:r>
              <a:rPr lang="en-GB" sz="2600" b="1" dirty="0" err="1">
                <a:latin typeface="Courier New" panose="02070309020205020404" pitchFamily="49" charset="0"/>
                <a:cs typeface="Courier New" panose="02070309020205020404" pitchFamily="49" charset="0"/>
              </a:rPr>
              <a:t>cleanDb</a:t>
            </a:r>
            <a:r>
              <a:rPr lang="en-GB" sz="2600" b="1" dirty="0">
                <a:latin typeface="Courier New" panose="02070309020205020404" pitchFamily="49" charset="0"/>
                <a:cs typeface="Courier New" panose="02070309020205020404" pitchFamily="49" charset="0"/>
              </a:rPr>
              <a:t>() {</a:t>
            </a:r>
          </a:p>
          <a:p>
            <a:pPr marL="0" indent="0">
              <a:buNone/>
            </a:pPr>
            <a:r>
              <a:rPr lang="en-GB" sz="2600" b="1" dirty="0">
                <a:latin typeface="Courier New" panose="02070309020205020404" pitchFamily="49" charset="0"/>
                <a:cs typeface="Courier New" panose="02070309020205020404" pitchFamily="49" charset="0"/>
              </a:rPr>
              <a:t>		</a:t>
            </a:r>
            <a:r>
              <a:rPr lang="en-GB" sz="2600" b="1" dirty="0" err="1">
                <a:latin typeface="Courier New" panose="02070309020205020404" pitchFamily="49" charset="0"/>
                <a:cs typeface="Courier New" panose="02070309020205020404" pitchFamily="49" charset="0"/>
              </a:rPr>
              <a:t>JPAUtil.close</a:t>
            </a:r>
            <a:r>
              <a:rPr lang="en-GB" sz="2600" b="1" dirty="0">
                <a:latin typeface="Courier New" panose="02070309020205020404" pitchFamily="49" charset="0"/>
                <a:cs typeface="Courier New" panose="02070309020205020404" pitchFamily="49" charset="0"/>
              </a:rPr>
              <a:t>();</a:t>
            </a:r>
          </a:p>
          <a:p>
            <a:pPr marL="0" indent="0">
              <a:buNone/>
            </a:pPr>
            <a:r>
              <a:rPr lang="en-GB" sz="2600" b="1" dirty="0">
                <a:latin typeface="Courier New" panose="02070309020205020404" pitchFamily="49" charset="0"/>
                <a:cs typeface="Courier New" panose="02070309020205020404" pitchFamily="49" charset="0"/>
              </a:rPr>
              <a:t>	}</a:t>
            </a:r>
          </a:p>
          <a:p>
            <a:pPr marL="0" indent="0">
              <a:buNone/>
            </a:pPr>
            <a:endParaRPr lang="en-GB"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2375967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CDFF5A-C4AF-FE39-63C6-44D079679BC1}"/>
              </a:ext>
            </a:extLst>
          </p:cNvPr>
          <p:cNvSpPr>
            <a:spLocks noGrp="1"/>
          </p:cNvSpPr>
          <p:nvPr>
            <p:ph type="title"/>
          </p:nvPr>
        </p:nvSpPr>
        <p:spPr/>
        <p:txBody>
          <a:bodyPr/>
          <a:lstStyle/>
          <a:p>
            <a:r>
              <a:rPr lang="en-GB" noProof="0" dirty="0"/>
              <a:t>References</a:t>
            </a:r>
          </a:p>
        </p:txBody>
      </p:sp>
      <p:sp>
        <p:nvSpPr>
          <p:cNvPr id="3" name="Segnaposto contenuto 2">
            <a:extLst>
              <a:ext uri="{FF2B5EF4-FFF2-40B4-BE49-F238E27FC236}">
                <a16:creationId xmlns:a16="http://schemas.microsoft.com/office/drawing/2014/main" id="{7C8942E2-471F-7F81-CF2C-04832D4CC5CA}"/>
              </a:ext>
            </a:extLst>
          </p:cNvPr>
          <p:cNvSpPr>
            <a:spLocks noGrp="1"/>
          </p:cNvSpPr>
          <p:nvPr>
            <p:ph idx="1"/>
          </p:nvPr>
        </p:nvSpPr>
        <p:spPr/>
        <p:txBody>
          <a:bodyPr/>
          <a:lstStyle/>
          <a:p>
            <a:r>
              <a:rPr lang="en-GB" noProof="0" dirty="0"/>
              <a:t>What is an ORM</a:t>
            </a:r>
          </a:p>
          <a:p>
            <a:pPr lvl="1"/>
            <a:r>
              <a:rPr lang="en-GB" noProof="0" dirty="0">
                <a:hlinkClick r:id="rId3"/>
              </a:rPr>
              <a:t>https://hibernate.org/orm/what-is-an-orm/</a:t>
            </a:r>
            <a:r>
              <a:rPr lang="en-GB" noProof="0" dirty="0"/>
              <a:t> </a:t>
            </a:r>
          </a:p>
          <a:p>
            <a:r>
              <a:rPr lang="en-GB" noProof="0" dirty="0"/>
              <a:t>A complete example project can be </a:t>
            </a:r>
            <a:r>
              <a:rPr lang="en-GB" noProof="0" dirty="0" err="1"/>
              <a:t>cheked</a:t>
            </a:r>
            <a:r>
              <a:rPr lang="en-GB" noProof="0" dirty="0"/>
              <a:t> out at</a:t>
            </a:r>
          </a:p>
          <a:p>
            <a:pPr lvl="1"/>
            <a:r>
              <a:rPr lang="en-GB" noProof="0" dirty="0">
                <a:hlinkClick r:id="rId4"/>
              </a:rPr>
              <a:t>https://github.com/steccothal/FlightMaster</a:t>
            </a:r>
            <a:endParaRPr lang="en-GB" noProof="0" dirty="0"/>
          </a:p>
        </p:txBody>
      </p:sp>
    </p:spTree>
    <p:extLst>
      <p:ext uri="{BB962C8B-B14F-4D97-AF65-F5344CB8AC3E}">
        <p14:creationId xmlns:p14="http://schemas.microsoft.com/office/powerpoint/2010/main" val="321997898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ma di Office">
      <a:majorFont>
        <a:latin typeface="Lucida Sans Unicode"/>
        <a:ea typeface=""/>
        <a:cs typeface="Lucida Sans Unicode"/>
      </a:majorFont>
      <a:minorFont>
        <a:latin typeface="Lucida Sans Unicode"/>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DEADA"/>
        </a:solidFill>
        <a:ln w="9525" cap="flat" cmpd="sng" algn="ctr">
          <a:solidFill>
            <a:schemeClr val="accent6">
              <a:lumMod val="75000"/>
            </a:schemeClr>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defRPr kumimoji="0" sz="2400" b="0" i="0" u="none" strike="noStrike" cap="none" normalizeH="0" baseline="0" dirty="0" err="1" smtClean="0">
            <a:ln>
              <a:noFill/>
            </a:ln>
            <a:solidFill>
              <a:schemeClr val="tx1"/>
            </a:solidFill>
            <a:effectLst/>
            <a:latin typeface="+mn-lt"/>
            <a:cs typeface="Lucida Sans Unicode" pitchFamily="32"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cs typeface="Lucida Sans Unicode" pitchFamily="32" charset="0"/>
          </a:defRPr>
        </a:defPPr>
      </a:lstStyle>
    </a:lnDef>
    <a:txDef>
      <a:spPr>
        <a:noFill/>
      </a:spPr>
      <a:bodyPr wrap="square" rtlCol="0">
        <a:spAutoFit/>
      </a:bodyPr>
      <a:lstStyle>
        <a:defPPr>
          <a:defRPr dirty="0">
            <a:solidFill>
              <a:schemeClr val="tx1"/>
            </a:solidFill>
            <a:latin typeface="+mn-lt"/>
          </a:defRPr>
        </a:defPPr>
      </a:lstStyle>
    </a:txDef>
  </a:objectDefaults>
  <a:extraClrSchemeLst>
    <a:extraClrScheme>
      <a:clrScheme name="Tema di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i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i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i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i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i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i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ema di Office">
  <a:themeElements>
    <a:clrScheme name="Tema di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i Office">
      <a:majorFont>
        <a:latin typeface="Lucida Sans Unicode"/>
        <a:ea typeface=""/>
        <a:cs typeface="Lucida Sans Unicode"/>
      </a:majorFont>
      <a:minorFont>
        <a:latin typeface="Lucida Sans Unicode"/>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cs typeface="Lucida Sans Unicode" pitchFamily="32"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95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cs typeface="Lucida Sans Unicode" pitchFamily="32" charset="0"/>
          </a:defRPr>
        </a:defPPr>
      </a:lstStyle>
    </a:lnDef>
  </a:objectDefaults>
  <a:extraClrSchemeLst>
    <a:extraClrScheme>
      <a:clrScheme name="Tema di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i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i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i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i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i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i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78827</TotalTime>
  <Words>13406</Words>
  <Application>Microsoft Office PowerPoint</Application>
  <PresentationFormat>On-screen Show (4:3)</PresentationFormat>
  <Paragraphs>1435</Paragraphs>
  <Slides>170</Slides>
  <Notes>16</Notes>
  <HiddenSlides>60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170</vt:i4>
      </vt:variant>
    </vt:vector>
  </HeadingPairs>
  <TitlesOfParts>
    <vt:vector size="179" baseType="lpstr">
      <vt:lpstr>Arial</vt:lpstr>
      <vt:lpstr>Courier New</vt:lpstr>
      <vt:lpstr>Lucida Sans Unicode</vt:lpstr>
      <vt:lpstr>Symbol</vt:lpstr>
      <vt:lpstr>Tahoma</vt:lpstr>
      <vt:lpstr>Times New Roman</vt:lpstr>
      <vt:lpstr>Wingdings</vt:lpstr>
      <vt:lpstr>Tema di Office</vt:lpstr>
      <vt:lpstr>1_Tema di Office</vt:lpstr>
      <vt:lpstr>Object-Relational Mapping</vt:lpstr>
      <vt:lpstr>Licensing Note</vt:lpstr>
      <vt:lpstr>Contents</vt:lpstr>
      <vt:lpstr>Persistence and Direct data access</vt:lpstr>
      <vt:lpstr>Persistence</vt:lpstr>
      <vt:lpstr>Persistence</vt:lpstr>
      <vt:lpstr>Persistent vs. In-Memory Data</vt:lpstr>
      <vt:lpstr>Object/Relational Mismatch</vt:lpstr>
      <vt:lpstr>Object/Relational Mismatch</vt:lpstr>
      <vt:lpstr>Object/Relational Mismatch</vt:lpstr>
      <vt:lpstr>Object/Relational Mismatch</vt:lpstr>
      <vt:lpstr>ORM - Definition</vt:lpstr>
      <vt:lpstr>ORM – Key Features</vt:lpstr>
      <vt:lpstr>ORM – Key Features</vt:lpstr>
      <vt:lpstr>ORM vs Direct Data Access</vt:lpstr>
      <vt:lpstr>ORM – Pros &amp; Cons</vt:lpstr>
      <vt:lpstr>ORM – Pros &amp; Cons</vt:lpstr>
      <vt:lpstr>JPA</vt:lpstr>
      <vt:lpstr>JPA</vt:lpstr>
      <vt:lpstr>Mapping</vt:lpstr>
      <vt:lpstr>Entity – Definition</vt:lpstr>
      <vt:lpstr>Entity – Key Features</vt:lpstr>
      <vt:lpstr>Entity Mapping</vt:lpstr>
      <vt:lpstr>Entity Mapping Table</vt:lpstr>
      <vt:lpstr>Entity Mapping - Index</vt:lpstr>
      <vt:lpstr>Entity Mapping - Inheritance</vt:lpstr>
      <vt:lpstr>Entity Mapping - Inheritance</vt:lpstr>
      <vt:lpstr>Entity Mapping - Inheritance</vt:lpstr>
      <vt:lpstr>Entity – Fields Mapping</vt:lpstr>
      <vt:lpstr>Entity – Field Attributes</vt:lpstr>
      <vt:lpstr>Field Mapping – Primary Key</vt:lpstr>
      <vt:lpstr>Entity – Field Attributes</vt:lpstr>
      <vt:lpstr>Field Mapping</vt:lpstr>
      <vt:lpstr>Field Mapping</vt:lpstr>
      <vt:lpstr>Field mapping – Data Types</vt:lpstr>
      <vt:lpstr>Entity – Relationship Mapping</vt:lpstr>
      <vt:lpstr>Relationship Mapping</vt:lpstr>
      <vt:lpstr>Relationship Management</vt:lpstr>
      <vt:lpstr>Relationships - OneToOne</vt:lpstr>
      <vt:lpstr>Relationship Mapping</vt:lpstr>
      <vt:lpstr>Entity – Relationship Cascading</vt:lpstr>
      <vt:lpstr>Relationship Mapping</vt:lpstr>
      <vt:lpstr>Entity – Loading strategies</vt:lpstr>
      <vt:lpstr>Relationship Management - JoinColumn</vt:lpstr>
      <vt:lpstr>Relationships - ManyToOne</vt:lpstr>
      <vt:lpstr>Relationships - OneToMany</vt:lpstr>
      <vt:lpstr>Relationships - ManyToMany</vt:lpstr>
      <vt:lpstr>Relationship Management - JoinTable</vt:lpstr>
      <vt:lpstr>Entity – Automatic Schema Creation</vt:lpstr>
      <vt:lpstr>Querying</vt:lpstr>
      <vt:lpstr>Basic querying in ORM</vt:lpstr>
      <vt:lpstr>Advanced querying in ORM</vt:lpstr>
      <vt:lpstr>JPA - Querying Approaches</vt:lpstr>
      <vt:lpstr>Query</vt:lpstr>
      <vt:lpstr>Query – Creation</vt:lpstr>
      <vt:lpstr>TypedQuery – Creation</vt:lpstr>
      <vt:lpstr>Query – Configuration</vt:lpstr>
      <vt:lpstr>Query – Execution</vt:lpstr>
      <vt:lpstr>Query – Results</vt:lpstr>
      <vt:lpstr>Query – Pagination</vt:lpstr>
      <vt:lpstr>JPQL</vt:lpstr>
      <vt:lpstr>JPQL – Query Structure</vt:lpstr>
      <vt:lpstr>JPQL – Query Example</vt:lpstr>
      <vt:lpstr>JPQL – Supported Operators</vt:lpstr>
      <vt:lpstr>JPQL – Query Parameters</vt:lpstr>
      <vt:lpstr>Advanced Querying</vt:lpstr>
      <vt:lpstr>Named Queries</vt:lpstr>
      <vt:lpstr>Named Queries - Example</vt:lpstr>
      <vt:lpstr>Named Queries - Usage</vt:lpstr>
      <vt:lpstr>Native Queries</vt:lpstr>
      <vt:lpstr>Criteria API</vt:lpstr>
      <vt:lpstr>CriteriaQuery - Creation</vt:lpstr>
      <vt:lpstr>CriteriaQuery - Structure</vt:lpstr>
      <vt:lpstr>CriteriaQuery - Predicate</vt:lpstr>
      <vt:lpstr>CriteriaQuery - Parameters</vt:lpstr>
      <vt:lpstr>CriteriaQuery - Execution</vt:lpstr>
      <vt:lpstr>CriteriaQuery - Example</vt:lpstr>
      <vt:lpstr>ORM- Sessions &amp; Transactions</vt:lpstr>
      <vt:lpstr>Session - Definition</vt:lpstr>
      <vt:lpstr>Session – Key Features</vt:lpstr>
      <vt:lpstr>Session - Operations</vt:lpstr>
      <vt:lpstr>Session – Fetching entities</vt:lpstr>
      <vt:lpstr>Session – Detaching entities</vt:lpstr>
      <vt:lpstr>Short-lived Sessions</vt:lpstr>
      <vt:lpstr>Long-lived Sessions</vt:lpstr>
      <vt:lpstr>Session – Best practices</vt:lpstr>
      <vt:lpstr>Transaction - Definition</vt:lpstr>
      <vt:lpstr>Transaction – Key Features</vt:lpstr>
      <vt:lpstr>Transaction – Operations</vt:lpstr>
      <vt:lpstr>Transaction – Concurrency Issues</vt:lpstr>
      <vt:lpstr>Transaction – Isolation Levels</vt:lpstr>
      <vt:lpstr>Transaction – Isolation Levels</vt:lpstr>
      <vt:lpstr>Transaction – Best Practices</vt:lpstr>
      <vt:lpstr>JPA – Persistence</vt:lpstr>
      <vt:lpstr>Persistence Unit</vt:lpstr>
      <vt:lpstr>Persistence Unit - Configuration</vt:lpstr>
      <vt:lpstr>Persistence Unit - Configuration</vt:lpstr>
      <vt:lpstr>Schema Generation Policies</vt:lpstr>
      <vt:lpstr>Schema Creation Policies</vt:lpstr>
      <vt:lpstr>EntityManagerFactory</vt:lpstr>
      <vt:lpstr>EntityManager</vt:lpstr>
      <vt:lpstr>Entity - Lifecycle</vt:lpstr>
      <vt:lpstr>Entity – Lifecycle operations</vt:lpstr>
      <vt:lpstr>Transaction Management</vt:lpstr>
      <vt:lpstr>EntityTransaction</vt:lpstr>
      <vt:lpstr>Lifecycle Management</vt:lpstr>
      <vt:lpstr>Querying</vt:lpstr>
      <vt:lpstr>The Repository Pattern</vt:lpstr>
      <vt:lpstr>Repository – Definition</vt:lpstr>
      <vt:lpstr>Repository – Key Features</vt:lpstr>
      <vt:lpstr>Repository – CRUD Operations</vt:lpstr>
      <vt:lpstr>Repository</vt:lpstr>
      <vt:lpstr>Repository – Basic Queries</vt:lpstr>
      <vt:lpstr>Repository – Custom Queries</vt:lpstr>
      <vt:lpstr>Repository – Pagination &amp; Sorting</vt:lpstr>
      <vt:lpstr>Repository – Testing</vt:lpstr>
      <vt:lpstr>Designing a Layered ORM-Based Application</vt:lpstr>
      <vt:lpstr>Layered Structure - Definition</vt:lpstr>
      <vt:lpstr>ORM-based Layered Structure – Key Features</vt:lpstr>
      <vt:lpstr>ORM-based Layered Structure – Layers</vt:lpstr>
      <vt:lpstr>Design - Best practices</vt:lpstr>
      <vt:lpstr>Design - Pitfalls to Avoid</vt:lpstr>
      <vt:lpstr>ORM-based Layered Structure – Example</vt:lpstr>
      <vt:lpstr>Hibernate &amp; H2</vt:lpstr>
      <vt:lpstr>Hibernate</vt:lpstr>
      <vt:lpstr>Hibernate as JPA Provider</vt:lpstr>
      <vt:lpstr>Hibernate - Advanced features</vt:lpstr>
      <vt:lpstr>Configuration</vt:lpstr>
      <vt:lpstr>Caching</vt:lpstr>
      <vt:lpstr>Lazy loading</vt:lpstr>
      <vt:lpstr>Customized lazy loading</vt:lpstr>
      <vt:lpstr>H2</vt:lpstr>
      <vt:lpstr>Execution modes</vt:lpstr>
      <vt:lpstr>Web-based Console</vt:lpstr>
      <vt:lpstr>Configuration - Properties</vt:lpstr>
      <vt:lpstr>Configuration</vt:lpstr>
      <vt:lpstr>Schema management</vt:lpstr>
      <vt:lpstr>Implementation of an ORM-based application</vt:lpstr>
      <vt:lpstr>ORM-based application</vt:lpstr>
      <vt:lpstr>Dependencies import</vt:lpstr>
      <vt:lpstr>Dependencies import</vt:lpstr>
      <vt:lpstr>Persistence configuration</vt:lpstr>
      <vt:lpstr>persistence.xml</vt:lpstr>
      <vt:lpstr>EntityManager handling</vt:lpstr>
      <vt:lpstr>EntityManager handling</vt:lpstr>
      <vt:lpstr>Entity definition</vt:lpstr>
      <vt:lpstr>Entity definition</vt:lpstr>
      <vt:lpstr>Entity inheritance</vt:lpstr>
      <vt:lpstr>Entity inheritance</vt:lpstr>
      <vt:lpstr>OneToOne relationships</vt:lpstr>
      <vt:lpstr>OneToOne relationships</vt:lpstr>
      <vt:lpstr>OneToMany/ManyToOne relationships</vt:lpstr>
      <vt:lpstr>OneToMany/ManyToOne relationships</vt:lpstr>
      <vt:lpstr>ManyToMany relationships</vt:lpstr>
      <vt:lpstr>ManyToMany relationships</vt:lpstr>
      <vt:lpstr>Generic Repository</vt:lpstr>
      <vt:lpstr>Generic Repository</vt:lpstr>
      <vt:lpstr>Generic Repository</vt:lpstr>
      <vt:lpstr>Typed Repository</vt:lpstr>
      <vt:lpstr>Typed Repository</vt:lpstr>
      <vt:lpstr>Main executor</vt:lpstr>
      <vt:lpstr>Main executor</vt:lpstr>
      <vt:lpstr>Testing App with ORM</vt:lpstr>
      <vt:lpstr>Testing with ORM</vt:lpstr>
      <vt:lpstr>Entity – Testing</vt:lpstr>
      <vt:lpstr>Persistence Unit</vt:lpstr>
      <vt:lpstr>EntityManager handling</vt:lpstr>
      <vt:lpstr>SetUp and TearDown </vt:lpstr>
      <vt:lpstr>SetUp and TearDown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Input Output</dc:title>
  <cp:lastModifiedBy>Bayat  Mehran</cp:lastModifiedBy>
  <cp:revision>326</cp:revision>
  <cp:lastPrinted>2025-05-02T11:04:35Z</cp:lastPrinted>
  <dcterms:created xsi:type="dcterms:W3CDTF">2009-06-05T07:33:23Z</dcterms:created>
  <dcterms:modified xsi:type="dcterms:W3CDTF">2026-01-04T17:55:30Z</dcterms:modified>
</cp:coreProperties>
</file>